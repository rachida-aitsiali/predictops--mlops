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libri (MS)" panose="020B0604020202020204" charset="0"/>
      <p:regular r:id="rId35"/>
    </p:embeddedFont>
    <p:embeddedFont>
      <p:font typeface="Calibri (MS) Bold" panose="020B0604020202020204" charset="0"/>
      <p:regular r:id="rId36"/>
    </p:embeddedFont>
    <p:embeddedFont>
      <p:font typeface="Calibri (MS) Bold Italics" panose="020B0604020202020204" charset="0"/>
      <p:regular r:id="rId37"/>
    </p:embeddedFont>
    <p:embeddedFont>
      <p:font typeface="Calibri (MS) Italics" panose="020B0604020202020204" charset="0"/>
      <p:regular r:id="rId38"/>
    </p:embeddedFont>
    <p:embeddedFont>
      <p:font typeface="Cambria" panose="02040503050406030204" pitchFamily="18" charset="0"/>
      <p:regular r:id="rId39"/>
      <p:bold r:id="rId40"/>
      <p:italic r:id="rId41"/>
      <p:boldItalic r:id="rId42"/>
    </p:embeddedFont>
    <p:embeddedFont>
      <p:font typeface="Cambria Bold" panose="02040803050406030204" pitchFamily="18" charset="0"/>
      <p:regular r:id="rId43"/>
      <p:bold r:id="rId44"/>
    </p:embeddedFont>
    <p:embeddedFont>
      <p:font typeface="Georgia" panose="02040502050405020303" pitchFamily="18" charset="0"/>
      <p:regular r:id="rId45"/>
      <p:bold r:id="rId46"/>
      <p:italic r:id="rId47"/>
      <p:boldItalic r:id="rId48"/>
    </p:embeddedFont>
    <p:embeddedFont>
      <p:font typeface="Georgia Pro Condensed" panose="020B0604020202020204" charset="0"/>
      <p:regular r:id="rId49"/>
    </p:embeddedFont>
    <p:embeddedFont>
      <p:font typeface="Georgia Pro Condensed Bold" panose="020B0604020202020204" charset="0"/>
      <p:regular r:id="rId50"/>
    </p:embeddedFont>
    <p:embeddedFont>
      <p:font typeface="Georgia Pro Condensed Italics" panose="020B0604020202020204" charset="0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1783080"/>
            <a:ext cx="10972800" cy="548640"/>
            <a:chOff x="0" y="0"/>
            <a:chExt cx="146304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34440" y="1775936"/>
            <a:ext cx="10972800" cy="555784"/>
            <a:chOff x="0" y="0"/>
            <a:chExt cx="14630400" cy="741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741045"/>
            </a:xfrm>
            <a:custGeom>
              <a:avLst/>
              <a:gdLst/>
              <a:ahLst/>
              <a:cxnLst/>
              <a:rect l="l" t="t" r="r" b="b"/>
              <a:pathLst>
                <a:path w="14630400" h="741045">
                  <a:moveTo>
                    <a:pt x="0" y="0"/>
                  </a:moveTo>
                  <a:lnTo>
                    <a:pt x="14630400" y="0"/>
                  </a:lnTo>
                  <a:lnTo>
                    <a:pt x="1463040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4691" b="-33469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4630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8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MODULE MLOps &amp; DataOps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2359152"/>
            <a:ext cx="15636240" cy="1783080"/>
            <a:chOff x="0" y="0"/>
            <a:chExt cx="20848320" cy="2377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48320" cy="2377440"/>
            </a:xfrm>
            <a:custGeom>
              <a:avLst/>
              <a:gdLst/>
              <a:ahLst/>
              <a:cxnLst/>
              <a:rect l="l" t="t" r="r" b="b"/>
              <a:pathLst>
                <a:path w="20848320" h="2377440">
                  <a:moveTo>
                    <a:pt x="0" y="0"/>
                  </a:moveTo>
                  <a:lnTo>
                    <a:pt x="20848320" y="0"/>
                  </a:lnTo>
                  <a:lnTo>
                    <a:pt x="20848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750" b="-12075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34440" y="2344864"/>
            <a:ext cx="15636240" cy="1797367"/>
            <a:chOff x="0" y="0"/>
            <a:chExt cx="20848320" cy="2396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48320" cy="2396490"/>
            </a:xfrm>
            <a:custGeom>
              <a:avLst/>
              <a:gdLst/>
              <a:ahLst/>
              <a:cxnLst/>
              <a:rect l="l" t="t" r="r" b="b"/>
              <a:pathLst>
                <a:path w="20848320" h="2396490">
                  <a:moveTo>
                    <a:pt x="0" y="0"/>
                  </a:moveTo>
                  <a:lnTo>
                    <a:pt x="20848320" y="0"/>
                  </a:lnTo>
                  <a:lnTo>
                    <a:pt x="20848320" y="2396490"/>
                  </a:lnTo>
                  <a:lnTo>
                    <a:pt x="0" y="23964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9510" b="-11951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848320" cy="2415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58"/>
                </a:lnSpc>
              </a:pPr>
              <a:r>
                <a:rPr lang="en-US" sz="63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Maintenance Prédictive Industrielle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" y="3909060"/>
            <a:ext cx="13578840" cy="1097280"/>
            <a:chOff x="0" y="0"/>
            <a:chExt cx="18105120" cy="1463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05120" cy="1463040"/>
            </a:xfrm>
            <a:custGeom>
              <a:avLst/>
              <a:gdLst/>
              <a:ahLst/>
              <a:cxnLst/>
              <a:rect l="l" t="t" r="r" b="b"/>
              <a:pathLst>
                <a:path w="18105120" h="146304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60" b="-19095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34440" y="3894772"/>
            <a:ext cx="13578840" cy="1111568"/>
            <a:chOff x="0" y="0"/>
            <a:chExt cx="18105120" cy="14820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105120" cy="1482090"/>
            </a:xfrm>
            <a:custGeom>
              <a:avLst/>
              <a:gdLst/>
              <a:ahLst/>
              <a:cxnLst/>
              <a:rect l="l" t="t" r="r" b="b"/>
              <a:pathLst>
                <a:path w="18105120" h="1482090">
                  <a:moveTo>
                    <a:pt x="0" y="0"/>
                  </a:moveTo>
                  <a:lnTo>
                    <a:pt x="18105120" y="0"/>
                  </a:lnTo>
                  <a:lnTo>
                    <a:pt x="1810512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8028" b="-18802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810512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Un pipeline DataOps &amp; MLOps de bout en bout — de l'ingestion des données capteurs au déploiement d'un service de prédiction des pannes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0724" y="7645017"/>
            <a:ext cx="164592" cy="89307"/>
            <a:chOff x="0" y="0"/>
            <a:chExt cx="219456" cy="1190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19" name="AutoShape 19"/>
          <p:cNvSpPr/>
          <p:nvPr/>
        </p:nvSpPr>
        <p:spPr>
          <a:xfrm>
            <a:off x="1370951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2629729" y="7645017"/>
            <a:ext cx="164592" cy="89307"/>
            <a:chOff x="0" y="0"/>
            <a:chExt cx="219456" cy="1190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22" name="AutoShape 22"/>
          <p:cNvSpPr/>
          <p:nvPr/>
        </p:nvSpPr>
        <p:spPr>
          <a:xfrm>
            <a:off x="2779965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4038733" y="7645017"/>
            <a:ext cx="164592" cy="89307"/>
            <a:chOff x="0" y="0"/>
            <a:chExt cx="219456" cy="1190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25" name="AutoShape 25"/>
          <p:cNvSpPr/>
          <p:nvPr/>
        </p:nvSpPr>
        <p:spPr>
          <a:xfrm>
            <a:off x="4188970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5447748" y="7645017"/>
            <a:ext cx="164592" cy="89307"/>
            <a:chOff x="0" y="0"/>
            <a:chExt cx="219456" cy="1190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28" name="AutoShape 28"/>
          <p:cNvSpPr/>
          <p:nvPr/>
        </p:nvSpPr>
        <p:spPr>
          <a:xfrm>
            <a:off x="5597975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6856752" y="7645017"/>
            <a:ext cx="164592" cy="89307"/>
            <a:chOff x="0" y="0"/>
            <a:chExt cx="219456" cy="1190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31" name="AutoShape 31"/>
          <p:cNvSpPr/>
          <p:nvPr/>
        </p:nvSpPr>
        <p:spPr>
          <a:xfrm>
            <a:off x="7006989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8265757" y="7645017"/>
            <a:ext cx="164592" cy="89307"/>
            <a:chOff x="0" y="0"/>
            <a:chExt cx="219456" cy="1190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34" name="AutoShape 34"/>
          <p:cNvSpPr/>
          <p:nvPr/>
        </p:nvSpPr>
        <p:spPr>
          <a:xfrm>
            <a:off x="8415994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35"/>
          <p:cNvGrpSpPr/>
          <p:nvPr/>
        </p:nvGrpSpPr>
        <p:grpSpPr>
          <a:xfrm>
            <a:off x="9674771" y="7645017"/>
            <a:ext cx="164592" cy="89307"/>
            <a:chOff x="0" y="0"/>
            <a:chExt cx="219456" cy="1190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37" name="AutoShape 37"/>
          <p:cNvSpPr/>
          <p:nvPr/>
        </p:nvSpPr>
        <p:spPr>
          <a:xfrm>
            <a:off x="9824998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11083776" y="7645017"/>
            <a:ext cx="164592" cy="89307"/>
            <a:chOff x="0" y="0"/>
            <a:chExt cx="219456" cy="1190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40" name="AutoShape 40"/>
          <p:cNvSpPr/>
          <p:nvPr/>
        </p:nvSpPr>
        <p:spPr>
          <a:xfrm>
            <a:off x="11234003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12492780" y="7645017"/>
            <a:ext cx="164592" cy="89307"/>
            <a:chOff x="0" y="0"/>
            <a:chExt cx="219456" cy="1190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43" name="AutoShape 43"/>
          <p:cNvSpPr/>
          <p:nvPr/>
        </p:nvSpPr>
        <p:spPr>
          <a:xfrm>
            <a:off x="12643017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13901795" y="7645017"/>
            <a:ext cx="164592" cy="89307"/>
            <a:chOff x="0" y="0"/>
            <a:chExt cx="219456" cy="1190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46" name="AutoShape 46"/>
          <p:cNvSpPr/>
          <p:nvPr/>
        </p:nvSpPr>
        <p:spPr>
          <a:xfrm>
            <a:off x="14052022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7" name="Group 47"/>
          <p:cNvGrpSpPr/>
          <p:nvPr/>
        </p:nvGrpSpPr>
        <p:grpSpPr>
          <a:xfrm>
            <a:off x="15310799" y="7645017"/>
            <a:ext cx="164592" cy="89307"/>
            <a:chOff x="0" y="0"/>
            <a:chExt cx="219456" cy="11907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sp>
        <p:nvSpPr>
          <p:cNvPr id="49" name="AutoShape 49"/>
          <p:cNvSpPr/>
          <p:nvPr/>
        </p:nvSpPr>
        <p:spPr>
          <a:xfrm>
            <a:off x="15461026" y="7684500"/>
            <a:ext cx="1273133" cy="5172"/>
          </a:xfrm>
          <a:prstGeom prst="line">
            <a:avLst/>
          </a:prstGeom>
          <a:ln w="9525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0" name="Group 50"/>
          <p:cNvGrpSpPr/>
          <p:nvPr/>
        </p:nvGrpSpPr>
        <p:grpSpPr>
          <a:xfrm>
            <a:off x="16719804" y="7645017"/>
            <a:ext cx="164592" cy="89307"/>
            <a:chOff x="0" y="0"/>
            <a:chExt cx="219456" cy="11907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9456" cy="119076"/>
            </a:xfrm>
            <a:custGeom>
              <a:avLst/>
              <a:gdLst/>
              <a:ahLst/>
              <a:cxnLst/>
              <a:rect l="l" t="t" r="r" b="b"/>
              <a:pathLst>
                <a:path w="219456" h="119076">
                  <a:moveTo>
                    <a:pt x="0" y="59538"/>
                  </a:moveTo>
                  <a:cubicBezTo>
                    <a:pt x="0" y="26668"/>
                    <a:pt x="49149" y="0"/>
                    <a:pt x="109728" y="0"/>
                  </a:cubicBezTo>
                  <a:cubicBezTo>
                    <a:pt x="170307" y="0"/>
                    <a:pt x="219456" y="26668"/>
                    <a:pt x="219456" y="59538"/>
                  </a:cubicBezTo>
                  <a:cubicBezTo>
                    <a:pt x="219456" y="92408"/>
                    <a:pt x="170307" y="119076"/>
                    <a:pt x="109728" y="119076"/>
                  </a:cubicBezTo>
                  <a:cubicBezTo>
                    <a:pt x="49149" y="119076"/>
                    <a:pt x="0" y="92408"/>
                    <a:pt x="0" y="59538"/>
                  </a:cubicBezTo>
                  <a:close/>
                </a:path>
              </a:pathLst>
            </a:custGeom>
            <a:solidFill>
              <a:srgbClr val="D98F55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234440" y="7831073"/>
            <a:ext cx="13716000" cy="223267"/>
            <a:chOff x="0" y="0"/>
            <a:chExt cx="18288000" cy="29769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8288000" cy="297690"/>
            </a:xfrm>
            <a:custGeom>
              <a:avLst/>
              <a:gdLst/>
              <a:ahLst/>
              <a:cxnLst/>
              <a:rect l="l" t="t" r="r" b="b"/>
              <a:pathLst>
                <a:path w="18288000" h="297690">
                  <a:moveTo>
                    <a:pt x="0" y="0"/>
                  </a:moveTo>
                  <a:lnTo>
                    <a:pt x="18288000" y="0"/>
                  </a:lnTo>
                  <a:lnTo>
                    <a:pt x="18288000" y="297690"/>
                  </a:lnTo>
                  <a:lnTo>
                    <a:pt x="0" y="297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6191" b="-1146196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234440" y="9258300"/>
            <a:ext cx="8229600" cy="480060"/>
            <a:chOff x="0" y="0"/>
            <a:chExt cx="10972800" cy="64008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797" b="-283795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234440" y="8755137"/>
            <a:ext cx="8229600" cy="983223"/>
            <a:chOff x="0" y="0"/>
            <a:chExt cx="10972800" cy="131096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972800" cy="1310963"/>
            </a:xfrm>
            <a:custGeom>
              <a:avLst/>
              <a:gdLst/>
              <a:ahLst/>
              <a:cxnLst/>
              <a:rect l="l" t="t" r="r" b="b"/>
              <a:pathLst>
                <a:path w="10972800" h="1310963">
                  <a:moveTo>
                    <a:pt x="0" y="0"/>
                  </a:moveTo>
                  <a:lnTo>
                    <a:pt x="10972800" y="0"/>
                  </a:lnTo>
                  <a:lnTo>
                    <a:pt x="10972800" y="1310963"/>
                  </a:lnTo>
                  <a:lnTo>
                    <a:pt x="0" y="1310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8314" b="-8786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10972800" cy="132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Encadrant : Pr. Mohammed AIT DAOUD</a:t>
              </a:r>
            </a:p>
            <a:p>
              <a:pPr algn="l">
                <a:lnSpc>
                  <a:spcPts val="2160"/>
                </a:lnSpc>
              </a:pPr>
              <a:r>
                <a:rPr lang="en-US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                         Pr. AMZIL TAOUFIK</a:t>
              </a:r>
              <a:endParaRPr lang="en-US" sz="1800" b="1">
                <a:solidFill>
                  <a:srgbClr val="C7CCD1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34440" y="9669780"/>
            <a:ext cx="13716000" cy="411480"/>
            <a:chOff x="0" y="0"/>
            <a:chExt cx="18288000" cy="5486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288000" cy="548640"/>
            </a:xfrm>
            <a:custGeom>
              <a:avLst/>
              <a:gdLst/>
              <a:ahLst/>
              <a:cxnLst/>
              <a:rect l="l" t="t" r="r" b="b"/>
              <a:pathLst>
                <a:path w="18288000" h="54864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048" b="-599050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234440" y="9655493"/>
            <a:ext cx="13716000" cy="425767"/>
            <a:chOff x="0" y="0"/>
            <a:chExt cx="18288000" cy="56769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8288000" cy="567690"/>
            </a:xfrm>
            <a:custGeom>
              <a:avLst/>
              <a:gdLst/>
              <a:ahLst/>
              <a:cxnLst/>
              <a:rect l="l" t="t" r="r" b="b"/>
              <a:pathLst>
                <a:path w="18288000" h="567690">
                  <a:moveTo>
                    <a:pt x="0" y="0"/>
                  </a:moveTo>
                  <a:lnTo>
                    <a:pt x="18288000" y="0"/>
                  </a:lnTo>
                  <a:lnTo>
                    <a:pt x="1828800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7705" b="-57770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182880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AA5B1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Faculté des Sciences Ben M'Sik — Université Hassan II de Casablanca , Master DSBD / IA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34440" y="5116472"/>
            <a:ext cx="5965476" cy="2477238"/>
            <a:chOff x="0" y="0"/>
            <a:chExt cx="7741160" cy="321461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741160" cy="3214613"/>
            </a:xfrm>
            <a:custGeom>
              <a:avLst/>
              <a:gdLst/>
              <a:ahLst/>
              <a:cxnLst/>
              <a:rect l="l" t="t" r="r" b="b"/>
              <a:pathLst>
                <a:path w="7741160" h="3214613">
                  <a:moveTo>
                    <a:pt x="0" y="0"/>
                  </a:moveTo>
                  <a:lnTo>
                    <a:pt x="7741160" y="0"/>
                  </a:lnTo>
                  <a:lnTo>
                    <a:pt x="7741160" y="3214613"/>
                  </a:lnTo>
                  <a:lnTo>
                    <a:pt x="0" y="32146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6689" r="-133881" b="-3279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7741160" cy="32336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RÉALISÉ PAR: 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MSOUHLI Rahil                                 Product Owner 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EL MAMOUNI ALAOUI Amina     Scrum Master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 FEZZAZ Imane                                  Data Engineer 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ABRABRI Zineb                                  Data Engineer </a:t>
              </a:r>
            </a:p>
            <a:p>
              <a:pPr algn="l">
                <a:lnSpc>
                  <a:spcPts val="2610"/>
                </a:lnSpc>
              </a:pPr>
              <a:endParaRPr lang="en-US" sz="2175" i="1">
                <a:solidFill>
                  <a:srgbClr val="C7CCD1"/>
                </a:solidFill>
                <a:latin typeface="Georgia Pro Condensed Italics"/>
                <a:ea typeface="Georgia Pro Condensed Italics"/>
                <a:cs typeface="Georgia Pro Condensed Italics"/>
                <a:sym typeface="Georgia Pro Condensed Itali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675923" y="5237751"/>
            <a:ext cx="8153343" cy="2704955"/>
            <a:chOff x="0" y="0"/>
            <a:chExt cx="10566473" cy="350553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566473" cy="3505536"/>
            </a:xfrm>
            <a:custGeom>
              <a:avLst/>
              <a:gdLst/>
              <a:ahLst/>
              <a:cxnLst/>
              <a:rect l="l" t="t" r="r" b="b"/>
              <a:pathLst>
                <a:path w="10566473" h="3505536">
                  <a:moveTo>
                    <a:pt x="0" y="0"/>
                  </a:moveTo>
                  <a:lnTo>
                    <a:pt x="10566473" y="0"/>
                  </a:lnTo>
                  <a:lnTo>
                    <a:pt x="10566473" y="3505536"/>
                  </a:lnTo>
                  <a:lnTo>
                    <a:pt x="0" y="35055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495" r="-71344" b="-2177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85725"/>
              <a:ext cx="10566473" cy="3591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ELKHATIB Sara                     Analytics / Data Quality Engineer  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RABI Maroua                          ML Engineer  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AIT SI ALI Rachida               MLOps Engineer  </a:t>
              </a:r>
            </a:p>
            <a:p>
              <a:pPr algn="l">
                <a:lnSpc>
                  <a:spcPts val="3349"/>
                </a:lnSpc>
              </a:pPr>
              <a:r>
                <a:rPr lang="en-US" sz="217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SEKKAT Israa                        DevOps / API Engine</a:t>
              </a:r>
            </a:p>
            <a:p>
              <a:pPr algn="l">
                <a:lnSpc>
                  <a:spcPts val="2610"/>
                </a:lnSpc>
              </a:pPr>
              <a:endParaRPr lang="en-US" sz="2175" i="1">
                <a:solidFill>
                  <a:srgbClr val="C7CCD1"/>
                </a:solidFill>
                <a:latin typeface="Georgia Pro Condensed Italics"/>
                <a:ea typeface="Georgia Pro Condensed Italics"/>
                <a:cs typeface="Georgia Pro Condensed Italics"/>
                <a:sym typeface="Georgia Pro Condensed Italics"/>
              </a:endParaRPr>
            </a:p>
          </p:txBody>
        </p:sp>
      </p:grpSp>
      <p:sp>
        <p:nvSpPr>
          <p:cNvPr id="70" name="Freeform 70"/>
          <p:cNvSpPr/>
          <p:nvPr/>
        </p:nvSpPr>
        <p:spPr>
          <a:xfrm>
            <a:off x="14813280" y="0"/>
            <a:ext cx="3474720" cy="1354682"/>
          </a:xfrm>
          <a:custGeom>
            <a:avLst/>
            <a:gdLst/>
            <a:ahLst/>
            <a:cxnLst/>
            <a:rect l="l" t="t" r="r" b="b"/>
            <a:pathLst>
              <a:path w="3474720" h="1354682">
                <a:moveTo>
                  <a:pt x="0" y="0"/>
                </a:moveTo>
                <a:lnTo>
                  <a:pt x="3474720" y="0"/>
                </a:lnTo>
                <a:lnTo>
                  <a:pt x="3474720" y="1354682"/>
                </a:lnTo>
                <a:lnTo>
                  <a:pt x="0" y="1354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&amp; PROBLÉMATIQUE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5773400" cy="1097280"/>
            <a:chOff x="0" y="0"/>
            <a:chExt cx="210312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463040"/>
            </a:xfrm>
            <a:custGeom>
              <a:avLst/>
              <a:gdLst/>
              <a:ahLst/>
              <a:cxnLst/>
              <a:rect l="l" t="t" r="r" b="b"/>
              <a:pathLst>
                <a:path w="21031200" h="146304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E25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la donnée capteur à la décision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948940"/>
            <a:ext cx="7543800" cy="1508760"/>
            <a:chOff x="0" y="0"/>
            <a:chExt cx="10058400" cy="2011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8400" cy="2011680"/>
            </a:xfrm>
            <a:custGeom>
              <a:avLst/>
              <a:gdLst/>
              <a:ahLst/>
              <a:cxnLst/>
              <a:rect l="l" t="t" r="r" b="b"/>
              <a:pathLst>
                <a:path w="10058400" h="2011680">
                  <a:moveTo>
                    <a:pt x="0" y="0"/>
                  </a:moveTo>
                  <a:lnTo>
                    <a:pt x="10058400" y="0"/>
                  </a:lnTo>
                  <a:lnTo>
                    <a:pt x="10058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058400" cy="2030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C165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100 000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4320540"/>
            <a:ext cx="7543800" cy="617220"/>
            <a:chOff x="0" y="0"/>
            <a:chExt cx="10058400" cy="822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58400" cy="822960"/>
            </a:xfrm>
            <a:custGeom>
              <a:avLst/>
              <a:gdLst/>
              <a:ahLst/>
              <a:cxnLst/>
              <a:rect l="l" t="t" r="r" b="b"/>
              <a:pathLst>
                <a:path w="10058400" h="822960">
                  <a:moveTo>
                    <a:pt x="0" y="0"/>
                  </a:moveTo>
                  <a:lnTo>
                    <a:pt x="10058400" y="0"/>
                  </a:lnTo>
                  <a:lnTo>
                    <a:pt x="100584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150" b="-18815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058400" cy="870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relevés capteurs, sur un parc de 50 machines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rot="6000">
            <a:off x="816607" y="5138738"/>
            <a:ext cx="7282186" cy="0"/>
          </a:xfrm>
          <a:prstGeom prst="line">
            <a:avLst/>
          </a:prstGeom>
          <a:ln w="9525" cap="rnd">
            <a:solidFill>
              <a:srgbClr val="D9D9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822960" y="5381625"/>
            <a:ext cx="7543800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 i="1">
                <a:solidFill>
                  <a:srgbClr val="1E253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Problématique : </a:t>
            </a:r>
            <a:r>
              <a:rPr lang="en-US" sz="2100" i="1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à partir de relevés capteurs multivariés sur un parc de 50 machines, déterminer si une machine présente un risque de défaillance imminente.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2960" y="7749540"/>
            <a:ext cx="960120" cy="960120"/>
            <a:chOff x="0" y="0"/>
            <a:chExt cx="1280160" cy="12801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57377" y="7883957"/>
            <a:ext cx="691286" cy="691286"/>
            <a:chOff x="0" y="0"/>
            <a:chExt cx="921715" cy="921715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921766" cy="921766"/>
            </a:xfrm>
            <a:custGeom>
              <a:avLst/>
              <a:gdLst/>
              <a:ahLst/>
              <a:cxnLst/>
              <a:rect l="l" t="t" r="r" b="b"/>
              <a:pathLst>
                <a:path w="921766" h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5" b="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988820" y="7749540"/>
            <a:ext cx="6446520" cy="960120"/>
            <a:chOff x="0" y="0"/>
            <a:chExt cx="8595360" cy="12801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95360" cy="1280160"/>
            </a:xfrm>
            <a:custGeom>
              <a:avLst/>
              <a:gdLst/>
              <a:ahLst/>
              <a:cxnLst/>
              <a:rect l="l" t="t" r="r" b="b"/>
              <a:pathLst>
                <a:path w="8595360" h="12801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828" b="-8082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8595360" cy="13087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Industrie 4.0 — capteurs IoT sur les lignes de production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46207" y="2942587"/>
            <a:ext cx="8379457" cy="6047737"/>
            <a:chOff x="0" y="0"/>
            <a:chExt cx="11172609" cy="80636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172571" cy="8063611"/>
            </a:xfrm>
            <a:custGeom>
              <a:avLst/>
              <a:gdLst/>
              <a:ahLst/>
              <a:cxnLst/>
              <a:rect l="l" t="t" r="r" b="b"/>
              <a:pathLst>
                <a:path w="11172571" h="8063611">
                  <a:moveTo>
                    <a:pt x="0" y="146558"/>
                  </a:moveTo>
                  <a:cubicBezTo>
                    <a:pt x="0" y="65659"/>
                    <a:pt x="65659" y="0"/>
                    <a:pt x="146558" y="0"/>
                  </a:cubicBezTo>
                  <a:lnTo>
                    <a:pt x="11026013" y="0"/>
                  </a:lnTo>
                  <a:cubicBezTo>
                    <a:pt x="11107039" y="0"/>
                    <a:pt x="11172571" y="65659"/>
                    <a:pt x="11172571" y="146558"/>
                  </a:cubicBezTo>
                  <a:lnTo>
                    <a:pt x="11172571" y="7917053"/>
                  </a:lnTo>
                  <a:cubicBezTo>
                    <a:pt x="11172571" y="7998079"/>
                    <a:pt x="11106912" y="8063611"/>
                    <a:pt x="11026013" y="8063611"/>
                  </a:cubicBezTo>
                  <a:lnTo>
                    <a:pt x="146558" y="8063611"/>
                  </a:lnTo>
                  <a:cubicBezTo>
                    <a:pt x="65659" y="8063611"/>
                    <a:pt x="0" y="7998079"/>
                    <a:pt x="0" y="791705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5E2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601200" y="3360420"/>
            <a:ext cx="7269480" cy="411480"/>
            <a:chOff x="0" y="0"/>
            <a:chExt cx="9692640" cy="548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692640" cy="548640"/>
            </a:xfrm>
            <a:custGeom>
              <a:avLst/>
              <a:gdLst/>
              <a:ahLst/>
              <a:cxnLst/>
              <a:rect l="l" t="t" r="r" b="b"/>
              <a:pathLst>
                <a:path w="9692640" h="548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35" b="-29423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9692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 CAPTEURS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601200" y="3930015"/>
            <a:ext cx="7269480" cy="279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3365" lvl="1" indent="-126682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530"/>
                </a:solidFill>
                <a:latin typeface="Calibri (MS)"/>
                <a:ea typeface="Calibri (MS)"/>
                <a:cs typeface="Calibri (MS)"/>
                <a:sym typeface="Calibri (MS)"/>
              </a:rPr>
              <a:t>temperature — température mesurée</a:t>
            </a:r>
          </a:p>
          <a:p>
            <a:pPr marL="253365" lvl="1" indent="-126682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530"/>
                </a:solidFill>
                <a:latin typeface="Calibri (MS)"/>
                <a:ea typeface="Calibri (MS)"/>
                <a:cs typeface="Calibri (MS)"/>
                <a:sym typeface="Calibri (MS)"/>
              </a:rPr>
              <a:t>vibration — amplitude de vibration</a:t>
            </a:r>
          </a:p>
          <a:p>
            <a:pPr marL="253365" lvl="1" indent="-126682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530"/>
                </a:solidFill>
                <a:latin typeface="Calibri (MS)"/>
                <a:ea typeface="Calibri (MS)"/>
                <a:cs typeface="Calibri (MS)"/>
                <a:sym typeface="Calibri (MS)"/>
              </a:rPr>
              <a:t>humidity — taux d’humidité ambiante</a:t>
            </a:r>
          </a:p>
          <a:p>
            <a:pPr marL="253365" lvl="1" indent="-126682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530"/>
                </a:solidFill>
                <a:latin typeface="Calibri (MS)"/>
                <a:ea typeface="Calibri (MS)"/>
                <a:cs typeface="Calibri (MS)"/>
                <a:sym typeface="Calibri (MS)"/>
              </a:rPr>
              <a:t>pressure — pression mesurée</a:t>
            </a:r>
          </a:p>
          <a:p>
            <a:pPr marL="253365" lvl="1" indent="-126682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1E2530"/>
                </a:solidFill>
                <a:latin typeface="Calibri (MS)"/>
                <a:ea typeface="Calibri (MS)"/>
                <a:cs typeface="Calibri (MS)"/>
                <a:sym typeface="Calibri (MS)"/>
              </a:rPr>
              <a:t>energy_consumption — consommation énergétique</a:t>
            </a:r>
          </a:p>
        </p:txBody>
      </p:sp>
      <p:sp>
        <p:nvSpPr>
          <p:cNvPr id="29" name="AutoShape 29"/>
          <p:cNvSpPr/>
          <p:nvPr/>
        </p:nvSpPr>
        <p:spPr>
          <a:xfrm rot="6000">
            <a:off x="9594847" y="6990397"/>
            <a:ext cx="7282186" cy="0"/>
          </a:xfrm>
          <a:prstGeom prst="line">
            <a:avLst/>
          </a:prstGeom>
          <a:ln w="9525" cap="rnd">
            <a:solidFill>
              <a:srgbClr val="E5E5E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30"/>
          <p:cNvSpPr txBox="1"/>
          <p:nvPr/>
        </p:nvSpPr>
        <p:spPr>
          <a:xfrm>
            <a:off x="9601200" y="7240905"/>
            <a:ext cx="7269480" cy="126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i="1">
                <a:solidFill>
                  <a:srgbClr val="6B72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Jeu de données : Smart Manufacturing IoT Cloud Monitoring Dataset (Kaggle), janvier à mars 2025.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22960" y="9738360"/>
            <a:ext cx="14401800" cy="411480"/>
            <a:chOff x="0" y="0"/>
            <a:chExt cx="192024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202400" cy="548640"/>
            </a:xfrm>
            <a:custGeom>
              <a:avLst/>
              <a:gdLst/>
              <a:ahLst/>
              <a:cxnLst/>
              <a:rect l="l" t="t" r="r" b="b"/>
              <a:pathLst>
                <a:path w="19202400" h="54864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MLOps &amp; DataOps — Maintenance Prédictive Industrielle · Vision &amp; Data Strategy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007840" y="9738360"/>
            <a:ext cx="685800" cy="411480"/>
            <a:chOff x="0" y="0"/>
            <a:chExt cx="91440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OBJECTIFS DU PROJET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5773400" cy="1097280"/>
            <a:chOff x="0" y="0"/>
            <a:chExt cx="210312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463040"/>
            </a:xfrm>
            <a:custGeom>
              <a:avLst/>
              <a:gdLst/>
              <a:ahLst/>
              <a:cxnLst/>
              <a:rect l="l" t="t" r="r" b="b"/>
              <a:pathLst>
                <a:path w="21031200" h="146304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E25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Trois objectifs opérationnels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6607" y="3216907"/>
            <a:ext cx="5156197" cy="5361937"/>
            <a:chOff x="0" y="0"/>
            <a:chExt cx="6874929" cy="71492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75018" cy="7149338"/>
            </a:xfrm>
            <a:custGeom>
              <a:avLst/>
              <a:gdLst/>
              <a:ahLst/>
              <a:cxnLst/>
              <a:rect l="l" t="t" r="r" b="b"/>
              <a:pathLst>
                <a:path w="6875018" h="71493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728333" y="0"/>
                  </a:lnTo>
                  <a:cubicBezTo>
                    <a:pt x="6809359" y="0"/>
                    <a:pt x="6875018" y="65659"/>
                    <a:pt x="6875018" y="146685"/>
                  </a:cubicBezTo>
                  <a:lnTo>
                    <a:pt x="6875018" y="7002653"/>
                  </a:lnTo>
                  <a:cubicBezTo>
                    <a:pt x="6875018" y="7083679"/>
                    <a:pt x="6809359" y="7149338"/>
                    <a:pt x="6728333" y="7149338"/>
                  </a:cubicBezTo>
                  <a:lnTo>
                    <a:pt x="146685" y="7149338"/>
                  </a:lnTo>
                  <a:cubicBezTo>
                    <a:pt x="65659" y="7149211"/>
                    <a:pt x="0" y="7083552"/>
                    <a:pt x="0" y="700265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5E2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777490" y="3840480"/>
            <a:ext cx="1234440" cy="1234440"/>
            <a:chOff x="0" y="0"/>
            <a:chExt cx="1645920" cy="1645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950312" y="4013302"/>
            <a:ext cx="888797" cy="888797"/>
            <a:chOff x="0" y="0"/>
            <a:chExt cx="1185062" cy="118506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234440" y="5379720"/>
            <a:ext cx="4320540" cy="99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E25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Prédire les défaillances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440" y="6370320"/>
            <a:ext cx="4320540" cy="199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Déterminer, à partir des données capteurs, si une machine nécessite une intervention de maintenance.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40167" y="3216907"/>
            <a:ext cx="5156197" cy="5361937"/>
            <a:chOff x="0" y="0"/>
            <a:chExt cx="6874929" cy="71492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75018" cy="7149338"/>
            </a:xfrm>
            <a:custGeom>
              <a:avLst/>
              <a:gdLst/>
              <a:ahLst/>
              <a:cxnLst/>
              <a:rect l="l" t="t" r="r" b="b"/>
              <a:pathLst>
                <a:path w="6875018" h="71493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728333" y="0"/>
                  </a:lnTo>
                  <a:cubicBezTo>
                    <a:pt x="6809359" y="0"/>
                    <a:pt x="6875018" y="65659"/>
                    <a:pt x="6875018" y="146685"/>
                  </a:cubicBezTo>
                  <a:lnTo>
                    <a:pt x="6875018" y="7002653"/>
                  </a:lnTo>
                  <a:cubicBezTo>
                    <a:pt x="6875018" y="7083679"/>
                    <a:pt x="6809359" y="7149338"/>
                    <a:pt x="6728333" y="7149338"/>
                  </a:cubicBezTo>
                  <a:lnTo>
                    <a:pt x="146685" y="7149338"/>
                  </a:lnTo>
                  <a:cubicBezTo>
                    <a:pt x="65659" y="7149211"/>
                    <a:pt x="0" y="7083552"/>
                    <a:pt x="0" y="700265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5E2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401050" y="3840480"/>
            <a:ext cx="1234440" cy="1234440"/>
            <a:chOff x="0" y="0"/>
            <a:chExt cx="1645920" cy="16459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573872" y="4013302"/>
            <a:ext cx="888797" cy="888797"/>
            <a:chOff x="0" y="0"/>
            <a:chExt cx="1185062" cy="118506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858000" y="5379720"/>
            <a:ext cx="4320540" cy="99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E25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Réduire les arrêts non planifiés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0" y="6370320"/>
            <a:ext cx="4320540" cy="199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Identifier les signaux précurseurs assez en amont pour planifier l’intervention plutôt que la subir.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63727" y="3216907"/>
            <a:ext cx="5156197" cy="5361937"/>
            <a:chOff x="0" y="0"/>
            <a:chExt cx="6874929" cy="71492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75018" cy="7149338"/>
            </a:xfrm>
            <a:custGeom>
              <a:avLst/>
              <a:gdLst/>
              <a:ahLst/>
              <a:cxnLst/>
              <a:rect l="l" t="t" r="r" b="b"/>
              <a:pathLst>
                <a:path w="6875018" h="71493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728333" y="0"/>
                  </a:lnTo>
                  <a:cubicBezTo>
                    <a:pt x="6809359" y="0"/>
                    <a:pt x="6875018" y="65659"/>
                    <a:pt x="6875018" y="146685"/>
                  </a:cubicBezTo>
                  <a:lnTo>
                    <a:pt x="6875018" y="7002653"/>
                  </a:lnTo>
                  <a:cubicBezTo>
                    <a:pt x="6875018" y="7083679"/>
                    <a:pt x="6809359" y="7149338"/>
                    <a:pt x="6728333" y="7149338"/>
                  </a:cubicBezTo>
                  <a:lnTo>
                    <a:pt x="146685" y="7149338"/>
                  </a:lnTo>
                  <a:cubicBezTo>
                    <a:pt x="65659" y="7149211"/>
                    <a:pt x="0" y="7083552"/>
                    <a:pt x="0" y="700265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5E2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4024610" y="3840480"/>
            <a:ext cx="1234440" cy="1234440"/>
            <a:chOff x="0" y="0"/>
            <a:chExt cx="1645920" cy="1645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1652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4197432" y="4013302"/>
            <a:ext cx="888797" cy="888797"/>
            <a:chOff x="0" y="0"/>
            <a:chExt cx="1185062" cy="1185062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2481560" y="5379720"/>
            <a:ext cx="4320540" cy="99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1E25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Outiller les équipes de maintenance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81560" y="6370320"/>
            <a:ext cx="4320540" cy="199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Fournir une information exploitable — probabilité de défaillance — via un service accessible (API).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22960" y="9738360"/>
            <a:ext cx="14401800" cy="411480"/>
            <a:chOff x="0" y="0"/>
            <a:chExt cx="1920240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202400" cy="548640"/>
            </a:xfrm>
            <a:custGeom>
              <a:avLst/>
              <a:gdLst/>
              <a:ahLst/>
              <a:cxnLst/>
              <a:rect l="l" t="t" r="r" b="b"/>
              <a:pathLst>
                <a:path w="19202400" h="54864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MLOps &amp; DataOps — Maintenance Prédictive Industrielle · Vision &amp; Data Strategy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007840" y="9738360"/>
            <a:ext cx="685800" cy="411480"/>
            <a:chOff x="0" y="0"/>
            <a:chExt cx="9144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480060"/>
            <a:chOff x="0" y="0"/>
            <a:chExt cx="146304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640080"/>
            </a:xfrm>
            <a:custGeom>
              <a:avLst/>
              <a:gdLst/>
              <a:ahLst/>
              <a:cxnLst/>
              <a:rect l="l" t="t" r="r" b="b"/>
              <a:pathLst>
                <a:path w="14630400" h="64008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5372" b="-39537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&amp; DATA STRATEGY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la donnée capteur à la prédiction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500">
            <a:off x="1842125" y="4859655"/>
            <a:ext cx="14558020" cy="0"/>
          </a:xfrm>
          <a:prstGeom prst="line">
            <a:avLst/>
          </a:prstGeom>
          <a:ln w="19050" cap="rnd">
            <a:solidFill>
              <a:srgbClr val="4A556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234440" y="4251960"/>
            <a:ext cx="1234440" cy="1234440"/>
            <a:chOff x="0" y="0"/>
            <a:chExt cx="1645920" cy="1645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407262" y="4424782"/>
            <a:ext cx="888797" cy="888797"/>
            <a:chOff x="0" y="0"/>
            <a:chExt cx="1185062" cy="118506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80060" y="5713095"/>
            <a:ext cx="27432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Données</a:t>
            </a:r>
          </a:p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capteurs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400300" y="4526280"/>
            <a:ext cx="2537460" cy="685800"/>
            <a:chOff x="0" y="0"/>
            <a:chExt cx="338328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83280" cy="914400"/>
            </a:xfrm>
            <a:custGeom>
              <a:avLst/>
              <a:gdLst/>
              <a:ahLst/>
              <a:cxnLst/>
              <a:rect l="l" t="t" r="r" b="b"/>
              <a:pathLst>
                <a:path w="3383280" h="91440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338328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869180" y="4251960"/>
            <a:ext cx="1234440" cy="1234440"/>
            <a:chOff x="0" y="0"/>
            <a:chExt cx="1645920" cy="16459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042002" y="4424782"/>
            <a:ext cx="888797" cy="888797"/>
            <a:chOff x="0" y="0"/>
            <a:chExt cx="1185062" cy="118506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-2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4114800" y="5713095"/>
            <a:ext cx="27432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Préparation &amp;</a:t>
            </a:r>
          </a:p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transformation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35040" y="4526280"/>
            <a:ext cx="2537460" cy="685800"/>
            <a:chOff x="0" y="0"/>
            <a:chExt cx="338328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83280" cy="914400"/>
            </a:xfrm>
            <a:custGeom>
              <a:avLst/>
              <a:gdLst/>
              <a:ahLst/>
              <a:cxnLst/>
              <a:rect l="l" t="t" r="r" b="b"/>
              <a:pathLst>
                <a:path w="3383280" h="91440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338328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03920" y="4251960"/>
            <a:ext cx="1234440" cy="1234440"/>
            <a:chOff x="0" y="0"/>
            <a:chExt cx="1645920" cy="16459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8676742" y="4424782"/>
            <a:ext cx="888797" cy="888797"/>
            <a:chOff x="0" y="0"/>
            <a:chExt cx="1185062" cy="1185062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" b="-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7749540" y="5713095"/>
            <a:ext cx="27432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</a:t>
            </a:r>
          </a:p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Learning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669780" y="4526280"/>
            <a:ext cx="2537460" cy="685800"/>
            <a:chOff x="0" y="0"/>
            <a:chExt cx="338328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83280" cy="914400"/>
            </a:xfrm>
            <a:custGeom>
              <a:avLst/>
              <a:gdLst/>
              <a:ahLst/>
              <a:cxnLst/>
              <a:rect l="l" t="t" r="r" b="b"/>
              <a:pathLst>
                <a:path w="3383280" h="91440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338328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38660" y="4251960"/>
            <a:ext cx="1234440" cy="1234440"/>
            <a:chOff x="0" y="0"/>
            <a:chExt cx="1645920" cy="16459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3A4451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311482" y="4424782"/>
            <a:ext cx="888797" cy="888797"/>
            <a:chOff x="0" y="0"/>
            <a:chExt cx="1185062" cy="1185062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2" b="-2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1384280" y="5713095"/>
            <a:ext cx="27432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Prédiction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304520" y="4526280"/>
            <a:ext cx="2537460" cy="685800"/>
            <a:chOff x="0" y="0"/>
            <a:chExt cx="338328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383280" cy="914400"/>
            </a:xfrm>
            <a:custGeom>
              <a:avLst/>
              <a:gdLst/>
              <a:ahLst/>
              <a:cxnLst/>
              <a:rect l="l" t="t" r="r" b="b"/>
              <a:pathLst>
                <a:path w="3383280" h="914400">
                  <a:moveTo>
                    <a:pt x="0" y="0"/>
                  </a:moveTo>
                  <a:lnTo>
                    <a:pt x="3383280" y="0"/>
                  </a:lnTo>
                  <a:lnTo>
                    <a:pt x="3383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094" b="-2209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3383280" cy="98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773400" y="4251960"/>
            <a:ext cx="1234440" cy="1234440"/>
            <a:chOff x="0" y="0"/>
            <a:chExt cx="1645920" cy="16459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45920" cy="1645920"/>
            </a:xfrm>
            <a:custGeom>
              <a:avLst/>
              <a:gdLst/>
              <a:ahLst/>
              <a:cxnLst/>
              <a:rect l="l" t="t" r="r" b="b"/>
              <a:pathLst>
                <a:path w="1645920" h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C1652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5946222" y="4424782"/>
            <a:ext cx="888797" cy="888797"/>
            <a:chOff x="0" y="0"/>
            <a:chExt cx="1185062" cy="1185062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1185037" cy="1185037"/>
            </a:xfrm>
            <a:custGeom>
              <a:avLst/>
              <a:gdLst/>
              <a:ahLst/>
              <a:cxnLst/>
              <a:rect l="l" t="t" r="r" b="b"/>
              <a:pathLst>
                <a:path w="1185037" h="1185037">
                  <a:moveTo>
                    <a:pt x="0" y="0"/>
                  </a:moveTo>
                  <a:lnTo>
                    <a:pt x="1185037" y="0"/>
                  </a:lnTo>
                  <a:lnTo>
                    <a:pt x="1185037" y="1185037"/>
                  </a:lnTo>
                  <a:lnTo>
                    <a:pt x="0" y="1185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" b="-2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15019020" y="5713095"/>
            <a:ext cx="274320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Déploiement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057400" y="7505700"/>
            <a:ext cx="14127480" cy="113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i="1">
                <a:solidFill>
                  <a:srgbClr val="A9B0B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Transformer les données capteurs en une information exploitable pour la maintenance.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822960" y="9738360"/>
            <a:ext cx="14401800" cy="411480"/>
            <a:chOff x="0" y="0"/>
            <a:chExt cx="19202400" cy="5486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202400" cy="548640"/>
            </a:xfrm>
            <a:custGeom>
              <a:avLst/>
              <a:gdLst/>
              <a:ahLst/>
              <a:cxnLst/>
              <a:rect l="l" t="t" r="r" b="b"/>
              <a:pathLst>
                <a:path w="19202400" h="54864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9B0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MLOps &amp; DataOps — Maintenance Prédictive Industrielle · Vision &amp; Data Strategy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007840" y="9738360"/>
            <a:ext cx="685800" cy="411480"/>
            <a:chOff x="0" y="0"/>
            <a:chExt cx="91440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0B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09360" cy="10287000"/>
            <a:chOff x="0" y="0"/>
            <a:chExt cx="841248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12480" cy="13716000"/>
            </a:xfrm>
            <a:custGeom>
              <a:avLst/>
              <a:gdLst/>
              <a:ahLst/>
              <a:cxnLst/>
              <a:rect l="l" t="t" r="r" b="b"/>
              <a:pathLst>
                <a:path w="8412480" h="13716000">
                  <a:moveTo>
                    <a:pt x="0" y="0"/>
                  </a:moveTo>
                  <a:lnTo>
                    <a:pt x="8412480" y="0"/>
                  </a:lnTo>
                  <a:lnTo>
                    <a:pt x="841248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E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754380"/>
            <a:ext cx="960120" cy="960120"/>
            <a:chOff x="0" y="0"/>
            <a:chExt cx="1280160" cy="12801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C1652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57377" y="888797"/>
            <a:ext cx="691286" cy="691286"/>
            <a:chOff x="0" y="0"/>
            <a:chExt cx="921715" cy="921715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21766" cy="921766"/>
            </a:xfrm>
            <a:custGeom>
              <a:avLst/>
              <a:gdLst/>
              <a:ahLst/>
              <a:cxnLst/>
              <a:rect l="l" t="t" r="r" b="b"/>
              <a:pathLst>
                <a:path w="921766" h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5" b="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22960" y="2057400"/>
            <a:ext cx="5074920" cy="822960"/>
            <a:chOff x="0" y="0"/>
            <a:chExt cx="6766560" cy="10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66560" cy="1097280"/>
            </a:xfrm>
            <a:custGeom>
              <a:avLst/>
              <a:gdLst/>
              <a:ahLst/>
              <a:cxnLst/>
              <a:rect l="l" t="t" r="r" b="b"/>
              <a:pathLst>
                <a:path w="6766560" h="1097280">
                  <a:moveTo>
                    <a:pt x="0" y="0"/>
                  </a:moveTo>
                  <a:lnTo>
                    <a:pt x="6766560" y="0"/>
                  </a:lnTo>
                  <a:lnTo>
                    <a:pt x="6766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0157" b="-7015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76656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ORGANISATION AGILE &amp; JIRA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2674620"/>
            <a:ext cx="5074920" cy="960120"/>
            <a:chOff x="0" y="0"/>
            <a:chExt cx="6766560" cy="12801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66560" cy="1280160"/>
            </a:xfrm>
            <a:custGeom>
              <a:avLst/>
              <a:gdLst/>
              <a:ahLst/>
              <a:cxnLst/>
              <a:rect l="l" t="t" r="r" b="b"/>
              <a:pathLst>
                <a:path w="6766560" h="1280160">
                  <a:moveTo>
                    <a:pt x="0" y="0"/>
                  </a:moveTo>
                  <a:lnTo>
                    <a:pt x="6766560" y="0"/>
                  </a:lnTo>
                  <a:lnTo>
                    <a:pt x="67665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2992" b="-5299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6766560" cy="12896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Scrum &amp; Jira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2960" y="3977640"/>
            <a:ext cx="5074920" cy="1508760"/>
            <a:chOff x="0" y="0"/>
            <a:chExt cx="6766560" cy="2011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66560" cy="2011680"/>
            </a:xfrm>
            <a:custGeom>
              <a:avLst/>
              <a:gdLst/>
              <a:ahLst/>
              <a:cxnLst/>
              <a:rect l="l" t="t" r="r" b="b"/>
              <a:pathLst>
                <a:path w="6766560" h="2011680">
                  <a:moveTo>
                    <a:pt x="0" y="0"/>
                  </a:moveTo>
                  <a:lnTo>
                    <a:pt x="6766560" y="0"/>
                  </a:lnTo>
                  <a:lnTo>
                    <a:pt x="67665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540" b="-1554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766560" cy="202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519"/>
                </a:lnSpc>
              </a:pPr>
              <a:r>
                <a:rPr lang="en-US" sz="9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22960" y="5370195"/>
            <a:ext cx="5074920" cy="100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A9B0BC"/>
                </a:solidFill>
                <a:latin typeface="Calibri (MS)"/>
                <a:ea typeface="Calibri (MS)"/>
                <a:cs typeface="Calibri (MS)"/>
                <a:sym typeface="Calibri (MS)"/>
              </a:rPr>
              <a:t>User Stories, priorisées MoSCoW (Must / Should)</a:t>
            </a:r>
          </a:p>
        </p:txBody>
      </p:sp>
      <p:sp>
        <p:nvSpPr>
          <p:cNvPr id="18" name="AutoShape 18"/>
          <p:cNvSpPr/>
          <p:nvPr/>
        </p:nvSpPr>
        <p:spPr>
          <a:xfrm rot="9360">
            <a:off x="816597" y="6647497"/>
            <a:ext cx="4676156" cy="0"/>
          </a:xfrm>
          <a:prstGeom prst="line">
            <a:avLst/>
          </a:prstGeom>
          <a:ln w="9525" cap="rnd">
            <a:solidFill>
              <a:srgbClr val="3A445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22960" y="6888480"/>
            <a:ext cx="5074920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9B0BC"/>
                </a:solidFill>
                <a:latin typeface="Calibri (MS)"/>
                <a:ea typeface="Calibri (MS)"/>
                <a:cs typeface="Calibri (MS)"/>
                <a:sym typeface="Calibri (MS)"/>
              </a:rPr>
              <a:t>Scrum piloté via Jira, en 3 sprints d’une  2 semaine.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7711440"/>
            <a:ext cx="5074920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9B0BC"/>
                </a:solidFill>
                <a:latin typeface="Calibri (MS)"/>
                <a:ea typeface="Calibri (MS)"/>
                <a:cs typeface="Calibri (MS)"/>
                <a:sym typeface="Calibri (MS)"/>
              </a:rPr>
              <a:t>Suivi Kanban : To Do → In Progress → Done.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063740" y="822960"/>
            <a:ext cx="10287000" cy="480060"/>
            <a:chOff x="0" y="0"/>
            <a:chExt cx="13716000" cy="6400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716000" cy="640080"/>
            </a:xfrm>
            <a:custGeom>
              <a:avLst/>
              <a:gdLst/>
              <a:ahLst/>
              <a:cxnLst/>
              <a:rect l="l" t="t" r="r" b="b"/>
              <a:pathLst>
                <a:path w="13716000" h="640080">
                  <a:moveTo>
                    <a:pt x="0" y="0"/>
                  </a:moveTo>
                  <a:lnTo>
                    <a:pt x="13716000" y="0"/>
                  </a:lnTo>
                  <a:lnTo>
                    <a:pt x="13716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716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PLANNING DES SPRINTS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63740" y="1303020"/>
            <a:ext cx="10698480" cy="960120"/>
            <a:chOff x="0" y="0"/>
            <a:chExt cx="14264640" cy="12801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264639" cy="1280160"/>
            </a:xfrm>
            <a:custGeom>
              <a:avLst/>
              <a:gdLst/>
              <a:ahLst/>
              <a:cxnLst/>
              <a:rect l="l" t="t" r="r" b="b"/>
              <a:pathLst>
                <a:path w="14264639" h="1280160">
                  <a:moveTo>
                    <a:pt x="0" y="0"/>
                  </a:moveTo>
                  <a:lnTo>
                    <a:pt x="14264639" y="0"/>
                  </a:lnTo>
                  <a:lnTo>
                    <a:pt x="142646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7118" b="-16711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4264640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0"/>
                </a:lnSpc>
              </a:pPr>
              <a:r>
                <a:rPr lang="en-US" sz="3900" b="1">
                  <a:solidFill>
                    <a:srgbClr val="1E25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 sprints, du cadrage à la restitution</a:t>
              </a:r>
            </a:p>
          </p:txBody>
        </p:sp>
      </p:grpSp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7063740" y="2537460"/>
          <a:ext cx="10693400" cy="2781300"/>
        </p:xfrm>
        <a:graphic>
          <a:graphicData uri="http://schemas.openxmlformats.org/drawingml/2006/table">
            <a:tbl>
              <a:tblPr/>
              <a:tblGrid>
                <a:gridCol w="1935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Objectif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C165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Préparation &amp; données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C165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DataOps &amp; ML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C165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5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Industrialisation &amp; restitution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8" name="Group 28"/>
          <p:cNvGrpSpPr/>
          <p:nvPr/>
        </p:nvGrpSpPr>
        <p:grpSpPr>
          <a:xfrm>
            <a:off x="7063740" y="5143500"/>
            <a:ext cx="10698480" cy="411480"/>
            <a:chOff x="0" y="0"/>
            <a:chExt cx="1426464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264639" cy="548640"/>
            </a:xfrm>
            <a:custGeom>
              <a:avLst/>
              <a:gdLst/>
              <a:ahLst/>
              <a:cxnLst/>
              <a:rect l="l" t="t" r="r" b="b"/>
              <a:pathLst>
                <a:path w="14264639" h="548640">
                  <a:moveTo>
                    <a:pt x="0" y="0"/>
                  </a:moveTo>
                  <a:lnTo>
                    <a:pt x="14264639" y="0"/>
                  </a:lnTo>
                  <a:lnTo>
                    <a:pt x="142646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6610" b="-45661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426464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C165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BACKLOG JIRA — SUIVI DES 3 SPRINTS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29471" y="5603491"/>
            <a:ext cx="9367009" cy="4013654"/>
            <a:chOff x="0" y="0"/>
            <a:chExt cx="12489345" cy="535153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89435" cy="5351526"/>
            </a:xfrm>
            <a:custGeom>
              <a:avLst/>
              <a:gdLst/>
              <a:ahLst/>
              <a:cxnLst/>
              <a:rect l="l" t="t" r="r" b="b"/>
              <a:pathLst>
                <a:path w="12489435" h="5351526">
                  <a:moveTo>
                    <a:pt x="0" y="73406"/>
                  </a:moveTo>
                  <a:cubicBezTo>
                    <a:pt x="0" y="32893"/>
                    <a:pt x="32893" y="0"/>
                    <a:pt x="73406" y="0"/>
                  </a:cubicBezTo>
                  <a:lnTo>
                    <a:pt x="12416028" y="0"/>
                  </a:lnTo>
                  <a:cubicBezTo>
                    <a:pt x="12456541" y="0"/>
                    <a:pt x="12489435" y="32893"/>
                    <a:pt x="12489435" y="73406"/>
                  </a:cubicBezTo>
                  <a:lnTo>
                    <a:pt x="12489435" y="5278120"/>
                  </a:lnTo>
                  <a:cubicBezTo>
                    <a:pt x="12489435" y="5318633"/>
                    <a:pt x="12456541" y="5351526"/>
                    <a:pt x="12416028" y="5351526"/>
                  </a:cubicBezTo>
                  <a:lnTo>
                    <a:pt x="73406" y="5351526"/>
                  </a:lnTo>
                  <a:cubicBezTo>
                    <a:pt x="32893" y="5351526"/>
                    <a:pt x="0" y="5318633"/>
                    <a:pt x="0" y="527812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5E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818120" y="5692140"/>
            <a:ext cx="9189720" cy="3836365"/>
            <a:chOff x="0" y="0"/>
            <a:chExt cx="12252960" cy="5115154"/>
          </a:xfrm>
        </p:grpSpPr>
        <p:sp>
          <p:nvSpPr>
            <p:cNvPr id="34" name="Freeform 34" descr="/mnt/user-data/uploads/backlog.png"/>
            <p:cNvSpPr/>
            <p:nvPr/>
          </p:nvSpPr>
          <p:spPr>
            <a:xfrm>
              <a:off x="0" y="0"/>
              <a:ext cx="12252960" cy="5115179"/>
            </a:xfrm>
            <a:custGeom>
              <a:avLst/>
              <a:gdLst/>
              <a:ahLst/>
              <a:cxnLst/>
              <a:rect l="l" t="t" r="r" b="b"/>
              <a:pathLst>
                <a:path w="12252960" h="5115179">
                  <a:moveTo>
                    <a:pt x="0" y="0"/>
                  </a:moveTo>
                  <a:lnTo>
                    <a:pt x="12252960" y="0"/>
                  </a:lnTo>
                  <a:lnTo>
                    <a:pt x="12252960" y="5115179"/>
                  </a:lnTo>
                  <a:lnTo>
                    <a:pt x="0" y="5115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" b="-7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822960" y="9738360"/>
            <a:ext cx="14401800" cy="411480"/>
            <a:chOff x="0" y="0"/>
            <a:chExt cx="192024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202400" cy="548640"/>
            </a:xfrm>
            <a:custGeom>
              <a:avLst/>
              <a:gdLst/>
              <a:ahLst/>
              <a:cxnLst/>
              <a:rect l="l" t="t" r="r" b="b"/>
              <a:pathLst>
                <a:path w="19202400" h="54864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1976" b="-63197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19202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MLOps &amp; DataOps — Maintenance Prédictive Industrielle · Vision &amp; Data Strategy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007840" y="9738360"/>
            <a:ext cx="685800" cy="411480"/>
            <a:chOff x="0" y="0"/>
            <a:chExt cx="914400" cy="5486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r="-269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301752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797" b="-28379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34440" y="3010376"/>
            <a:ext cx="8229600" cy="487204"/>
            <a:chOff x="0" y="0"/>
            <a:chExt cx="10972800" cy="6496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49605"/>
            </a:xfrm>
            <a:custGeom>
              <a:avLst/>
              <a:gdLst/>
              <a:ahLst/>
              <a:cxnLst/>
              <a:rect l="l" t="t" r="r" b="b"/>
              <a:pathLst>
                <a:path w="10972800" h="649605">
                  <a:moveTo>
                    <a:pt x="0" y="0"/>
                  </a:moveTo>
                  <a:lnTo>
                    <a:pt x="10972800" y="0"/>
                  </a:lnTo>
                  <a:lnTo>
                    <a:pt x="10972800" y="649605"/>
                  </a:lnTo>
                  <a:lnTo>
                    <a:pt x="0" y="6496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9131" b="-27913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09728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448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PARTIE 1 / 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566160"/>
            <a:ext cx="15087600" cy="1645920"/>
            <a:chOff x="0" y="0"/>
            <a:chExt cx="20116800" cy="21945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116800" cy="2194560"/>
            </a:xfrm>
            <a:custGeom>
              <a:avLst/>
              <a:gdLst/>
              <a:ahLst/>
              <a:cxnLst/>
              <a:rect l="l" t="t" r="r" b="b"/>
              <a:pathLst>
                <a:path w="20116800" h="2194560">
                  <a:moveTo>
                    <a:pt x="0" y="0"/>
                  </a:moveTo>
                  <a:lnTo>
                    <a:pt x="20116800" y="0"/>
                  </a:lnTo>
                  <a:lnTo>
                    <a:pt x="2011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488" b="-12848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34440" y="3559016"/>
            <a:ext cx="15087600" cy="1653064"/>
            <a:chOff x="0" y="0"/>
            <a:chExt cx="20116800" cy="2204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16800" cy="2204085"/>
            </a:xfrm>
            <a:custGeom>
              <a:avLst/>
              <a:gdLst/>
              <a:ahLst/>
              <a:cxnLst/>
              <a:rect l="l" t="t" r="r" b="b"/>
              <a:pathLst>
                <a:path w="20116800" h="2204085">
                  <a:moveTo>
                    <a:pt x="0" y="0"/>
                  </a:moveTo>
                  <a:lnTo>
                    <a:pt x="20116800" y="0"/>
                  </a:lnTo>
                  <a:lnTo>
                    <a:pt x="20116800" y="2204085"/>
                  </a:lnTo>
                  <a:lnTo>
                    <a:pt x="0" y="22040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840" b="-12784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0116800" cy="2213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Ingénierie des données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" y="5692140"/>
            <a:ext cx="960120" cy="960120"/>
            <a:chOff x="0" y="0"/>
            <a:chExt cx="128016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14" name="AutoShape 14"/>
          <p:cNvSpPr/>
          <p:nvPr/>
        </p:nvSpPr>
        <p:spPr>
          <a:xfrm rot="129779">
            <a:off x="1462107" y="5999531"/>
            <a:ext cx="504787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rot="156420">
            <a:off x="1505074" y="6153150"/>
            <a:ext cx="418843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196680">
            <a:off x="1547917" y="6306769"/>
            <a:ext cx="33314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822960" y="6789420"/>
            <a:ext cx="2606040" cy="822960"/>
            <a:chOff x="0" y="0"/>
            <a:chExt cx="347472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822960" y="6775132"/>
            <a:ext cx="2606040" cy="837248"/>
            <a:chOff x="0" y="0"/>
            <a:chExt cx="3474720" cy="11163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Sources de données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rot="37140">
            <a:off x="22391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3977640" y="5692140"/>
            <a:ext cx="960120" cy="960120"/>
            <a:chOff x="0" y="0"/>
            <a:chExt cx="1280160" cy="1280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25" name="AutoShape 25"/>
          <p:cNvSpPr/>
          <p:nvPr/>
        </p:nvSpPr>
        <p:spPr>
          <a:xfrm rot="279420">
            <a:off x="4281735" y="6052375"/>
            <a:ext cx="35193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 rot="-10800000">
            <a:off x="4323321" y="6191402"/>
            <a:ext cx="268796" cy="192024"/>
            <a:chOff x="0" y="0"/>
            <a:chExt cx="358394" cy="256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8394" cy="256032"/>
            </a:xfrm>
            <a:custGeom>
              <a:avLst/>
              <a:gdLst/>
              <a:ahLst/>
              <a:cxnLst/>
              <a:rect l="l" t="t" r="r" b="b"/>
              <a:pathLst>
                <a:path w="358394" h="256032">
                  <a:moveTo>
                    <a:pt x="0" y="256032"/>
                  </a:moveTo>
                  <a:lnTo>
                    <a:pt x="179197" y="0"/>
                  </a:lnTo>
                  <a:lnTo>
                    <a:pt x="358394" y="2560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3566160" y="6789420"/>
            <a:ext cx="2606040" cy="822960"/>
            <a:chOff x="0" y="0"/>
            <a:chExt cx="3474720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3566160" y="6775132"/>
            <a:ext cx="2606040" cy="837248"/>
            <a:chOff x="0" y="0"/>
            <a:chExt cx="3474720" cy="111633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dlt — Ingestion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37140">
            <a:off x="49823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6720840" y="5692140"/>
            <a:ext cx="960120" cy="960120"/>
            <a:chOff x="0" y="0"/>
            <a:chExt cx="1280160" cy="12801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6989674" y="5922569"/>
            <a:ext cx="422434" cy="144018"/>
            <a:chOff x="0" y="0"/>
            <a:chExt cx="563245" cy="19202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3245" cy="192024"/>
            </a:xfrm>
            <a:custGeom>
              <a:avLst/>
              <a:gdLst/>
              <a:ahLst/>
              <a:cxnLst/>
              <a:rect l="l" t="t" r="r" b="b"/>
              <a:pathLst>
                <a:path w="563245" h="192024">
                  <a:moveTo>
                    <a:pt x="0" y="96012"/>
                  </a:moveTo>
                  <a:cubicBezTo>
                    <a:pt x="0" y="42926"/>
                    <a:pt x="126111" y="0"/>
                    <a:pt x="281686" y="0"/>
                  </a:cubicBezTo>
                  <a:cubicBezTo>
                    <a:pt x="437261" y="0"/>
                    <a:pt x="563245" y="42926"/>
                    <a:pt x="563245" y="96012"/>
                  </a:cubicBezTo>
                  <a:cubicBezTo>
                    <a:pt x="563245" y="149098"/>
                    <a:pt x="437134" y="192024"/>
                    <a:pt x="281559" y="192024"/>
                  </a:cubicBezTo>
                  <a:cubicBezTo>
                    <a:pt x="125984" y="192024"/>
                    <a:pt x="0" y="149098"/>
                    <a:pt x="0" y="960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989674" y="5994578"/>
            <a:ext cx="422434" cy="288036"/>
            <a:chOff x="0" y="0"/>
            <a:chExt cx="563245" cy="3840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63245" cy="384048"/>
            </a:xfrm>
            <a:custGeom>
              <a:avLst/>
              <a:gdLst/>
              <a:ahLst/>
              <a:cxnLst/>
              <a:rect l="l" t="t" r="r" b="b"/>
              <a:pathLst>
                <a:path w="563245" h="384048">
                  <a:moveTo>
                    <a:pt x="0" y="0"/>
                  </a:moveTo>
                  <a:lnTo>
                    <a:pt x="563245" y="0"/>
                  </a:lnTo>
                  <a:lnTo>
                    <a:pt x="563245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0" name="Freeform 40"/>
          <p:cNvSpPr/>
          <p:nvPr/>
        </p:nvSpPr>
        <p:spPr>
          <a:xfrm>
            <a:off x="6966337" y="6254477"/>
            <a:ext cx="469106" cy="190690"/>
          </a:xfrm>
          <a:custGeom>
            <a:avLst/>
            <a:gdLst/>
            <a:ahLst/>
            <a:cxnLst/>
            <a:rect l="l" t="t" r="r" b="b"/>
            <a:pathLst>
              <a:path w="469106" h="190690">
                <a:moveTo>
                  <a:pt x="0" y="0"/>
                </a:moveTo>
                <a:lnTo>
                  <a:pt x="469107" y="0"/>
                </a:lnTo>
                <a:lnTo>
                  <a:pt x="469107" y="190690"/>
                </a:lnTo>
                <a:lnTo>
                  <a:pt x="0" y="190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6309360" y="6789420"/>
            <a:ext cx="2606040" cy="822960"/>
            <a:chOff x="0" y="0"/>
            <a:chExt cx="3474720" cy="1097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6309360" y="6775132"/>
            <a:ext cx="2606040" cy="837248"/>
            <a:chOff x="0" y="0"/>
            <a:chExt cx="3474720" cy="11163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DuckDB — Stockage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 rot="37140">
            <a:off x="77255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7" name="Group 47"/>
          <p:cNvGrpSpPr/>
          <p:nvPr/>
        </p:nvGrpSpPr>
        <p:grpSpPr>
          <a:xfrm>
            <a:off x="9464040" y="5692140"/>
            <a:ext cx="960120" cy="960120"/>
            <a:chOff x="0" y="0"/>
            <a:chExt cx="1280160" cy="12801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713671" y="5980176"/>
            <a:ext cx="460820" cy="211264"/>
            <a:chOff x="0" y="0"/>
            <a:chExt cx="614426" cy="28168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14426" cy="281686"/>
            </a:xfrm>
            <a:custGeom>
              <a:avLst/>
              <a:gdLst/>
              <a:ahLst/>
              <a:cxnLst/>
              <a:rect l="l" t="t" r="r" b="b"/>
              <a:pathLst>
                <a:path w="614426" h="281686">
                  <a:moveTo>
                    <a:pt x="0" y="0"/>
                  </a:moveTo>
                  <a:lnTo>
                    <a:pt x="70358" y="281686"/>
                  </a:lnTo>
                  <a:lnTo>
                    <a:pt x="544068" y="281686"/>
                  </a:lnTo>
                  <a:lnTo>
                    <a:pt x="6144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910496" y="6201004"/>
            <a:ext cx="67246" cy="172784"/>
            <a:chOff x="0" y="0"/>
            <a:chExt cx="89662" cy="23037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9662" cy="230378"/>
            </a:xfrm>
            <a:custGeom>
              <a:avLst/>
              <a:gdLst/>
              <a:ahLst/>
              <a:cxnLst/>
              <a:rect l="l" t="t" r="r" b="b"/>
              <a:pathLst>
                <a:path w="89662" h="230378">
                  <a:moveTo>
                    <a:pt x="0" y="0"/>
                  </a:moveTo>
                  <a:lnTo>
                    <a:pt x="89662" y="0"/>
                  </a:lnTo>
                  <a:lnTo>
                    <a:pt x="89662" y="230378"/>
                  </a:lnTo>
                  <a:lnTo>
                    <a:pt x="0" y="23037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052560" y="6789420"/>
            <a:ext cx="2606040" cy="822960"/>
            <a:chOff x="0" y="0"/>
            <a:chExt cx="3474720" cy="10972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9052560" y="6775132"/>
            <a:ext cx="2606040" cy="837248"/>
            <a:chOff x="0" y="0"/>
            <a:chExt cx="3474720" cy="111633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dbt — Transformations</a:t>
              </a:r>
            </a:p>
          </p:txBody>
        </p:sp>
      </p:grpSp>
      <p:sp>
        <p:nvSpPr>
          <p:cNvPr id="58" name="AutoShape 58"/>
          <p:cNvSpPr/>
          <p:nvPr/>
        </p:nvSpPr>
        <p:spPr>
          <a:xfrm rot="37140">
            <a:off x="104687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9" name="Group 59"/>
          <p:cNvGrpSpPr/>
          <p:nvPr/>
        </p:nvGrpSpPr>
        <p:grpSpPr>
          <a:xfrm>
            <a:off x="12207240" y="5692140"/>
            <a:ext cx="960120" cy="960120"/>
            <a:chOff x="0" y="0"/>
            <a:chExt cx="1280160" cy="12801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1795760" y="6789420"/>
            <a:ext cx="2606040" cy="822960"/>
            <a:chOff x="0" y="0"/>
            <a:chExt cx="3474720" cy="10972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11795760" y="6775132"/>
            <a:ext cx="2606040" cy="837248"/>
            <a:chOff x="0" y="0"/>
            <a:chExt cx="3474720" cy="111633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Tests Qualité — Data Contracts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4</a:t>
              </a:r>
            </a:p>
          </p:txBody>
        </p:sp>
      </p:grpSp>
      <p:sp>
        <p:nvSpPr>
          <p:cNvPr id="76" name="Freeform 76"/>
          <p:cNvSpPr/>
          <p:nvPr/>
        </p:nvSpPr>
        <p:spPr>
          <a:xfrm>
            <a:off x="12399010" y="5957425"/>
            <a:ext cx="576580" cy="429552"/>
          </a:xfrm>
          <a:custGeom>
            <a:avLst/>
            <a:gdLst/>
            <a:ahLst/>
            <a:cxnLst/>
            <a:rect l="l" t="t" r="r" b="b"/>
            <a:pathLst>
              <a:path w="576580" h="429552">
                <a:moveTo>
                  <a:pt x="0" y="0"/>
                </a:moveTo>
                <a:lnTo>
                  <a:pt x="576580" y="0"/>
                </a:lnTo>
                <a:lnTo>
                  <a:pt x="576580" y="429552"/>
                </a:lnTo>
                <a:lnTo>
                  <a:pt x="0" y="429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4" name="AutoShape 4"/>
          <p:cNvSpPr/>
          <p:nvPr/>
        </p:nvSpPr>
        <p:spPr>
          <a:xfrm rot="122160">
            <a:off x="1034920" y="982218"/>
            <a:ext cx="53621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147540">
            <a:off x="1080992" y="1146810"/>
            <a:ext cx="44406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186060">
            <a:off x="1126941" y="1311402"/>
            <a:ext cx="352158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1 / 12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92833" y="-56655"/>
            <a:ext cx="11658600" cy="2752992"/>
            <a:chOff x="0" y="0"/>
            <a:chExt cx="15544800" cy="36706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44800" cy="3670681"/>
            </a:xfrm>
            <a:custGeom>
              <a:avLst/>
              <a:gdLst/>
              <a:ahLst/>
              <a:cxnLst/>
              <a:rect l="l" t="t" r="r" b="b"/>
              <a:pathLst>
                <a:path w="15544800" h="3670681">
                  <a:moveTo>
                    <a:pt x="0" y="0"/>
                  </a:moveTo>
                  <a:lnTo>
                    <a:pt x="15544800" y="0"/>
                  </a:lnTo>
                  <a:lnTo>
                    <a:pt x="15544800" y="3670681"/>
                  </a:lnTo>
                  <a:lnTo>
                    <a:pt x="0" y="3670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59" b="-3245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092833" y="-63798"/>
            <a:ext cx="11658600" cy="2760135"/>
            <a:chOff x="0" y="0"/>
            <a:chExt cx="15544800" cy="36801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3680185"/>
            </a:xfrm>
            <a:custGeom>
              <a:avLst/>
              <a:gdLst/>
              <a:ahLst/>
              <a:cxnLst/>
              <a:rect l="l" t="t" r="r" b="b"/>
              <a:pathLst>
                <a:path w="15544800" h="3680185">
                  <a:moveTo>
                    <a:pt x="0" y="0"/>
                  </a:moveTo>
                  <a:lnTo>
                    <a:pt x="15544800" y="0"/>
                  </a:lnTo>
                  <a:lnTo>
                    <a:pt x="15544800" y="3680185"/>
                  </a:lnTo>
                  <a:lnTo>
                    <a:pt x="0" y="36801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303" b="-323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5544800" cy="3689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Sources de données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923008" y="754380"/>
            <a:ext cx="150876" cy="150876"/>
            <a:chOff x="0" y="0"/>
            <a:chExt cx="201168" cy="20116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5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71954" y="2906878"/>
            <a:ext cx="6325572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34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Smart Manufacturing IoT  Cloud Monitoring Dataset</a:t>
            </a:r>
          </a:p>
          <a:p>
            <a:pPr marL="536103" lvl="2" indent="-178701" algn="l">
              <a:lnSpc>
                <a:spcPts val="2814"/>
              </a:lnSpc>
              <a:buFont typeface="Arial"/>
              <a:buChar char="⚬"/>
            </a:pPr>
            <a:r>
              <a:rPr lang="en-US" sz="234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📍 Kaggle</a:t>
            </a:r>
          </a:p>
          <a:p>
            <a:pPr marL="536103" lvl="2" indent="-178701" algn="l">
              <a:lnSpc>
                <a:spcPts val="2814"/>
              </a:lnSpc>
              <a:buFont typeface="Arial"/>
              <a:buChar char="⚬"/>
            </a:pPr>
            <a:r>
              <a:rPr lang="en-US" sz="234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100 000 relevés</a:t>
            </a:r>
          </a:p>
          <a:p>
            <a:pPr marL="536103" lvl="2" indent="-178701" algn="l">
              <a:lnSpc>
                <a:spcPts val="2814"/>
              </a:lnSpc>
              <a:buFont typeface="Arial"/>
              <a:buChar char="⚬"/>
            </a:pPr>
            <a:r>
              <a:rPr lang="en-US" sz="234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 50 machines</a:t>
            </a:r>
          </a:p>
          <a:p>
            <a:pPr marL="536103" lvl="2" indent="-178701" algn="l">
              <a:lnSpc>
                <a:spcPts val="2814"/>
              </a:lnSpc>
              <a:buFont typeface="Arial"/>
              <a:buChar char="⚬"/>
            </a:pPr>
            <a:r>
              <a:rPr lang="en-US" sz="234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13 variables</a:t>
            </a:r>
          </a:p>
          <a:p>
            <a:pPr marL="536103" lvl="2" indent="-178701" algn="l">
              <a:lnSpc>
                <a:spcPts val="2159"/>
              </a:lnSpc>
            </a:pPr>
            <a:endParaRPr lang="en-US" sz="2345">
              <a:solidFill>
                <a:srgbClr val="202124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</p:txBody>
      </p:sp>
      <p:grpSp>
        <p:nvGrpSpPr>
          <p:cNvPr id="52" name="Group 52"/>
          <p:cNvGrpSpPr/>
          <p:nvPr/>
        </p:nvGrpSpPr>
        <p:grpSpPr>
          <a:xfrm>
            <a:off x="788670" y="1767602"/>
            <a:ext cx="4285155" cy="707650"/>
            <a:chOff x="0" y="0"/>
            <a:chExt cx="5713540" cy="94353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713603" cy="943483"/>
            </a:xfrm>
            <a:custGeom>
              <a:avLst/>
              <a:gdLst/>
              <a:ahLst/>
              <a:cxnLst/>
              <a:rect l="l" t="t" r="r" b="b"/>
              <a:pathLst>
                <a:path w="5713603" h="943483">
                  <a:moveTo>
                    <a:pt x="0" y="0"/>
                  </a:moveTo>
                  <a:lnTo>
                    <a:pt x="5713603" y="0"/>
                  </a:lnTo>
                  <a:lnTo>
                    <a:pt x="5713603" y="943483"/>
                  </a:lnTo>
                  <a:lnTo>
                    <a:pt x="0" y="9434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13" r="1" b="-67917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471954" y="1908810"/>
            <a:ext cx="4285155" cy="711366"/>
            <a:chOff x="0" y="0"/>
            <a:chExt cx="5713540" cy="94848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713544" cy="948489"/>
            </a:xfrm>
            <a:custGeom>
              <a:avLst/>
              <a:gdLst/>
              <a:ahLst/>
              <a:cxnLst/>
              <a:rect l="l" t="t" r="r" b="b"/>
              <a:pathLst>
                <a:path w="5713544" h="948489">
                  <a:moveTo>
                    <a:pt x="0" y="0"/>
                  </a:moveTo>
                  <a:lnTo>
                    <a:pt x="5713544" y="0"/>
                  </a:lnTo>
                  <a:lnTo>
                    <a:pt x="5713544" y="948489"/>
                  </a:lnTo>
                  <a:lnTo>
                    <a:pt x="0" y="9484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7374" b="-6737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5713540" cy="958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8"/>
                </a:lnSpc>
              </a:pPr>
              <a:r>
                <a:rPr lang="en-US" sz="2473" b="1" spc="35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Source du dataset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75838" y="1351407"/>
            <a:ext cx="4285155" cy="971293"/>
            <a:chOff x="0" y="0"/>
            <a:chExt cx="5713540" cy="129505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13603" cy="1295019"/>
            </a:xfrm>
            <a:custGeom>
              <a:avLst/>
              <a:gdLst/>
              <a:ahLst/>
              <a:cxnLst/>
              <a:rect l="l" t="t" r="r" b="b"/>
              <a:pathLst>
                <a:path w="5713603" h="1295019">
                  <a:moveTo>
                    <a:pt x="0" y="0"/>
                  </a:moveTo>
                  <a:lnTo>
                    <a:pt x="5713603" y="0"/>
                  </a:lnTo>
                  <a:lnTo>
                    <a:pt x="5713603" y="1295019"/>
                  </a:lnTo>
                  <a:lnTo>
                    <a:pt x="0" y="1295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05" r="1" b="-35908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7922133" y="1457444"/>
            <a:ext cx="5010343" cy="975012"/>
            <a:chOff x="0" y="0"/>
            <a:chExt cx="6680457" cy="130001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680461" cy="1300021"/>
            </a:xfrm>
            <a:custGeom>
              <a:avLst/>
              <a:gdLst/>
              <a:ahLst/>
              <a:cxnLst/>
              <a:rect l="l" t="t" r="r" b="b"/>
              <a:pathLst>
                <a:path w="6680461" h="1300021">
                  <a:moveTo>
                    <a:pt x="0" y="0"/>
                  </a:moveTo>
                  <a:lnTo>
                    <a:pt x="6680461" y="0"/>
                  </a:lnTo>
                  <a:lnTo>
                    <a:pt x="6680461" y="1300021"/>
                  </a:lnTo>
                  <a:lnTo>
                    <a:pt x="0" y="13000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636" r="14473" b="-3563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6680457" cy="13095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8"/>
                </a:lnSpc>
              </a:pPr>
              <a:r>
                <a:rPr lang="en-US" sz="2473" b="1" spc="35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 Structure des données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91756" y="3429762"/>
            <a:ext cx="3718398" cy="5940752"/>
            <a:chOff x="0" y="0"/>
            <a:chExt cx="4957864" cy="792100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957826" cy="7920990"/>
            </a:xfrm>
            <a:custGeom>
              <a:avLst/>
              <a:gdLst/>
              <a:ahLst/>
              <a:cxnLst/>
              <a:rect l="l" t="t" r="r" b="b"/>
              <a:pathLst>
                <a:path w="4957826" h="7920990">
                  <a:moveTo>
                    <a:pt x="0" y="0"/>
                  </a:moveTo>
                  <a:lnTo>
                    <a:pt x="4957826" y="0"/>
                  </a:lnTo>
                  <a:lnTo>
                    <a:pt x="4957826" y="7920990"/>
                  </a:lnTo>
                  <a:lnTo>
                    <a:pt x="0" y="7920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129" r="-155130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091756" y="3625044"/>
            <a:ext cx="3718398" cy="5947896"/>
            <a:chOff x="0" y="0"/>
            <a:chExt cx="4957864" cy="79305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957867" cy="7930531"/>
            </a:xfrm>
            <a:custGeom>
              <a:avLst/>
              <a:gdLst/>
              <a:ahLst/>
              <a:cxnLst/>
              <a:rect l="l" t="t" r="r" b="b"/>
              <a:pathLst>
                <a:path w="4957867" h="7930531">
                  <a:moveTo>
                    <a:pt x="0" y="0"/>
                  </a:moveTo>
                  <a:lnTo>
                    <a:pt x="4957867" y="0"/>
                  </a:lnTo>
                  <a:lnTo>
                    <a:pt x="4957867" y="7930531"/>
                  </a:lnTo>
                  <a:lnTo>
                    <a:pt x="0" y="79305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232" r="-155232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4957864" cy="79400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19,7 %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28700" y="6543370"/>
            <a:ext cx="5074920" cy="1234440"/>
            <a:chOff x="0" y="0"/>
            <a:chExt cx="6766560" cy="16459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766560" cy="1645920"/>
            </a:xfrm>
            <a:custGeom>
              <a:avLst/>
              <a:gdLst/>
              <a:ahLst/>
              <a:cxnLst/>
              <a:rect l="l" t="t" r="r" b="b"/>
              <a:pathLst>
                <a:path w="6766560" h="164592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49" b="-30049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1028700" y="6827420"/>
            <a:ext cx="5074920" cy="1234440"/>
            <a:chOff x="0" y="0"/>
            <a:chExt cx="6766560" cy="16459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766560" cy="1645920"/>
            </a:xfrm>
            <a:custGeom>
              <a:avLst/>
              <a:gdLst/>
              <a:ahLst/>
              <a:cxnLst/>
              <a:rect l="l" t="t" r="r" b="b"/>
              <a:pathLst>
                <a:path w="6766560" h="164592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105" b="-3010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676656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59"/>
                </a:lnSpc>
              </a:pPr>
              <a:r>
                <a:rPr lang="en-US" sz="2049" i="1">
                  <a:solidFill>
                    <a:srgbClr val="202124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de relevés nécessitant une maintenance</a:t>
              </a:r>
            </a:p>
            <a:p>
              <a:pPr algn="l">
                <a:lnSpc>
                  <a:spcPts val="2699"/>
                </a:lnSpc>
              </a:pPr>
              <a:r>
                <a:rPr lang="en-US" sz="2249" i="1">
                  <a:solidFill>
                    <a:srgbClr val="202124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 80 303 (classe 0) · 19 697 (classe 1)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765174" y="4780148"/>
            <a:ext cx="15038984" cy="3796979"/>
            <a:chOff x="0" y="0"/>
            <a:chExt cx="20051979" cy="506263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0052030" cy="5062601"/>
            </a:xfrm>
            <a:custGeom>
              <a:avLst/>
              <a:gdLst/>
              <a:ahLst/>
              <a:cxnLst/>
              <a:rect l="l" t="t" r="r" b="b"/>
              <a:pathLst>
                <a:path w="20052030" h="5062601">
                  <a:moveTo>
                    <a:pt x="0" y="0"/>
                  </a:moveTo>
                  <a:lnTo>
                    <a:pt x="20052030" y="0"/>
                  </a:lnTo>
                  <a:lnTo>
                    <a:pt x="20052030" y="5062601"/>
                  </a:lnTo>
                  <a:lnTo>
                    <a:pt x="0" y="5062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122" b="-27123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13156654" y="5515737"/>
            <a:ext cx="4547692" cy="5092246"/>
            <a:chOff x="0" y="0"/>
            <a:chExt cx="6063590" cy="678966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063589" cy="6789656"/>
            </a:xfrm>
            <a:custGeom>
              <a:avLst/>
              <a:gdLst/>
              <a:ahLst/>
              <a:cxnLst/>
              <a:rect l="l" t="t" r="r" b="b"/>
              <a:pathLst>
                <a:path w="6063589" h="6789656">
                  <a:moveTo>
                    <a:pt x="0" y="0"/>
                  </a:moveTo>
                  <a:lnTo>
                    <a:pt x="6063589" y="0"/>
                  </a:lnTo>
                  <a:lnTo>
                    <a:pt x="6063589" y="6789656"/>
                  </a:lnTo>
                  <a:lnTo>
                    <a:pt x="0" y="6789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206" r="-230694" b="511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6063590" cy="67991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59"/>
                </a:lnSpc>
              </a:pPr>
              <a:r>
                <a:rPr lang="en-US" sz="4299" b="1">
                  <a:solidFill>
                    <a:srgbClr val="AB5B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</a:t>
              </a:r>
            </a:p>
            <a:p>
              <a:pPr algn="l">
                <a:lnSpc>
                  <a:spcPts val="5159"/>
                </a:lnSpc>
              </a:pPr>
              <a:endParaRPr lang="en-US" sz="4299" b="1">
                <a:solidFill>
                  <a:srgbClr val="AB5B2A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 rot="-5400000">
            <a:off x="3876484" y="4589164"/>
            <a:ext cx="6772323" cy="296809"/>
            <a:chOff x="0" y="0"/>
            <a:chExt cx="9029764" cy="39574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029700" cy="395732"/>
            </a:xfrm>
            <a:custGeom>
              <a:avLst/>
              <a:gdLst/>
              <a:ahLst/>
              <a:cxnLst/>
              <a:rect l="l" t="t" r="r" b="b"/>
              <a:pathLst>
                <a:path w="9029700" h="395732">
                  <a:moveTo>
                    <a:pt x="0" y="0"/>
                  </a:moveTo>
                  <a:lnTo>
                    <a:pt x="9029700" y="0"/>
                  </a:lnTo>
                  <a:lnTo>
                    <a:pt x="9029700" y="395732"/>
                  </a:lnTo>
                  <a:lnTo>
                    <a:pt x="0" y="395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255" b="-24255"/>
              </a:stretch>
            </a:blipFill>
          </p:spPr>
        </p:sp>
      </p:grpSp>
      <p:sp>
        <p:nvSpPr>
          <p:cNvPr id="79" name="TextBox 79"/>
          <p:cNvSpPr txBox="1"/>
          <p:nvPr/>
        </p:nvSpPr>
        <p:spPr>
          <a:xfrm>
            <a:off x="7713244" y="2661056"/>
            <a:ext cx="10343979" cy="526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1132" lvl="2" indent="-180377" algn="l">
              <a:lnSpc>
                <a:spcPts val="2839"/>
              </a:lnSpc>
              <a:buFont typeface="Arial"/>
              <a:buChar char="⚬"/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2367" b="1" u="sng">
                <a:solidFill>
                  <a:srgbClr val="202124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IDENTIFICATION 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timestamp · machine_id</a:t>
            </a:r>
          </a:p>
          <a:p>
            <a:pPr marL="541132" lvl="2" indent="-180377" algn="l">
              <a:lnSpc>
                <a:spcPts val="2839"/>
              </a:lnSpc>
              <a:buFont typeface="Arial"/>
              <a:buChar char="⚬"/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2367" b="1" u="sng">
                <a:solidFill>
                  <a:srgbClr val="202124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MESURES CAPTEURS 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temperature · vibration · humidity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pressure · energy_consumption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→ Signaux physiques bruts</a:t>
            </a:r>
          </a:p>
          <a:p>
            <a:pPr marL="541132" lvl="2" indent="-180377" algn="l">
              <a:lnSpc>
                <a:spcPts val="2839"/>
              </a:lnSpc>
              <a:buFont typeface="Arial"/>
              <a:buChar char="⚬"/>
            </a:pPr>
            <a:r>
              <a:rPr lang="en-US" sz="2367" b="1" u="sng">
                <a:solidFill>
                  <a:srgbClr val="202124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 ÉTAT &amp; DIAGNOSTIC 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machine_status · anomaly_flag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failure_type · predicted_remaining_life · downtime_risk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→ Informations de diagnostic</a:t>
            </a:r>
          </a:p>
          <a:p>
            <a:pPr marL="541132" lvl="2" indent="-180377" algn="l">
              <a:lnSpc>
                <a:spcPts val="2839"/>
              </a:lnSpc>
              <a:buFont typeface="Arial"/>
              <a:buChar char="⚬"/>
            </a:pPr>
            <a:r>
              <a:rPr lang="en-US" sz="2367" b="1" u="sng">
                <a:solidFill>
                  <a:srgbClr val="202124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CIBLE 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maintenance_required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 → Pas de maintenance</a:t>
            </a:r>
          </a:p>
          <a:p>
            <a:pPr marL="541132" lvl="2" indent="-180377" algn="l">
              <a:lnSpc>
                <a:spcPts val="2839"/>
              </a:lnSpc>
            </a:pPr>
            <a:r>
              <a:rPr lang="en-US" sz="2367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1 → Maintenance nécessaire</a:t>
            </a:r>
          </a:p>
          <a:p>
            <a:pPr marL="541132" lvl="2" indent="-180377" algn="l">
              <a:lnSpc>
                <a:spcPts val="2179"/>
              </a:lnSpc>
            </a:pPr>
            <a:endParaRPr lang="en-US" sz="2367">
              <a:solidFill>
                <a:srgbClr val="202124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</p:txBody>
      </p:sp>
      <p:grpSp>
        <p:nvGrpSpPr>
          <p:cNvPr id="80" name="Group 80"/>
          <p:cNvGrpSpPr/>
          <p:nvPr/>
        </p:nvGrpSpPr>
        <p:grpSpPr>
          <a:xfrm>
            <a:off x="1097280" y="8572500"/>
            <a:ext cx="5074920" cy="1234440"/>
            <a:chOff x="0" y="0"/>
            <a:chExt cx="6766560" cy="16459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766560" cy="1645920"/>
            </a:xfrm>
            <a:custGeom>
              <a:avLst/>
              <a:gdLst/>
              <a:ahLst/>
              <a:cxnLst/>
              <a:rect l="l" t="t" r="r" b="b"/>
              <a:pathLst>
                <a:path w="6766560" h="164592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49" b="-30049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13317555" y="4948768"/>
            <a:ext cx="3718398" cy="5947898"/>
            <a:chOff x="0" y="0"/>
            <a:chExt cx="4957864" cy="793053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957867" cy="7930533"/>
            </a:xfrm>
            <a:custGeom>
              <a:avLst/>
              <a:gdLst/>
              <a:ahLst/>
              <a:cxnLst/>
              <a:rect l="l" t="t" r="r" b="b"/>
              <a:pathLst>
                <a:path w="4957867" h="7930533">
                  <a:moveTo>
                    <a:pt x="0" y="0"/>
                  </a:moveTo>
                  <a:lnTo>
                    <a:pt x="4957867" y="0"/>
                  </a:lnTo>
                  <a:lnTo>
                    <a:pt x="4957867" y="7930533"/>
                  </a:lnTo>
                  <a:lnTo>
                    <a:pt x="0" y="7930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232" r="-155232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9525"/>
              <a:ext cx="4957864" cy="7940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000"/>
                </a:lnSpc>
              </a:pPr>
              <a:r>
                <a:rPr lang="en-US" sz="75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1961033" y="8338499"/>
            <a:ext cx="5074920" cy="1234440"/>
            <a:chOff x="0" y="0"/>
            <a:chExt cx="6766560" cy="164592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766560" cy="1645920"/>
            </a:xfrm>
            <a:custGeom>
              <a:avLst/>
              <a:gdLst/>
              <a:ahLst/>
              <a:cxnLst/>
              <a:rect l="l" t="t" r="r" b="b"/>
              <a:pathLst>
                <a:path w="6766560" h="1645920">
                  <a:moveTo>
                    <a:pt x="0" y="0"/>
                  </a:moveTo>
                  <a:lnTo>
                    <a:pt x="6766560" y="0"/>
                  </a:lnTo>
                  <a:lnTo>
                    <a:pt x="67665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105" b="-30105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676656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i="1">
                  <a:solidFill>
                    <a:srgbClr val="202124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 valeur manquante sur les 13 colonnes</a:t>
              </a:r>
            </a:p>
            <a:p>
              <a:pPr algn="l">
                <a:lnSpc>
                  <a:spcPts val="2699"/>
                </a:lnSpc>
              </a:pPr>
              <a:r>
                <a:rPr lang="en-US" sz="2249" i="1">
                  <a:solidFill>
                    <a:srgbClr val="202124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vérifié par requête SQL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4" name="AutoShape 4"/>
          <p:cNvSpPr/>
          <p:nvPr/>
        </p:nvSpPr>
        <p:spPr>
          <a:xfrm rot="265140">
            <a:off x="1117587" y="1039177"/>
            <a:ext cx="37085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-10800000">
            <a:off x="1159002" y="1186434"/>
            <a:ext cx="288036" cy="205740"/>
            <a:chOff x="0" y="0"/>
            <a:chExt cx="384048" cy="2743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048" cy="274320"/>
            </a:xfrm>
            <a:custGeom>
              <a:avLst/>
              <a:gdLst/>
              <a:ahLst/>
              <a:cxnLst/>
              <a:rect l="l" t="t" r="r" b="b"/>
              <a:pathLst>
                <a:path w="384048" h="274320">
                  <a:moveTo>
                    <a:pt x="0" y="274320"/>
                  </a:moveTo>
                  <a:lnTo>
                    <a:pt x="192024" y="0"/>
                  </a:lnTo>
                  <a:lnTo>
                    <a:pt x="384048" y="2743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2 / 12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dlt — Ingestion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6459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178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Du fichier CSV à la base DuckDB, de façon automatisée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176754" y="754380"/>
            <a:ext cx="150876" cy="150876"/>
            <a:chOff x="0" y="0"/>
            <a:chExt cx="201168" cy="2011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sp>
        <p:nvSpPr>
          <p:cNvPr id="46" name="AutoShape 46"/>
          <p:cNvSpPr/>
          <p:nvPr/>
        </p:nvSpPr>
        <p:spPr>
          <a:xfrm rot="9360">
            <a:off x="1308678" y="3169920"/>
            <a:ext cx="6983863" cy="0"/>
          </a:xfrm>
          <a:prstGeom prst="line">
            <a:avLst/>
          </a:prstGeom>
          <a:ln w="19050" cap="rnd">
            <a:solidFill>
              <a:srgbClr val="DEE1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7" name="Group 47"/>
          <p:cNvGrpSpPr/>
          <p:nvPr/>
        </p:nvGrpSpPr>
        <p:grpSpPr>
          <a:xfrm>
            <a:off x="582930" y="2811780"/>
            <a:ext cx="754380" cy="754380"/>
            <a:chOff x="0" y="0"/>
            <a:chExt cx="1005840" cy="10058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49" name="AutoShape 49"/>
          <p:cNvSpPr/>
          <p:nvPr/>
        </p:nvSpPr>
        <p:spPr>
          <a:xfrm rot="159540">
            <a:off x="754790" y="3049219"/>
            <a:ext cx="410661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 rot="190860">
            <a:off x="788451" y="3169920"/>
            <a:ext cx="343338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 rot="237240">
            <a:off x="821979" y="3290621"/>
            <a:ext cx="27629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-68580" y="3703320"/>
            <a:ext cx="2057400" cy="685800"/>
            <a:chOff x="0" y="0"/>
            <a:chExt cx="2743200" cy="914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" b="-8415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-68580" y="3696176"/>
            <a:ext cx="2057400" cy="692944"/>
            <a:chOff x="0" y="0"/>
            <a:chExt cx="2743200" cy="92392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743200" cy="923925"/>
            </a:xfrm>
            <a:custGeom>
              <a:avLst/>
              <a:gdLst/>
              <a:ahLst/>
              <a:cxnLst/>
              <a:rect l="l" t="t" r="r" b="b"/>
              <a:pathLst>
                <a:path w="2743200" h="923925">
                  <a:moveTo>
                    <a:pt x="0" y="0"/>
                  </a:moveTo>
                  <a:lnTo>
                    <a:pt x="2743200" y="0"/>
                  </a:lnTo>
                  <a:lnTo>
                    <a:pt x="27432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2" b="-785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Fichier CSV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143250" y="2811780"/>
            <a:ext cx="754380" cy="754380"/>
            <a:chOff x="0" y="0"/>
            <a:chExt cx="1005840" cy="10058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59" name="AutoShape 59"/>
          <p:cNvSpPr/>
          <p:nvPr/>
        </p:nvSpPr>
        <p:spPr>
          <a:xfrm rot="333060">
            <a:off x="3372745" y="3089720"/>
            <a:ext cx="29538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60"/>
          <p:cNvGrpSpPr/>
          <p:nvPr/>
        </p:nvGrpSpPr>
        <p:grpSpPr>
          <a:xfrm rot="-10800000">
            <a:off x="3414789" y="3204058"/>
            <a:ext cx="211264" cy="150876"/>
            <a:chOff x="0" y="0"/>
            <a:chExt cx="281686" cy="20116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81686" cy="201168"/>
            </a:xfrm>
            <a:custGeom>
              <a:avLst/>
              <a:gdLst/>
              <a:ahLst/>
              <a:cxnLst/>
              <a:rect l="l" t="t" r="r" b="b"/>
              <a:pathLst>
                <a:path w="281686" h="201168">
                  <a:moveTo>
                    <a:pt x="0" y="201168"/>
                  </a:moveTo>
                  <a:lnTo>
                    <a:pt x="140843" y="0"/>
                  </a:lnTo>
                  <a:lnTo>
                    <a:pt x="281686" y="2011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2491740" y="3703320"/>
            <a:ext cx="2057400" cy="685800"/>
            <a:chOff x="0" y="0"/>
            <a:chExt cx="2743200" cy="914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" b="-8415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2491740" y="3696176"/>
            <a:ext cx="2057400" cy="692944"/>
            <a:chOff x="0" y="0"/>
            <a:chExt cx="2743200" cy="92392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3200" cy="923925"/>
            </a:xfrm>
            <a:custGeom>
              <a:avLst/>
              <a:gdLst/>
              <a:ahLst/>
              <a:cxnLst/>
              <a:rect l="l" t="t" r="r" b="b"/>
              <a:pathLst>
                <a:path w="2743200" h="923925">
                  <a:moveTo>
                    <a:pt x="0" y="0"/>
                  </a:moveTo>
                  <a:lnTo>
                    <a:pt x="2743200" y="0"/>
                  </a:lnTo>
                  <a:lnTo>
                    <a:pt x="27432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2" b="-7852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sources.py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03570" y="2811780"/>
            <a:ext cx="754380" cy="754380"/>
            <a:chOff x="0" y="0"/>
            <a:chExt cx="1005840" cy="10058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5899709" y="3007919"/>
            <a:ext cx="362140" cy="362140"/>
            <a:chOff x="0" y="0"/>
            <a:chExt cx="482854" cy="48285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82854" cy="482854"/>
            </a:xfrm>
            <a:custGeom>
              <a:avLst/>
              <a:gdLst/>
              <a:ahLst/>
              <a:cxnLst/>
              <a:rect l="l" t="t" r="r" b="b"/>
              <a:pathLst>
                <a:path w="482854" h="482854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cubicBezTo>
                    <a:pt x="374777" y="0"/>
                    <a:pt x="482854" y="108077"/>
                    <a:pt x="482854" y="241427"/>
                  </a:cubicBezTo>
                  <a:cubicBezTo>
                    <a:pt x="482854" y="374777"/>
                    <a:pt x="374777" y="482854"/>
                    <a:pt x="241427" y="482854"/>
                  </a:cubicBezTo>
                  <a:cubicBezTo>
                    <a:pt x="108077" y="482854"/>
                    <a:pt x="0" y="374777"/>
                    <a:pt x="0" y="241427"/>
                  </a:cubicBezTo>
                  <a:close/>
                  <a:moveTo>
                    <a:pt x="120650" y="241427"/>
                  </a:moveTo>
                  <a:cubicBezTo>
                    <a:pt x="120650" y="308102"/>
                    <a:pt x="174752" y="362077"/>
                    <a:pt x="241300" y="362077"/>
                  </a:cubicBezTo>
                  <a:cubicBezTo>
                    <a:pt x="307848" y="362077"/>
                    <a:pt x="361950" y="307975"/>
                    <a:pt x="361950" y="241427"/>
                  </a:cubicBezTo>
                  <a:cubicBezTo>
                    <a:pt x="361950" y="174879"/>
                    <a:pt x="307848" y="120777"/>
                    <a:pt x="241300" y="120777"/>
                  </a:cubicBezTo>
                  <a:cubicBezTo>
                    <a:pt x="174752" y="120777"/>
                    <a:pt x="120650" y="174879"/>
                    <a:pt x="120650" y="2414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052060" y="3703320"/>
            <a:ext cx="2057400" cy="685800"/>
            <a:chOff x="0" y="0"/>
            <a:chExt cx="2743200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" b="-8415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5052060" y="3696176"/>
            <a:ext cx="2057400" cy="692944"/>
            <a:chOff x="0" y="0"/>
            <a:chExt cx="2743200" cy="92392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743200" cy="923925"/>
            </a:xfrm>
            <a:custGeom>
              <a:avLst/>
              <a:gdLst/>
              <a:ahLst/>
              <a:cxnLst/>
              <a:rect l="l" t="t" r="r" b="b"/>
              <a:pathLst>
                <a:path w="2743200" h="923925">
                  <a:moveTo>
                    <a:pt x="0" y="0"/>
                  </a:moveTo>
                  <a:lnTo>
                    <a:pt x="2743200" y="0"/>
                  </a:lnTo>
                  <a:lnTo>
                    <a:pt x="27432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2" b="-7852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Pipeline dlt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263890" y="2811780"/>
            <a:ext cx="754380" cy="754380"/>
            <a:chOff x="0" y="0"/>
            <a:chExt cx="1005840" cy="10058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8475116" y="2992831"/>
            <a:ext cx="331946" cy="113157"/>
            <a:chOff x="0" y="0"/>
            <a:chExt cx="442595" cy="15087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42595" cy="150876"/>
            </a:xfrm>
            <a:custGeom>
              <a:avLst/>
              <a:gdLst/>
              <a:ahLst/>
              <a:cxnLst/>
              <a:rect l="l" t="t" r="r" b="b"/>
              <a:pathLst>
                <a:path w="442595" h="150876">
                  <a:moveTo>
                    <a:pt x="0" y="75438"/>
                  </a:moveTo>
                  <a:cubicBezTo>
                    <a:pt x="0" y="33782"/>
                    <a:pt x="99060" y="0"/>
                    <a:pt x="221234" y="0"/>
                  </a:cubicBezTo>
                  <a:cubicBezTo>
                    <a:pt x="343408" y="0"/>
                    <a:pt x="442595" y="33782"/>
                    <a:pt x="442595" y="75438"/>
                  </a:cubicBezTo>
                  <a:cubicBezTo>
                    <a:pt x="442595" y="117094"/>
                    <a:pt x="343535" y="150876"/>
                    <a:pt x="221361" y="150876"/>
                  </a:cubicBezTo>
                  <a:cubicBezTo>
                    <a:pt x="99187" y="150876"/>
                    <a:pt x="0" y="117094"/>
                    <a:pt x="0" y="754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475116" y="3049410"/>
            <a:ext cx="331946" cy="226314"/>
            <a:chOff x="0" y="0"/>
            <a:chExt cx="442595" cy="3017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42595" cy="301752"/>
            </a:xfrm>
            <a:custGeom>
              <a:avLst/>
              <a:gdLst/>
              <a:ahLst/>
              <a:cxnLst/>
              <a:rect l="l" t="t" r="r" b="b"/>
              <a:pathLst>
                <a:path w="442595" h="301752">
                  <a:moveTo>
                    <a:pt x="0" y="0"/>
                  </a:moveTo>
                  <a:lnTo>
                    <a:pt x="442595" y="0"/>
                  </a:lnTo>
                  <a:lnTo>
                    <a:pt x="442595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2" name="Freeform 82"/>
          <p:cNvSpPr/>
          <p:nvPr/>
        </p:nvSpPr>
        <p:spPr>
          <a:xfrm>
            <a:off x="8451780" y="3248616"/>
            <a:ext cx="378619" cy="159830"/>
          </a:xfrm>
          <a:custGeom>
            <a:avLst/>
            <a:gdLst/>
            <a:ahLst/>
            <a:cxnLst/>
            <a:rect l="l" t="t" r="r" b="b"/>
            <a:pathLst>
              <a:path w="378619" h="159830">
                <a:moveTo>
                  <a:pt x="0" y="0"/>
                </a:moveTo>
                <a:lnTo>
                  <a:pt x="378619" y="0"/>
                </a:lnTo>
                <a:lnTo>
                  <a:pt x="378619" y="159829"/>
                </a:lnTo>
                <a:lnTo>
                  <a:pt x="0" y="159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3" name="Group 83"/>
          <p:cNvGrpSpPr/>
          <p:nvPr/>
        </p:nvGrpSpPr>
        <p:grpSpPr>
          <a:xfrm>
            <a:off x="7612380" y="3703320"/>
            <a:ext cx="2057400" cy="685800"/>
            <a:chOff x="0" y="0"/>
            <a:chExt cx="2743200" cy="9144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743200" cy="914400"/>
            </a:xfrm>
            <a:custGeom>
              <a:avLst/>
              <a:gdLst/>
              <a:ahLst/>
              <a:cxnLst/>
              <a:rect l="l" t="t" r="r" b="b"/>
              <a:pathLst>
                <a:path w="2743200" h="914400">
                  <a:moveTo>
                    <a:pt x="0" y="0"/>
                  </a:moveTo>
                  <a:lnTo>
                    <a:pt x="2743200" y="0"/>
                  </a:lnTo>
                  <a:lnTo>
                    <a:pt x="2743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13" b="-8415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7612380" y="3696176"/>
            <a:ext cx="2057400" cy="692944"/>
            <a:chOff x="0" y="0"/>
            <a:chExt cx="2743200" cy="923925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743200" cy="923925"/>
            </a:xfrm>
            <a:custGeom>
              <a:avLst/>
              <a:gdLst/>
              <a:ahLst/>
              <a:cxnLst/>
              <a:rect l="l" t="t" r="r" b="b"/>
              <a:pathLst>
                <a:path w="2743200" h="923925">
                  <a:moveTo>
                    <a:pt x="0" y="0"/>
                  </a:moveTo>
                  <a:lnTo>
                    <a:pt x="2743200" y="0"/>
                  </a:lnTo>
                  <a:lnTo>
                    <a:pt x="27432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852" b="-7852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27432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DuckDB (raw)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582930" y="5124450"/>
            <a:ext cx="8435340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7571" lvl="2" indent="-205857" algn="l">
              <a:lnSpc>
                <a:spcPts val="3509"/>
              </a:lnSpc>
              <a:buFont typeface="Arial"/>
              <a:buChar char="⚬"/>
            </a:pPr>
            <a:r>
              <a:rPr lang="en-US" sz="292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sources.py lit le CSV par lots (chunks) pour limiter la mémoire</a:t>
            </a:r>
          </a:p>
          <a:p>
            <a:pPr marL="617571" lvl="2" indent="-205857" algn="l">
              <a:lnSpc>
                <a:spcPts val="3509"/>
              </a:lnSpc>
              <a:buFont typeface="Arial"/>
              <a:buChar char="⚬"/>
            </a:pPr>
            <a:r>
              <a:rPr lang="en-US" sz="292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dlt détecte automatiquement le schéma et prépare les tables cibles</a:t>
            </a:r>
          </a:p>
          <a:p>
            <a:pPr marL="617571" lvl="2" indent="-205857" algn="l">
              <a:lnSpc>
                <a:spcPts val="3509"/>
              </a:lnSpc>
              <a:buFont typeface="Arial"/>
              <a:buChar char="⚬"/>
            </a:pPr>
            <a:r>
              <a:rPr lang="en-US" sz="292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load_data.py orchestre le chargement complet vers le schéma raw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822960" y="6652260"/>
            <a:ext cx="4114800" cy="1165860"/>
            <a:chOff x="0" y="0"/>
            <a:chExt cx="5486400" cy="155448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486400" cy="1554480"/>
            </a:xfrm>
            <a:custGeom>
              <a:avLst/>
              <a:gdLst/>
              <a:ahLst/>
              <a:cxnLst/>
              <a:rect l="l" t="t" r="r" b="b"/>
              <a:pathLst>
                <a:path w="5486400" h="1554480">
                  <a:moveTo>
                    <a:pt x="0" y="0"/>
                  </a:moveTo>
                  <a:lnTo>
                    <a:pt x="5486400" y="0"/>
                  </a:lnTo>
                  <a:lnTo>
                    <a:pt x="5486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23" b="-18723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822960" y="7818120"/>
            <a:ext cx="4114800" cy="685800"/>
            <a:chOff x="0" y="0"/>
            <a:chExt cx="5486400" cy="9144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486400" cy="914400"/>
            </a:xfrm>
            <a:custGeom>
              <a:avLst/>
              <a:gdLst/>
              <a:ahLst/>
              <a:cxnLst/>
              <a:rect l="l" t="t" r="r" b="b"/>
              <a:pathLst>
                <a:path w="5486400" h="914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829" b="-66829"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>
            <a:off x="9221724" y="3470148"/>
            <a:ext cx="9589143" cy="5397932"/>
            <a:chOff x="0" y="0"/>
            <a:chExt cx="12785523" cy="719724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2785523" cy="7197242"/>
            </a:xfrm>
            <a:custGeom>
              <a:avLst/>
              <a:gdLst/>
              <a:ahLst/>
              <a:cxnLst/>
              <a:rect l="l" t="t" r="r" b="b"/>
              <a:pathLst>
                <a:path w="12785523" h="7197242">
                  <a:moveTo>
                    <a:pt x="0" y="0"/>
                  </a:moveTo>
                  <a:lnTo>
                    <a:pt x="12785523" y="0"/>
                  </a:lnTo>
                  <a:lnTo>
                    <a:pt x="12785523" y="7197242"/>
                  </a:lnTo>
                  <a:lnTo>
                    <a:pt x="0" y="7197242"/>
                  </a:lnTo>
                  <a:close/>
                </a:path>
              </a:pathLst>
            </a:custGeom>
            <a:solidFill>
              <a:srgbClr val="2C333D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9875520" y="2743200"/>
            <a:ext cx="7269480" cy="384048"/>
            <a:chOff x="0" y="0"/>
            <a:chExt cx="9692640" cy="51206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9692640" cy="512064"/>
            </a:xfrm>
            <a:custGeom>
              <a:avLst/>
              <a:gdLst/>
              <a:ahLst/>
              <a:cxnLst/>
              <a:rect l="l" t="t" r="r" b="b"/>
              <a:pathLst>
                <a:path w="9692640" h="512064">
                  <a:moveTo>
                    <a:pt x="0" y="0"/>
                  </a:moveTo>
                  <a:lnTo>
                    <a:pt x="9692640" y="0"/>
                  </a:lnTo>
                  <a:lnTo>
                    <a:pt x="96926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566" b="-318568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9477756" y="3613880"/>
            <a:ext cx="7269480" cy="489490"/>
            <a:chOff x="0" y="0"/>
            <a:chExt cx="9692640" cy="652653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692640" cy="652653"/>
            </a:xfrm>
            <a:custGeom>
              <a:avLst/>
              <a:gdLst/>
              <a:ahLst/>
              <a:cxnLst/>
              <a:rect l="l" t="t" r="r" b="b"/>
              <a:pathLst>
                <a:path w="9692640" h="652653">
                  <a:moveTo>
                    <a:pt x="0" y="0"/>
                  </a:moveTo>
                  <a:lnTo>
                    <a:pt x="9692640" y="0"/>
                  </a:lnTo>
                  <a:lnTo>
                    <a:pt x="9692640" y="652653"/>
                  </a:lnTo>
                  <a:lnTo>
                    <a:pt x="0" y="6526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686" b="-230063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9692640" cy="6717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PREUVE D'EXÉCUTION RÉELLE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875520" y="3127248"/>
            <a:ext cx="7269480" cy="685800"/>
            <a:chOff x="0" y="0"/>
            <a:chExt cx="9692640" cy="9144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97" b="-156398"/>
              </a:stretch>
            </a:blipFill>
          </p:spPr>
        </p:sp>
      </p:grpSp>
      <p:grpSp>
        <p:nvGrpSpPr>
          <p:cNvPr id="102" name="Group 102"/>
          <p:cNvGrpSpPr/>
          <p:nvPr/>
        </p:nvGrpSpPr>
        <p:grpSpPr>
          <a:xfrm>
            <a:off x="9429750" y="4389120"/>
            <a:ext cx="7269480" cy="685800"/>
            <a:chOff x="0" y="0"/>
            <a:chExt cx="9692640" cy="9144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9692640" cy="914400"/>
            </a:xfrm>
            <a:custGeom>
              <a:avLst/>
              <a:gdLst/>
              <a:ahLst/>
              <a:cxnLst/>
              <a:rect l="l" t="t" r="r" b="b"/>
              <a:pathLst>
                <a:path w="9692640" h="91440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969264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100 000 enregistrements chargés dans DuckDB, sans erreur.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221724" y="5360670"/>
            <a:ext cx="14036040" cy="2359129"/>
            <a:chOff x="0" y="0"/>
            <a:chExt cx="12216875" cy="2053370"/>
          </a:xfrm>
        </p:grpSpPr>
        <p:sp>
          <p:nvSpPr>
            <p:cNvPr id="106" name="Freeform 106" descr="/home/claude/extracted_imgs/p29-000.png"/>
            <p:cNvSpPr/>
            <p:nvPr/>
          </p:nvSpPr>
          <p:spPr>
            <a:xfrm>
              <a:off x="0" y="0"/>
              <a:ext cx="12216875" cy="2053370"/>
            </a:xfrm>
            <a:custGeom>
              <a:avLst/>
              <a:gdLst/>
              <a:ahLst/>
              <a:cxnLst/>
              <a:rect l="l" t="t" r="r" b="b"/>
              <a:pathLst>
                <a:path w="12216875" h="2053370">
                  <a:moveTo>
                    <a:pt x="0" y="0"/>
                  </a:moveTo>
                  <a:lnTo>
                    <a:pt x="12216875" y="0"/>
                  </a:lnTo>
                  <a:lnTo>
                    <a:pt x="12216875" y="2053370"/>
                  </a:lnTo>
                  <a:lnTo>
                    <a:pt x="0" y="2053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94" b="-1594"/>
              </a:stretch>
            </a:blipFill>
          </p:spPr>
        </p:sp>
      </p:grpSp>
      <p:grpSp>
        <p:nvGrpSpPr>
          <p:cNvPr id="107" name="Group 107"/>
          <p:cNvGrpSpPr/>
          <p:nvPr/>
        </p:nvGrpSpPr>
        <p:grpSpPr>
          <a:xfrm>
            <a:off x="9875520" y="8023860"/>
            <a:ext cx="7269480" cy="822960"/>
            <a:chOff x="0" y="0"/>
            <a:chExt cx="9692640" cy="109728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9692640" cy="1097280"/>
            </a:xfrm>
            <a:custGeom>
              <a:avLst/>
              <a:gdLst/>
              <a:ahLst/>
              <a:cxnLst/>
              <a:rect l="l" t="t" r="r" b="b"/>
              <a:pathLst>
                <a:path w="9692640" h="109728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997" b="-121998"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111" name="Group 111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16" name="Group 116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76706" y="898398"/>
            <a:ext cx="452628" cy="154305"/>
            <a:chOff x="0" y="0"/>
            <a:chExt cx="603504" cy="2057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3504" cy="205740"/>
            </a:xfrm>
            <a:custGeom>
              <a:avLst/>
              <a:gdLst/>
              <a:ahLst/>
              <a:cxnLst/>
              <a:rect l="l" t="t" r="r" b="b"/>
              <a:pathLst>
                <a:path w="603504" h="205740">
                  <a:moveTo>
                    <a:pt x="0" y="102870"/>
                  </a:moveTo>
                  <a:cubicBezTo>
                    <a:pt x="0" y="46101"/>
                    <a:pt x="135128" y="0"/>
                    <a:pt x="301752" y="0"/>
                  </a:cubicBezTo>
                  <a:cubicBezTo>
                    <a:pt x="468376" y="0"/>
                    <a:pt x="603504" y="46101"/>
                    <a:pt x="603504" y="102870"/>
                  </a:cubicBezTo>
                  <a:cubicBezTo>
                    <a:pt x="603504" y="159639"/>
                    <a:pt x="468376" y="205740"/>
                    <a:pt x="301752" y="205740"/>
                  </a:cubicBezTo>
                  <a:cubicBezTo>
                    <a:pt x="135128" y="205740"/>
                    <a:pt x="0" y="159639"/>
                    <a:pt x="0" y="1028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76706" y="975550"/>
            <a:ext cx="452628" cy="308610"/>
            <a:chOff x="0" y="0"/>
            <a:chExt cx="603504" cy="411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3504" cy="411480"/>
            </a:xfrm>
            <a:custGeom>
              <a:avLst/>
              <a:gdLst/>
              <a:ahLst/>
              <a:cxnLst/>
              <a:rect l="l" t="t" r="r" b="b"/>
              <a:pathLst>
                <a:path w="603504" h="411480">
                  <a:moveTo>
                    <a:pt x="0" y="0"/>
                  </a:moveTo>
                  <a:lnTo>
                    <a:pt x="603504" y="0"/>
                  </a:lnTo>
                  <a:lnTo>
                    <a:pt x="603504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053370" y="1255681"/>
            <a:ext cx="499300" cy="200978"/>
          </a:xfrm>
          <a:custGeom>
            <a:avLst/>
            <a:gdLst/>
            <a:ahLst/>
            <a:cxnLst/>
            <a:rect l="l" t="t" r="r" b="b"/>
            <a:pathLst>
              <a:path w="499300" h="200978">
                <a:moveTo>
                  <a:pt x="0" y="0"/>
                </a:moveTo>
                <a:lnTo>
                  <a:pt x="499300" y="0"/>
                </a:lnTo>
                <a:lnTo>
                  <a:pt x="499300" y="200977"/>
                </a:lnTo>
                <a:lnTo>
                  <a:pt x="0" y="200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3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DuckDB — Stockage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6459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178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Architecture en 4 couches, inspirée du modèle medallion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5430500" y="754380"/>
            <a:ext cx="150876" cy="150876"/>
            <a:chOff x="0" y="0"/>
            <a:chExt cx="201168" cy="2011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sp>
        <p:nvSpPr>
          <p:cNvPr id="48" name="AutoShape 48"/>
          <p:cNvSpPr/>
          <p:nvPr/>
        </p:nvSpPr>
        <p:spPr>
          <a:xfrm rot="4260">
            <a:off x="1342996" y="3272790"/>
            <a:ext cx="15419127" cy="0"/>
          </a:xfrm>
          <a:prstGeom prst="line">
            <a:avLst/>
          </a:prstGeom>
          <a:ln w="19050" cap="rnd">
            <a:solidFill>
              <a:srgbClr val="DEE1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9" name="Group 49"/>
          <p:cNvGrpSpPr/>
          <p:nvPr/>
        </p:nvGrpSpPr>
        <p:grpSpPr>
          <a:xfrm>
            <a:off x="548640" y="2880360"/>
            <a:ext cx="822960" cy="822960"/>
            <a:chOff x="0" y="0"/>
            <a:chExt cx="1097280" cy="10972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79069" y="3077870"/>
            <a:ext cx="362140" cy="123444"/>
            <a:chOff x="0" y="0"/>
            <a:chExt cx="482854" cy="164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82854" cy="164592"/>
            </a:xfrm>
            <a:custGeom>
              <a:avLst/>
              <a:gdLst/>
              <a:ahLst/>
              <a:cxnLst/>
              <a:rect l="l" t="t" r="r" b="b"/>
              <a:pathLst>
                <a:path w="482854" h="164592">
                  <a:moveTo>
                    <a:pt x="0" y="82296"/>
                  </a:moveTo>
                  <a:cubicBezTo>
                    <a:pt x="0" y="36830"/>
                    <a:pt x="108077" y="0"/>
                    <a:pt x="241427" y="0"/>
                  </a:cubicBezTo>
                  <a:cubicBezTo>
                    <a:pt x="374777" y="0"/>
                    <a:pt x="482854" y="36830"/>
                    <a:pt x="482854" y="82296"/>
                  </a:cubicBezTo>
                  <a:cubicBezTo>
                    <a:pt x="482854" y="127762"/>
                    <a:pt x="374777" y="164592"/>
                    <a:pt x="241427" y="164592"/>
                  </a:cubicBezTo>
                  <a:cubicBezTo>
                    <a:pt x="108077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779069" y="3139592"/>
            <a:ext cx="362140" cy="246888"/>
            <a:chOff x="0" y="0"/>
            <a:chExt cx="482854" cy="32918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82854" cy="329184"/>
            </a:xfrm>
            <a:custGeom>
              <a:avLst/>
              <a:gdLst/>
              <a:ahLst/>
              <a:cxnLst/>
              <a:rect l="l" t="t" r="r" b="b"/>
              <a:pathLst>
                <a:path w="482854" h="329184">
                  <a:moveTo>
                    <a:pt x="0" y="0"/>
                  </a:moveTo>
                  <a:lnTo>
                    <a:pt x="482854" y="0"/>
                  </a:lnTo>
                  <a:lnTo>
                    <a:pt x="48285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5" name="Freeform 55"/>
          <p:cNvSpPr/>
          <p:nvPr/>
        </p:nvSpPr>
        <p:spPr>
          <a:xfrm>
            <a:off x="755733" y="3359029"/>
            <a:ext cx="408813" cy="170116"/>
          </a:xfrm>
          <a:custGeom>
            <a:avLst/>
            <a:gdLst/>
            <a:ahLst/>
            <a:cxnLst/>
            <a:rect l="l" t="t" r="r" b="b"/>
            <a:pathLst>
              <a:path w="408813" h="170116">
                <a:moveTo>
                  <a:pt x="0" y="0"/>
                </a:moveTo>
                <a:lnTo>
                  <a:pt x="408813" y="0"/>
                </a:lnTo>
                <a:lnTo>
                  <a:pt x="408813" y="170117"/>
                </a:lnTo>
                <a:lnTo>
                  <a:pt x="0" y="1701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-822960" y="3840480"/>
            <a:ext cx="3566160" cy="685800"/>
            <a:chOff x="0" y="0"/>
            <a:chExt cx="475488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251" b="-51252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-822960" y="3833336"/>
            <a:ext cx="3566160" cy="692944"/>
            <a:chOff x="0" y="0"/>
            <a:chExt cx="4754880" cy="92392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754880" cy="923925"/>
            </a:xfrm>
            <a:custGeom>
              <a:avLst/>
              <a:gdLst/>
              <a:ahLst/>
              <a:cxnLst/>
              <a:rect l="l" t="t" r="r" b="b"/>
              <a:pathLst>
                <a:path w="4754880" h="923925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77" b="-50277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4754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Raw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-822960" y="4251960"/>
            <a:ext cx="3566160" cy="548640"/>
            <a:chOff x="0" y="0"/>
            <a:chExt cx="475488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564" b="-76565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-822960" y="4244816"/>
            <a:ext cx="3566160" cy="555784"/>
            <a:chOff x="0" y="0"/>
            <a:chExt cx="4754880" cy="74104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754880" cy="741045"/>
            </a:xfrm>
            <a:custGeom>
              <a:avLst/>
              <a:gdLst/>
              <a:ahLst/>
              <a:cxnLst/>
              <a:rect l="l" t="t" r="r" b="b"/>
              <a:pathLst>
                <a:path w="4754880" h="741045">
                  <a:moveTo>
                    <a:pt x="0" y="0"/>
                  </a:moveTo>
                  <a:lnTo>
                    <a:pt x="4754880" y="0"/>
                  </a:lnTo>
                  <a:lnTo>
                    <a:pt x="47548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5024" b="-75024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47548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copie fidèle de la source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943600" y="2880360"/>
            <a:ext cx="822960" cy="822960"/>
            <a:chOff x="0" y="0"/>
            <a:chExt cx="1097280" cy="10972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68" name="AutoShape 68"/>
          <p:cNvSpPr/>
          <p:nvPr/>
        </p:nvSpPr>
        <p:spPr>
          <a:xfrm rot="384480">
            <a:off x="6128299" y="3317405"/>
            <a:ext cx="256051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9" name="Group 69"/>
          <p:cNvGrpSpPr/>
          <p:nvPr/>
        </p:nvGrpSpPr>
        <p:grpSpPr>
          <a:xfrm>
            <a:off x="4572000" y="3840480"/>
            <a:ext cx="3566160" cy="685800"/>
            <a:chOff x="0" y="0"/>
            <a:chExt cx="4754880" cy="9144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251" b="-51252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4572000" y="3833336"/>
            <a:ext cx="3566160" cy="692944"/>
            <a:chOff x="0" y="0"/>
            <a:chExt cx="4754880" cy="92392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54880" cy="923925"/>
            </a:xfrm>
            <a:custGeom>
              <a:avLst/>
              <a:gdLst/>
              <a:ahLst/>
              <a:cxnLst/>
              <a:rect l="l" t="t" r="r" b="b"/>
              <a:pathLst>
                <a:path w="4754880" h="923925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77" b="-5027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4754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Clean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572000" y="4251960"/>
            <a:ext cx="3566160" cy="548640"/>
            <a:chOff x="0" y="0"/>
            <a:chExt cx="4754880" cy="7315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564" b="-76565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4572000" y="4244816"/>
            <a:ext cx="3566160" cy="555784"/>
            <a:chOff x="0" y="0"/>
            <a:chExt cx="4754880" cy="74104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754880" cy="741045"/>
            </a:xfrm>
            <a:custGeom>
              <a:avLst/>
              <a:gdLst/>
              <a:ahLst/>
              <a:cxnLst/>
              <a:rect l="l" t="t" r="r" b="b"/>
              <a:pathLst>
                <a:path w="4754880" h="741045">
                  <a:moveTo>
                    <a:pt x="0" y="0"/>
                  </a:moveTo>
                  <a:lnTo>
                    <a:pt x="4754880" y="0"/>
                  </a:lnTo>
                  <a:lnTo>
                    <a:pt x="47548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5024" b="-75024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47548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doublons retirés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338560" y="2880360"/>
            <a:ext cx="822960" cy="822960"/>
            <a:chOff x="0" y="0"/>
            <a:chExt cx="1097280" cy="109728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A6A4E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1552530" y="3127248"/>
            <a:ext cx="395002" cy="181070"/>
            <a:chOff x="0" y="0"/>
            <a:chExt cx="526669" cy="241427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26669" cy="241427"/>
            </a:xfrm>
            <a:custGeom>
              <a:avLst/>
              <a:gdLst/>
              <a:ahLst/>
              <a:cxnLst/>
              <a:rect l="l" t="t" r="r" b="b"/>
              <a:pathLst>
                <a:path w="526669" h="241427">
                  <a:moveTo>
                    <a:pt x="0" y="0"/>
                  </a:moveTo>
                  <a:lnTo>
                    <a:pt x="60325" y="241427"/>
                  </a:lnTo>
                  <a:lnTo>
                    <a:pt x="466344" y="241427"/>
                  </a:lnTo>
                  <a:lnTo>
                    <a:pt x="52666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1721236" y="3316529"/>
            <a:ext cx="57626" cy="148114"/>
            <a:chOff x="0" y="0"/>
            <a:chExt cx="76835" cy="19748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6835" cy="197485"/>
            </a:xfrm>
            <a:custGeom>
              <a:avLst/>
              <a:gdLst/>
              <a:ahLst/>
              <a:cxnLst/>
              <a:rect l="l" t="t" r="r" b="b"/>
              <a:pathLst>
                <a:path w="76835" h="197485">
                  <a:moveTo>
                    <a:pt x="0" y="0"/>
                  </a:moveTo>
                  <a:lnTo>
                    <a:pt x="76835" y="0"/>
                  </a:lnTo>
                  <a:lnTo>
                    <a:pt x="76835" y="197485"/>
                  </a:lnTo>
                  <a:lnTo>
                    <a:pt x="0" y="1974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9966960" y="3840480"/>
            <a:ext cx="3566160" cy="685800"/>
            <a:chOff x="0" y="0"/>
            <a:chExt cx="4754880" cy="9144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251" b="-51252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9966960" y="3833336"/>
            <a:ext cx="3566160" cy="692944"/>
            <a:chOff x="0" y="0"/>
            <a:chExt cx="4754880" cy="92392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754880" cy="923925"/>
            </a:xfrm>
            <a:custGeom>
              <a:avLst/>
              <a:gdLst/>
              <a:ahLst/>
              <a:cxnLst/>
              <a:rect l="l" t="t" r="r" b="b"/>
              <a:pathLst>
                <a:path w="4754880" h="923925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77" b="-50277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4754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Features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966960" y="4251960"/>
            <a:ext cx="3566160" cy="548640"/>
            <a:chOff x="0" y="0"/>
            <a:chExt cx="4754880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564" b="-76565"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9966960" y="4244816"/>
            <a:ext cx="3566160" cy="555784"/>
            <a:chOff x="0" y="0"/>
            <a:chExt cx="4754880" cy="741045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754880" cy="741045"/>
            </a:xfrm>
            <a:custGeom>
              <a:avLst/>
              <a:gdLst/>
              <a:ahLst/>
              <a:cxnLst/>
              <a:rect l="l" t="t" r="r" b="b"/>
              <a:pathLst>
                <a:path w="4754880" h="741045">
                  <a:moveTo>
                    <a:pt x="0" y="0"/>
                  </a:moveTo>
                  <a:lnTo>
                    <a:pt x="4754880" y="0"/>
                  </a:lnTo>
                  <a:lnTo>
                    <a:pt x="47548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5024" b="-75024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9525"/>
              <a:ext cx="47548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variables dérivées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6733520" y="2880360"/>
            <a:ext cx="822960" cy="822960"/>
            <a:chOff x="0" y="0"/>
            <a:chExt cx="1097280" cy="109728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16972178" y="3308299"/>
            <a:ext cx="82296" cy="115252"/>
            <a:chOff x="0" y="0"/>
            <a:chExt cx="109728" cy="15367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09728" cy="153670"/>
            </a:xfrm>
            <a:custGeom>
              <a:avLst/>
              <a:gdLst/>
              <a:ahLst/>
              <a:cxnLst/>
              <a:rect l="l" t="t" r="r" b="b"/>
              <a:pathLst>
                <a:path w="109728" h="153670">
                  <a:moveTo>
                    <a:pt x="0" y="0"/>
                  </a:moveTo>
                  <a:lnTo>
                    <a:pt x="109728" y="0"/>
                  </a:lnTo>
                  <a:lnTo>
                    <a:pt x="109728" y="153670"/>
                  </a:lnTo>
                  <a:lnTo>
                    <a:pt x="0" y="1536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17103852" y="3242462"/>
            <a:ext cx="82296" cy="181070"/>
            <a:chOff x="0" y="0"/>
            <a:chExt cx="109728" cy="241427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9728" cy="241427"/>
            </a:xfrm>
            <a:custGeom>
              <a:avLst/>
              <a:gdLst/>
              <a:ahLst/>
              <a:cxnLst/>
              <a:rect l="l" t="t" r="r" b="b"/>
              <a:pathLst>
                <a:path w="109728" h="241427">
                  <a:moveTo>
                    <a:pt x="0" y="0"/>
                  </a:moveTo>
                  <a:lnTo>
                    <a:pt x="109728" y="0"/>
                  </a:lnTo>
                  <a:lnTo>
                    <a:pt x="109728" y="241427"/>
                  </a:lnTo>
                  <a:lnTo>
                    <a:pt x="0" y="2414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7235526" y="3176626"/>
            <a:ext cx="82296" cy="246888"/>
            <a:chOff x="0" y="0"/>
            <a:chExt cx="109728" cy="32918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09728" cy="329184"/>
            </a:xfrm>
            <a:custGeom>
              <a:avLst/>
              <a:gdLst/>
              <a:ahLst/>
              <a:cxnLst/>
              <a:rect l="l" t="t" r="r" b="b"/>
              <a:pathLst>
                <a:path w="109728" h="329184">
                  <a:moveTo>
                    <a:pt x="0" y="0"/>
                  </a:moveTo>
                  <a:lnTo>
                    <a:pt x="109728" y="0"/>
                  </a:lnTo>
                  <a:lnTo>
                    <a:pt x="109728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3" name="Group 103"/>
          <p:cNvGrpSpPr/>
          <p:nvPr/>
        </p:nvGrpSpPr>
        <p:grpSpPr>
          <a:xfrm>
            <a:off x="15361920" y="3840480"/>
            <a:ext cx="3566160" cy="685800"/>
            <a:chOff x="0" y="0"/>
            <a:chExt cx="4754880" cy="9144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251" b="-51252"/>
              </a:stretch>
            </a:blipFill>
          </p:spPr>
        </p:sp>
      </p:grpSp>
      <p:grpSp>
        <p:nvGrpSpPr>
          <p:cNvPr id="105" name="Group 105"/>
          <p:cNvGrpSpPr/>
          <p:nvPr/>
        </p:nvGrpSpPr>
        <p:grpSpPr>
          <a:xfrm>
            <a:off x="15361920" y="3833336"/>
            <a:ext cx="3566160" cy="692944"/>
            <a:chOff x="0" y="0"/>
            <a:chExt cx="4754880" cy="923925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754880" cy="923925"/>
            </a:xfrm>
            <a:custGeom>
              <a:avLst/>
              <a:gdLst/>
              <a:ahLst/>
              <a:cxnLst/>
              <a:rect l="l" t="t" r="r" b="b"/>
              <a:pathLst>
                <a:path w="4754880" h="923925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77" b="-50277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9525"/>
              <a:ext cx="4754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ML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5361920" y="4251960"/>
            <a:ext cx="3566160" cy="548640"/>
            <a:chOff x="0" y="0"/>
            <a:chExt cx="4754880" cy="73152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754880" cy="731520"/>
            </a:xfrm>
            <a:custGeom>
              <a:avLst/>
              <a:gdLst/>
              <a:ahLst/>
              <a:cxnLst/>
              <a:rect l="l" t="t" r="r" b="b"/>
              <a:pathLst>
                <a:path w="4754880" h="73152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564" b="-76565"/>
              </a:stretch>
            </a:blipFill>
          </p:spPr>
        </p:sp>
      </p:grpSp>
      <p:grpSp>
        <p:nvGrpSpPr>
          <p:cNvPr id="110" name="Group 110"/>
          <p:cNvGrpSpPr/>
          <p:nvPr/>
        </p:nvGrpSpPr>
        <p:grpSpPr>
          <a:xfrm>
            <a:off x="15361920" y="4244816"/>
            <a:ext cx="3566160" cy="555784"/>
            <a:chOff x="0" y="0"/>
            <a:chExt cx="4754880" cy="741045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754880" cy="741045"/>
            </a:xfrm>
            <a:custGeom>
              <a:avLst/>
              <a:gdLst/>
              <a:ahLst/>
              <a:cxnLst/>
              <a:rect l="l" t="t" r="r" b="b"/>
              <a:pathLst>
                <a:path w="4754880" h="741045">
                  <a:moveTo>
                    <a:pt x="0" y="0"/>
                  </a:moveTo>
                  <a:lnTo>
                    <a:pt x="4754880" y="0"/>
                  </a:lnTo>
                  <a:lnTo>
                    <a:pt x="47548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75024" b="-75024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9525"/>
              <a:ext cx="47548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prêt pour l'entraînement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60120" y="5349240"/>
            <a:ext cx="8229600" cy="411480"/>
            <a:chOff x="0" y="0"/>
            <a:chExt cx="10972800" cy="54864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115" name="Group 115"/>
          <p:cNvGrpSpPr/>
          <p:nvPr/>
        </p:nvGrpSpPr>
        <p:grpSpPr>
          <a:xfrm>
            <a:off x="755733" y="5248275"/>
            <a:ext cx="8229600" cy="411480"/>
            <a:chOff x="0" y="0"/>
            <a:chExt cx="10972800" cy="54864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8"/>
                </a:lnSpc>
              </a:pPr>
              <a:r>
                <a:rPr lang="en-US" sz="1974" b="1" spc="280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CONTRÔLES RÉALISÉS</a:t>
              </a:r>
            </a:p>
          </p:txBody>
        </p:sp>
      </p:grpSp>
      <p:sp>
        <p:nvSpPr>
          <p:cNvPr id="118" name="TextBox 118"/>
          <p:cNvSpPr txBox="1"/>
          <p:nvPr/>
        </p:nvSpPr>
        <p:spPr>
          <a:xfrm>
            <a:off x="1051560" y="5777865"/>
            <a:ext cx="8458200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953" lvl="2" indent="-182984" algn="l">
              <a:lnSpc>
                <a:spcPts val="3119"/>
              </a:lnSpc>
              <a:buFont typeface="Arial"/>
              <a:buChar char="⚬"/>
            </a:pPr>
            <a:r>
              <a:rPr lang="en-US" sz="2599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Contrôle du nombre de lignes : les 4 tables contiennent exactement 100 000 lignes</a:t>
            </a:r>
          </a:p>
          <a:p>
            <a:pPr marL="548953" lvl="2" indent="-182984" algn="l">
              <a:lnSpc>
                <a:spcPts val="3119"/>
              </a:lnSpc>
              <a:buFont typeface="Arial"/>
              <a:buChar char="⚬"/>
            </a:pPr>
            <a:r>
              <a:rPr lang="en-US" sz="2599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Recherche des valeurs manquantes sur l'ensemble des colonnes</a:t>
            </a:r>
          </a:p>
          <a:p>
            <a:pPr marL="548953" lvl="2" indent="-182984" algn="l">
              <a:lnSpc>
                <a:spcPts val="3119"/>
              </a:lnSpc>
              <a:buFont typeface="Arial"/>
              <a:buChar char="⚬"/>
            </a:pPr>
            <a:r>
              <a:rPr lang="en-US" sz="2599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Création des variables dérivées lors du passage vers la couche Features</a:t>
            </a:r>
          </a:p>
          <a:p>
            <a:pPr marL="548953" lvl="2" indent="-182984" algn="l">
              <a:lnSpc>
                <a:spcPts val="3119"/>
              </a:lnSpc>
              <a:buFont typeface="Arial"/>
              <a:buChar char="⚬"/>
            </a:pPr>
            <a:r>
              <a:rPr lang="en-US" sz="2599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Statistiques descriptives et distribution de la variable cible</a:t>
            </a:r>
          </a:p>
        </p:txBody>
      </p:sp>
      <p:grpSp>
        <p:nvGrpSpPr>
          <p:cNvPr id="119" name="Group 119"/>
          <p:cNvGrpSpPr/>
          <p:nvPr/>
        </p:nvGrpSpPr>
        <p:grpSpPr>
          <a:xfrm>
            <a:off x="10424160" y="5349240"/>
            <a:ext cx="3566160" cy="1097280"/>
            <a:chOff x="0" y="0"/>
            <a:chExt cx="4754880" cy="146304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282" b="-13282"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10424160" y="5334953"/>
            <a:ext cx="3566160" cy="1111568"/>
            <a:chOff x="0" y="0"/>
            <a:chExt cx="4754880" cy="148209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4754880" cy="1482090"/>
            </a:xfrm>
            <a:custGeom>
              <a:avLst/>
              <a:gdLst/>
              <a:ahLst/>
              <a:cxnLst/>
              <a:rect l="l" t="t" r="r" b="b"/>
              <a:pathLst>
                <a:path w="4754880" h="1482090">
                  <a:moveTo>
                    <a:pt x="0" y="0"/>
                  </a:moveTo>
                  <a:lnTo>
                    <a:pt x="4754880" y="0"/>
                  </a:lnTo>
                  <a:lnTo>
                    <a:pt x="475488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512" b="-12512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19050"/>
              <a:ext cx="475488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4/4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0424160" y="6446520"/>
            <a:ext cx="3566160" cy="685800"/>
            <a:chOff x="0" y="0"/>
            <a:chExt cx="4754880" cy="9144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251" b="-51252"/>
              </a:stretch>
            </a:blipFill>
          </p:spPr>
        </p:sp>
      </p:grpSp>
      <p:grpSp>
        <p:nvGrpSpPr>
          <p:cNvPr id="126" name="Group 126"/>
          <p:cNvGrpSpPr/>
          <p:nvPr/>
        </p:nvGrpSpPr>
        <p:grpSpPr>
          <a:xfrm>
            <a:off x="10424160" y="6439376"/>
            <a:ext cx="3566160" cy="692944"/>
            <a:chOff x="0" y="0"/>
            <a:chExt cx="4754880" cy="923925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4754880" cy="923925"/>
            </a:xfrm>
            <a:custGeom>
              <a:avLst/>
              <a:gdLst/>
              <a:ahLst/>
              <a:cxnLst/>
              <a:rect l="l" t="t" r="r" b="b"/>
              <a:pathLst>
                <a:path w="4754880" h="923925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77" b="-50277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9525"/>
              <a:ext cx="4754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tables cohérentes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4127480" y="5349240"/>
            <a:ext cx="3566160" cy="1097280"/>
            <a:chOff x="0" y="0"/>
            <a:chExt cx="4754880" cy="146304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4754880" cy="1463040"/>
            </a:xfrm>
            <a:custGeom>
              <a:avLst/>
              <a:gdLst/>
              <a:ahLst/>
              <a:cxnLst/>
              <a:rect l="l" t="t" r="r" b="b"/>
              <a:pathLst>
                <a:path w="4754880" h="146304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282" b="-13282"/>
              </a:stretch>
            </a:blipFill>
          </p:spPr>
        </p:sp>
      </p:grpSp>
      <p:grpSp>
        <p:nvGrpSpPr>
          <p:cNvPr id="131" name="Group 131"/>
          <p:cNvGrpSpPr/>
          <p:nvPr/>
        </p:nvGrpSpPr>
        <p:grpSpPr>
          <a:xfrm>
            <a:off x="14127480" y="5334953"/>
            <a:ext cx="3566160" cy="1111568"/>
            <a:chOff x="0" y="0"/>
            <a:chExt cx="4754880" cy="148209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4754880" cy="1482090"/>
            </a:xfrm>
            <a:custGeom>
              <a:avLst/>
              <a:gdLst/>
              <a:ahLst/>
              <a:cxnLst/>
              <a:rect l="l" t="t" r="r" b="b"/>
              <a:pathLst>
                <a:path w="4754880" h="1482090">
                  <a:moveTo>
                    <a:pt x="0" y="0"/>
                  </a:moveTo>
                  <a:lnTo>
                    <a:pt x="4754880" y="0"/>
                  </a:lnTo>
                  <a:lnTo>
                    <a:pt x="475488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512" b="-12512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19050"/>
              <a:ext cx="475488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20"/>
                </a:lnSpc>
              </a:pPr>
              <a:r>
                <a:rPr lang="en-US" sz="6600" b="1">
                  <a:solidFill>
                    <a:srgbClr val="AB5B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4127480" y="6446520"/>
            <a:ext cx="3566160" cy="685800"/>
            <a:chOff x="0" y="0"/>
            <a:chExt cx="4754880" cy="91440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1251" b="-51252"/>
              </a:stretch>
            </a:blipFill>
          </p:spPr>
        </p:sp>
      </p:grpSp>
      <p:grpSp>
        <p:nvGrpSpPr>
          <p:cNvPr id="136" name="Group 136"/>
          <p:cNvGrpSpPr/>
          <p:nvPr/>
        </p:nvGrpSpPr>
        <p:grpSpPr>
          <a:xfrm>
            <a:off x="14127480" y="6439376"/>
            <a:ext cx="3566160" cy="692944"/>
            <a:chOff x="0" y="0"/>
            <a:chExt cx="4754880" cy="923925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4754880" cy="923925"/>
            </a:xfrm>
            <a:custGeom>
              <a:avLst/>
              <a:gdLst/>
              <a:ahLst/>
              <a:cxnLst/>
              <a:rect l="l" t="t" r="r" b="b"/>
              <a:pathLst>
                <a:path w="4754880" h="923925">
                  <a:moveTo>
                    <a:pt x="0" y="0"/>
                  </a:moveTo>
                  <a:lnTo>
                    <a:pt x="4754880" y="0"/>
                  </a:lnTo>
                  <a:lnTo>
                    <a:pt x="475488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50277" b="-50277"/>
              </a:stretch>
            </a:blipFill>
          </p:spPr>
        </p:sp>
        <p:sp>
          <p:nvSpPr>
            <p:cNvPr id="138" name="TextBox 138"/>
            <p:cNvSpPr txBox="1"/>
            <p:nvPr/>
          </p:nvSpPr>
          <p:spPr>
            <a:xfrm>
              <a:off x="0" y="-9525"/>
              <a:ext cx="47548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ligne perdue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424160" y="6995160"/>
            <a:ext cx="7269480" cy="1645920"/>
            <a:chOff x="0" y="0"/>
            <a:chExt cx="9692640" cy="2194560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9692640" cy="2194560"/>
            </a:xfrm>
            <a:custGeom>
              <a:avLst/>
              <a:gdLst/>
              <a:ahLst/>
              <a:cxnLst/>
              <a:rect l="l" t="t" r="r" b="b"/>
              <a:pathLst>
                <a:path w="9692640" h="219456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998" b="-35999"/>
              </a:stretch>
            </a:blipFill>
          </p:spPr>
        </p:sp>
      </p:grpSp>
      <p:grpSp>
        <p:nvGrpSpPr>
          <p:cNvPr id="141" name="Group 141"/>
          <p:cNvGrpSpPr/>
          <p:nvPr/>
        </p:nvGrpSpPr>
        <p:grpSpPr>
          <a:xfrm>
            <a:off x="10424160" y="6995160"/>
            <a:ext cx="7269480" cy="1645920"/>
            <a:chOff x="0" y="0"/>
            <a:chExt cx="9692640" cy="219456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9692640" cy="2194560"/>
            </a:xfrm>
            <a:custGeom>
              <a:avLst/>
              <a:gdLst/>
              <a:ahLst/>
              <a:cxnLst/>
              <a:rect l="l" t="t" r="r" b="b"/>
              <a:pathLst>
                <a:path w="9692640" h="219456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6058" b="-36058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0"/>
              <a:ext cx="9692640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178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DuckDB : léger, sans serveur, requêtes analytiques directement sur fichiers — idéal en environnement local avant passage à l'échelle.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146" name="Group 146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51" name="Group 151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DBT — TRANSFORMATIONS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731616"/>
            <a:ext cx="10725745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1F24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Nettoyage et enrichissement des données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725941"/>
            <a:ext cx="8281092" cy="3012872"/>
            <a:chOff x="0" y="0"/>
            <a:chExt cx="11041456" cy="40171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41507" cy="4017137"/>
            </a:xfrm>
            <a:custGeom>
              <a:avLst/>
              <a:gdLst/>
              <a:ahLst/>
              <a:cxnLst/>
              <a:rect l="l" t="t" r="r" b="b"/>
              <a:pathLst>
                <a:path w="11041507" h="4017137">
                  <a:moveTo>
                    <a:pt x="0" y="248412"/>
                  </a:moveTo>
                  <a:cubicBezTo>
                    <a:pt x="0" y="111252"/>
                    <a:pt x="111252" y="0"/>
                    <a:pt x="248412" y="0"/>
                  </a:cubicBezTo>
                  <a:lnTo>
                    <a:pt x="10793095" y="0"/>
                  </a:lnTo>
                  <a:cubicBezTo>
                    <a:pt x="10930255" y="0"/>
                    <a:pt x="11041507" y="111252"/>
                    <a:pt x="11041507" y="248412"/>
                  </a:cubicBezTo>
                  <a:lnTo>
                    <a:pt x="11041507" y="3768725"/>
                  </a:lnTo>
                  <a:cubicBezTo>
                    <a:pt x="11041507" y="3905885"/>
                    <a:pt x="10930255" y="4017137"/>
                    <a:pt x="10793095" y="4017137"/>
                  </a:cubicBezTo>
                  <a:lnTo>
                    <a:pt x="248412" y="4017137"/>
                  </a:lnTo>
                  <a:cubicBezTo>
                    <a:pt x="111252" y="4017137"/>
                    <a:pt x="0" y="3905885"/>
                    <a:pt x="0" y="376872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533525" y="3002166"/>
            <a:ext cx="7882023" cy="24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6" b="1">
                <a:solidFill>
                  <a:srgbClr val="6B6355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LINEAGE DBT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33525" y="3444631"/>
            <a:ext cx="6008637" cy="1979857"/>
            <a:chOff x="0" y="0"/>
            <a:chExt cx="8011516" cy="2639809"/>
          </a:xfrm>
        </p:grpSpPr>
        <p:sp>
          <p:nvSpPr>
            <p:cNvPr id="8" name="Freeform 8" descr="Graphe de lineage dbt : raw.raw_sensor_data vers stg_machine_data vers clean_machine_data vers ml_features"/>
            <p:cNvSpPr/>
            <p:nvPr/>
          </p:nvSpPr>
          <p:spPr>
            <a:xfrm>
              <a:off x="0" y="0"/>
              <a:ext cx="8011541" cy="2639822"/>
            </a:xfrm>
            <a:custGeom>
              <a:avLst/>
              <a:gdLst/>
              <a:ahLst/>
              <a:cxnLst/>
              <a:rect l="l" t="t" r="r" b="b"/>
              <a:pathLst>
                <a:path w="8011541" h="2639822">
                  <a:moveTo>
                    <a:pt x="0" y="0"/>
                  </a:moveTo>
                  <a:lnTo>
                    <a:pt x="8011541" y="0"/>
                  </a:lnTo>
                  <a:lnTo>
                    <a:pt x="8011541" y="2639822"/>
                  </a:lnTo>
                  <a:lnTo>
                    <a:pt x="0" y="2639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19200" y="6005512"/>
            <a:ext cx="4026246" cy="1441399"/>
            <a:chOff x="0" y="0"/>
            <a:chExt cx="5368328" cy="19218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68290" cy="1921764"/>
            </a:xfrm>
            <a:custGeom>
              <a:avLst/>
              <a:gdLst/>
              <a:ahLst/>
              <a:cxnLst/>
              <a:rect l="l" t="t" r="r" b="b"/>
              <a:pathLst>
                <a:path w="5368290" h="1921764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5170170" y="0"/>
                  </a:lnTo>
                  <a:cubicBezTo>
                    <a:pt x="5279644" y="0"/>
                    <a:pt x="5368290" y="88773"/>
                    <a:pt x="5368290" y="198120"/>
                  </a:cubicBezTo>
                  <a:lnTo>
                    <a:pt x="5368290" y="1723644"/>
                  </a:lnTo>
                  <a:cubicBezTo>
                    <a:pt x="5368290" y="1833118"/>
                    <a:pt x="5279517" y="1921764"/>
                    <a:pt x="5170170" y="1921764"/>
                  </a:cubicBezTo>
                  <a:lnTo>
                    <a:pt x="198120" y="1921764"/>
                  </a:lnTo>
                  <a:cubicBezTo>
                    <a:pt x="88646" y="1921764"/>
                    <a:pt x="0" y="1832991"/>
                    <a:pt x="0" y="172364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457325" y="6167437"/>
            <a:ext cx="3656495" cy="6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3607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7325" y="6891185"/>
            <a:ext cx="3656495" cy="275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27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modèles dbt en couches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474046" y="6005512"/>
            <a:ext cx="4026246" cy="1441399"/>
            <a:chOff x="0" y="0"/>
            <a:chExt cx="5368328" cy="19218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68290" cy="1921764"/>
            </a:xfrm>
            <a:custGeom>
              <a:avLst/>
              <a:gdLst/>
              <a:ahLst/>
              <a:cxnLst/>
              <a:rect l="l" t="t" r="r" b="b"/>
              <a:pathLst>
                <a:path w="5368290" h="1921764">
                  <a:moveTo>
                    <a:pt x="0" y="198120"/>
                  </a:moveTo>
                  <a:cubicBezTo>
                    <a:pt x="0" y="88773"/>
                    <a:pt x="88773" y="0"/>
                    <a:pt x="198120" y="0"/>
                  </a:cubicBezTo>
                  <a:lnTo>
                    <a:pt x="5170170" y="0"/>
                  </a:lnTo>
                  <a:cubicBezTo>
                    <a:pt x="5279644" y="0"/>
                    <a:pt x="5368290" y="88773"/>
                    <a:pt x="5368290" y="198120"/>
                  </a:cubicBezTo>
                  <a:lnTo>
                    <a:pt x="5368290" y="1723644"/>
                  </a:lnTo>
                  <a:cubicBezTo>
                    <a:pt x="5368290" y="1833118"/>
                    <a:pt x="5279517" y="1921764"/>
                    <a:pt x="5170170" y="1921764"/>
                  </a:cubicBezTo>
                  <a:lnTo>
                    <a:pt x="198120" y="1921764"/>
                  </a:lnTo>
                  <a:cubicBezTo>
                    <a:pt x="88646" y="1921764"/>
                    <a:pt x="0" y="1832991"/>
                    <a:pt x="0" y="172364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712171" y="6167437"/>
            <a:ext cx="3656495" cy="62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3607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14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12171" y="6891185"/>
            <a:ext cx="3656495" cy="275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27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colonnes analysées (profiling)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9200" y="7665987"/>
            <a:ext cx="8529533" cy="25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362" b="1">
                <a:solidFill>
                  <a:srgbClr val="6B6355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PIPELINE DE NETTOYAGE APPLIQUÉ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19200" y="8026451"/>
            <a:ext cx="1828952" cy="758133"/>
            <a:chOff x="0" y="0"/>
            <a:chExt cx="2438603" cy="10108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654" cy="1010920"/>
            </a:xfrm>
            <a:custGeom>
              <a:avLst/>
              <a:gdLst/>
              <a:ahLst/>
              <a:cxnLst/>
              <a:rect l="l" t="t" r="r" b="b"/>
              <a:pathLst>
                <a:path w="2438654" h="10109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2290699" y="0"/>
                  </a:lnTo>
                  <a:cubicBezTo>
                    <a:pt x="2372360" y="0"/>
                    <a:pt x="2438654" y="66167"/>
                    <a:pt x="2438654" y="147955"/>
                  </a:cubicBezTo>
                  <a:lnTo>
                    <a:pt x="2438654" y="862965"/>
                  </a:lnTo>
                  <a:cubicBezTo>
                    <a:pt x="2438654" y="944626"/>
                    <a:pt x="2372487" y="1010920"/>
                    <a:pt x="2290699" y="1010920"/>
                  </a:cubicBezTo>
                  <a:lnTo>
                    <a:pt x="147955" y="1010920"/>
                  </a:lnTo>
                  <a:cubicBezTo>
                    <a:pt x="66167" y="1010793"/>
                    <a:pt x="0" y="944626"/>
                    <a:pt x="0" y="86296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543050" y="8140751"/>
            <a:ext cx="12573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Data Profiling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0721" y="8403584"/>
            <a:ext cx="881958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 b="1">
                <a:solidFill>
                  <a:srgbClr val="8A84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14 colonnes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05302" y="8184509"/>
            <a:ext cx="289912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B5B2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→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76165" y="8026451"/>
            <a:ext cx="1829095" cy="758133"/>
            <a:chOff x="0" y="0"/>
            <a:chExt cx="2438794" cy="10108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38908" cy="1010920"/>
            </a:xfrm>
            <a:custGeom>
              <a:avLst/>
              <a:gdLst/>
              <a:ahLst/>
              <a:cxnLst/>
              <a:rect l="l" t="t" r="r" b="b"/>
              <a:pathLst>
                <a:path w="2438908" h="10109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2290953" y="0"/>
                  </a:lnTo>
                  <a:cubicBezTo>
                    <a:pt x="2372614" y="0"/>
                    <a:pt x="2438908" y="66167"/>
                    <a:pt x="2438908" y="147955"/>
                  </a:cubicBezTo>
                  <a:lnTo>
                    <a:pt x="2438908" y="862965"/>
                  </a:lnTo>
                  <a:cubicBezTo>
                    <a:pt x="2438908" y="944626"/>
                    <a:pt x="2372741" y="1010920"/>
                    <a:pt x="2290953" y="1010920"/>
                  </a:cubicBezTo>
                  <a:lnTo>
                    <a:pt x="147955" y="1010920"/>
                  </a:lnTo>
                  <a:cubicBezTo>
                    <a:pt x="66167" y="1010793"/>
                    <a:pt x="0" y="944626"/>
                    <a:pt x="0" y="86296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3868493" y="8140751"/>
            <a:ext cx="920648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Détection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13394" y="8403584"/>
            <a:ext cx="1430684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 b="1">
                <a:solidFill>
                  <a:srgbClr val="8A84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37 lignes anormales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62410" y="8184509"/>
            <a:ext cx="289912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B5B2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→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533282" y="8026451"/>
            <a:ext cx="1828952" cy="758133"/>
            <a:chOff x="0" y="0"/>
            <a:chExt cx="2438603" cy="10108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654" cy="1010920"/>
            </a:xfrm>
            <a:custGeom>
              <a:avLst/>
              <a:gdLst/>
              <a:ahLst/>
              <a:cxnLst/>
              <a:rect l="l" t="t" r="r" b="b"/>
              <a:pathLst>
                <a:path w="2438654" h="1010920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2290699" y="0"/>
                  </a:lnTo>
                  <a:cubicBezTo>
                    <a:pt x="2372360" y="0"/>
                    <a:pt x="2438654" y="66167"/>
                    <a:pt x="2438654" y="147955"/>
                  </a:cubicBezTo>
                  <a:lnTo>
                    <a:pt x="2438654" y="862965"/>
                  </a:lnTo>
                  <a:cubicBezTo>
                    <a:pt x="2438654" y="944626"/>
                    <a:pt x="2372487" y="1010920"/>
                    <a:pt x="2290699" y="1010920"/>
                  </a:cubicBezTo>
                  <a:lnTo>
                    <a:pt x="147955" y="1010920"/>
                  </a:lnTo>
                  <a:cubicBezTo>
                    <a:pt x="66167" y="1010793"/>
                    <a:pt x="0" y="944626"/>
                    <a:pt x="0" y="86296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6068616" y="8140751"/>
            <a:ext cx="834476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Décision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51499" y="8403584"/>
            <a:ext cx="1310735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 b="1">
                <a:solidFill>
                  <a:srgbClr val="8A84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filtre justifié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19375" y="8184509"/>
            <a:ext cx="289912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B5B2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→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7690247" y="8035976"/>
            <a:ext cx="1810045" cy="739083"/>
            <a:chOff x="0" y="0"/>
            <a:chExt cx="2413394" cy="9854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413381" cy="985393"/>
            </a:xfrm>
            <a:custGeom>
              <a:avLst/>
              <a:gdLst/>
              <a:ahLst/>
              <a:cxnLst/>
              <a:rect l="l" t="t" r="r" b="b"/>
              <a:pathLst>
                <a:path w="2413381" h="98539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260981" y="0"/>
                  </a:lnTo>
                  <a:cubicBezTo>
                    <a:pt x="2345182" y="0"/>
                    <a:pt x="2413381" y="68199"/>
                    <a:pt x="2413381" y="152400"/>
                  </a:cubicBezTo>
                  <a:lnTo>
                    <a:pt x="2413381" y="832993"/>
                  </a:lnTo>
                  <a:cubicBezTo>
                    <a:pt x="2413381" y="917194"/>
                    <a:pt x="2345182" y="985393"/>
                    <a:pt x="2260981" y="985393"/>
                  </a:cubicBezTo>
                  <a:lnTo>
                    <a:pt x="152400" y="985393"/>
                  </a:lnTo>
                  <a:cubicBezTo>
                    <a:pt x="68199" y="985393"/>
                    <a:pt x="0" y="917194"/>
                    <a:pt x="0" y="832993"/>
                  </a:cubicBezTo>
                  <a:close/>
                </a:path>
              </a:pathLst>
            </a:custGeom>
            <a:solidFill>
              <a:srgbClr val="232B36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8014087" y="8097831"/>
            <a:ext cx="1410443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Vérification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08464" y="8403584"/>
            <a:ext cx="84965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 b="1">
                <a:solidFill>
                  <a:srgbClr val="6B71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18 tests dbt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263083" y="2747524"/>
            <a:ext cx="7035108" cy="6037059"/>
            <a:chOff x="0" y="0"/>
            <a:chExt cx="9380144" cy="804941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380093" cy="8049387"/>
            </a:xfrm>
            <a:custGeom>
              <a:avLst/>
              <a:gdLst/>
              <a:ahLst/>
              <a:cxnLst/>
              <a:rect l="l" t="t" r="r" b="b"/>
              <a:pathLst>
                <a:path w="9380093" h="8049387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9075293" y="0"/>
                  </a:lnTo>
                  <a:cubicBezTo>
                    <a:pt x="9243695" y="0"/>
                    <a:pt x="9380093" y="136525"/>
                    <a:pt x="9380093" y="304800"/>
                  </a:cubicBezTo>
                  <a:lnTo>
                    <a:pt x="9380093" y="7744587"/>
                  </a:lnTo>
                  <a:cubicBezTo>
                    <a:pt x="9380093" y="7912989"/>
                    <a:pt x="9243568" y="8049387"/>
                    <a:pt x="9075293" y="8049387"/>
                  </a:cubicBezTo>
                  <a:lnTo>
                    <a:pt x="304800" y="8049387"/>
                  </a:lnTo>
                  <a:cubicBezTo>
                    <a:pt x="136398" y="8049387"/>
                    <a:pt x="0" y="7912862"/>
                    <a:pt x="0" y="7744587"/>
                  </a:cubicBezTo>
                  <a:close/>
                </a:path>
              </a:pathLst>
            </a:custGeom>
            <a:solidFill>
              <a:srgbClr val="232B36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1150740" y="3564736"/>
            <a:ext cx="4573606" cy="466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ANOMALIE DÉTECTÉE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22520" y="4617402"/>
            <a:ext cx="6304321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9"/>
              </a:lnSpc>
            </a:pPr>
            <a:r>
              <a:rPr lang="en-US" sz="2349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Valeurs de vibration négatives, physiquement improbables.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916194" y="6047327"/>
            <a:ext cx="5938928" cy="86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349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Identifiées lors des vérifications structurelles et filtrées avant l'entraînement du modèle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9200" y="9345959"/>
            <a:ext cx="5774388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MLOps &amp; DataOps — Maintenance Prédictive Industrielle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296730" y="9345959"/>
            <a:ext cx="2855233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Analytics Engineering — 1/4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4 / 12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19175" y="193548"/>
            <a:ext cx="876300" cy="876300"/>
            <a:chOff x="0" y="0"/>
            <a:chExt cx="1371600" cy="1371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174432" y="409236"/>
            <a:ext cx="520284" cy="238464"/>
            <a:chOff x="0" y="0"/>
            <a:chExt cx="658368" cy="30175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8368" cy="301752"/>
            </a:xfrm>
            <a:custGeom>
              <a:avLst/>
              <a:gdLst/>
              <a:ahLst/>
              <a:cxnLst/>
              <a:rect l="l" t="t" r="r" b="b"/>
              <a:pathLst>
                <a:path w="658368" h="301752">
                  <a:moveTo>
                    <a:pt x="0" y="0"/>
                  </a:moveTo>
                  <a:lnTo>
                    <a:pt x="75438" y="301752"/>
                  </a:lnTo>
                  <a:lnTo>
                    <a:pt x="582930" y="301752"/>
                  </a:lnTo>
                  <a:lnTo>
                    <a:pt x="65836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398570" y="685800"/>
            <a:ext cx="72009" cy="185166"/>
            <a:chOff x="0" y="0"/>
            <a:chExt cx="96012" cy="24688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6012" cy="246888"/>
            </a:xfrm>
            <a:custGeom>
              <a:avLst/>
              <a:gdLst/>
              <a:ahLst/>
              <a:cxnLst/>
              <a:rect l="l" t="t" r="r" b="b"/>
              <a:pathLst>
                <a:path w="96012" h="246888">
                  <a:moveTo>
                    <a:pt x="0" y="0"/>
                  </a:moveTo>
                  <a:lnTo>
                    <a:pt x="96012" y="0"/>
                  </a:lnTo>
                  <a:lnTo>
                    <a:pt x="96012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809869" y="3724793"/>
            <a:ext cx="212651" cy="212651"/>
            <a:chOff x="0" y="0"/>
            <a:chExt cx="711200" cy="711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cubicBezTo>
                    <a:pt x="551942" y="0"/>
                    <a:pt x="711200" y="159258"/>
                    <a:pt x="711200" y="355600"/>
                  </a:cubicBezTo>
                  <a:cubicBezTo>
                    <a:pt x="711200" y="551942"/>
                    <a:pt x="551942" y="711200"/>
                    <a:pt x="355600" y="711200"/>
                  </a:cubicBezTo>
                  <a:cubicBezTo>
                    <a:pt x="159258" y="711200"/>
                    <a:pt x="0" y="551942"/>
                    <a:pt x="0" y="355600"/>
                  </a:cubicBezTo>
                  <a:close/>
                </a:path>
              </a:pathLst>
            </a:custGeom>
            <a:solidFill>
              <a:srgbClr val="C1622E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DATA PROFILING — ANOMALIE VIBRATION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693516"/>
            <a:ext cx="8608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>
                <a:solidFill>
                  <a:srgbClr val="1F24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Mesurer avant d'agir, jamais l'inverse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36491"/>
            <a:ext cx="5086350" cy="3493884"/>
            <a:chOff x="0" y="0"/>
            <a:chExt cx="6781800" cy="46585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81800" cy="4658360"/>
            </a:xfrm>
            <a:custGeom>
              <a:avLst/>
              <a:gdLst/>
              <a:ahLst/>
              <a:cxnLst/>
              <a:rect l="l" t="t" r="r" b="b"/>
              <a:pathLst>
                <a:path w="6781800" h="46583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6533515" y="0"/>
                  </a:lnTo>
                  <a:cubicBezTo>
                    <a:pt x="6670675" y="0"/>
                    <a:pt x="6781800" y="111125"/>
                    <a:pt x="6781800" y="248285"/>
                  </a:cubicBezTo>
                  <a:lnTo>
                    <a:pt x="6781800" y="4410075"/>
                  </a:lnTo>
                  <a:cubicBezTo>
                    <a:pt x="6781800" y="4547235"/>
                    <a:pt x="6670675" y="4658360"/>
                    <a:pt x="6533515" y="4658360"/>
                  </a:cubicBezTo>
                  <a:lnTo>
                    <a:pt x="248285" y="4658360"/>
                  </a:lnTo>
                  <a:cubicBezTo>
                    <a:pt x="111125" y="4658487"/>
                    <a:pt x="0" y="4547362"/>
                    <a:pt x="0" y="441020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733970" y="3301451"/>
            <a:ext cx="213285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35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Lignes concernées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48025" y="3650009"/>
            <a:ext cx="1104748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37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9362" y="5023399"/>
            <a:ext cx="2562225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sur 100 000 (0,04 %)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10350" y="2636491"/>
            <a:ext cx="5086350" cy="3493884"/>
            <a:chOff x="0" y="0"/>
            <a:chExt cx="6781800" cy="46585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81800" cy="4658360"/>
            </a:xfrm>
            <a:custGeom>
              <a:avLst/>
              <a:gdLst/>
              <a:ahLst/>
              <a:cxnLst/>
              <a:rect l="l" t="t" r="r" b="b"/>
              <a:pathLst>
                <a:path w="6781800" h="465836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6533515" y="0"/>
                  </a:lnTo>
                  <a:cubicBezTo>
                    <a:pt x="6670675" y="0"/>
                    <a:pt x="6781800" y="111125"/>
                    <a:pt x="6781800" y="248285"/>
                  </a:cubicBezTo>
                  <a:lnTo>
                    <a:pt x="6781800" y="4410075"/>
                  </a:lnTo>
                  <a:cubicBezTo>
                    <a:pt x="6781800" y="4547235"/>
                    <a:pt x="6670675" y="4658360"/>
                    <a:pt x="6533515" y="4658360"/>
                  </a:cubicBezTo>
                  <a:lnTo>
                    <a:pt x="248285" y="4658360"/>
                  </a:lnTo>
                  <a:cubicBezTo>
                    <a:pt x="111125" y="4658487"/>
                    <a:pt x="0" y="4547362"/>
                    <a:pt x="0" y="441020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8168135" y="3128220"/>
            <a:ext cx="204698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355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Impact sur la cible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81320" y="3476777"/>
            <a:ext cx="620611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62775" y="4850159"/>
            <a:ext cx="4512945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cas de maintenance sur 19 697 (0,03 %)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01500" y="2636491"/>
            <a:ext cx="5067300" cy="3493884"/>
            <a:chOff x="0" y="0"/>
            <a:chExt cx="6756400" cy="46585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56400" cy="4658487"/>
            </a:xfrm>
            <a:custGeom>
              <a:avLst/>
              <a:gdLst/>
              <a:ahLst/>
              <a:cxnLst/>
              <a:rect l="l" t="t" r="r" b="b"/>
              <a:pathLst>
                <a:path w="6756400" h="4658487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6502400" y="0"/>
                  </a:lnTo>
                  <a:cubicBezTo>
                    <a:pt x="6642608" y="0"/>
                    <a:pt x="6756400" y="113665"/>
                    <a:pt x="6756400" y="254000"/>
                  </a:cubicBezTo>
                  <a:lnTo>
                    <a:pt x="6756400" y="4404487"/>
                  </a:lnTo>
                  <a:cubicBezTo>
                    <a:pt x="6756400" y="4544695"/>
                    <a:pt x="6642735" y="4658487"/>
                    <a:pt x="6502400" y="4658487"/>
                  </a:cubicBezTo>
                  <a:lnTo>
                    <a:pt x="254000" y="4658487"/>
                  </a:lnTo>
                  <a:cubicBezTo>
                    <a:pt x="113792" y="4658487"/>
                    <a:pt x="0" y="4544822"/>
                    <a:pt x="0" y="4404487"/>
                  </a:cubicBezTo>
                  <a:close/>
                </a:path>
              </a:pathLst>
            </a:custGeom>
            <a:solidFill>
              <a:srgbClr val="232B36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3647239" y="3301451"/>
            <a:ext cx="185187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1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Après nettoyage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76634" y="3650009"/>
            <a:ext cx="3004537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99 963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47832" y="5023399"/>
            <a:ext cx="4299871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lignes, 0 vibration négative restante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19200" y="6473276"/>
            <a:ext cx="8570566" cy="2289724"/>
            <a:chOff x="0" y="0"/>
            <a:chExt cx="11427422" cy="30529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427333" cy="3052953"/>
            </a:xfrm>
            <a:custGeom>
              <a:avLst/>
              <a:gdLst/>
              <a:ahLst/>
              <a:cxnLst/>
              <a:rect l="l" t="t" r="r" b="b"/>
              <a:pathLst>
                <a:path w="11427333" h="3052953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11178667" y="0"/>
                  </a:lnTo>
                  <a:cubicBezTo>
                    <a:pt x="11315954" y="0"/>
                    <a:pt x="11427333" y="111379"/>
                    <a:pt x="11427333" y="248666"/>
                  </a:cubicBezTo>
                  <a:lnTo>
                    <a:pt x="11427333" y="2804287"/>
                  </a:lnTo>
                  <a:cubicBezTo>
                    <a:pt x="11427333" y="2941574"/>
                    <a:pt x="11315954" y="3052953"/>
                    <a:pt x="11178667" y="3052953"/>
                  </a:cubicBezTo>
                  <a:lnTo>
                    <a:pt x="248666" y="3052953"/>
                  </a:lnTo>
                  <a:cubicBezTo>
                    <a:pt x="111379" y="3052953"/>
                    <a:pt x="0" y="2941574"/>
                    <a:pt x="0" y="2804287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533525" y="6701876"/>
            <a:ext cx="8180175" cy="30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Décision retenue : suppression des lignes concernées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4396" y="7240313"/>
            <a:ext cx="8180175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1999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Écartées : valeur absolue  et NULL</a:t>
            </a:r>
          </a:p>
          <a:p>
            <a:pPr algn="l">
              <a:lnSpc>
                <a:spcPts val="2899"/>
              </a:lnSpc>
            </a:pPr>
            <a:r>
              <a:rPr lang="en-US" sz="1999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Retenue : suppression — qualité garantie, aucune donnée inventée.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094566" y="6473276"/>
            <a:ext cx="6974234" cy="2785024"/>
            <a:chOff x="0" y="0"/>
            <a:chExt cx="9298978" cy="37133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98940" cy="3713350"/>
            </a:xfrm>
            <a:custGeom>
              <a:avLst/>
              <a:gdLst/>
              <a:ahLst/>
              <a:cxnLst/>
              <a:rect l="l" t="t" r="r" b="b"/>
              <a:pathLst>
                <a:path w="9298940" h="3713350">
                  <a:moveTo>
                    <a:pt x="0" y="302456"/>
                  </a:moveTo>
                  <a:cubicBezTo>
                    <a:pt x="0" y="135472"/>
                    <a:pt x="111379" y="0"/>
                    <a:pt x="248666" y="0"/>
                  </a:cubicBezTo>
                  <a:lnTo>
                    <a:pt x="9050274" y="0"/>
                  </a:lnTo>
                  <a:cubicBezTo>
                    <a:pt x="9187561" y="0"/>
                    <a:pt x="9298940" y="135472"/>
                    <a:pt x="9298940" y="302456"/>
                  </a:cubicBezTo>
                  <a:lnTo>
                    <a:pt x="9298940" y="3410894"/>
                  </a:lnTo>
                  <a:cubicBezTo>
                    <a:pt x="9298940" y="3577878"/>
                    <a:pt x="9187561" y="3713350"/>
                    <a:pt x="9050274" y="3713350"/>
                  </a:cubicBezTo>
                  <a:lnTo>
                    <a:pt x="248666" y="3713350"/>
                  </a:lnTo>
                  <a:cubicBezTo>
                    <a:pt x="111379" y="3713350"/>
                    <a:pt x="0" y="3577878"/>
                    <a:pt x="0" y="34108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332691" y="6644726"/>
            <a:ext cx="66929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6B6355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PREUVE TERMINAL — après nettoyage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332691" y="6967424"/>
            <a:ext cx="4982774" cy="980914"/>
            <a:chOff x="0" y="0"/>
            <a:chExt cx="5809410" cy="1143647"/>
          </a:xfrm>
        </p:grpSpPr>
        <p:sp>
          <p:nvSpPr>
            <p:cNvPr id="27" name="Freeform 27" descr="Terminal dbt show : total_lignes = 99963"/>
            <p:cNvSpPr/>
            <p:nvPr/>
          </p:nvSpPr>
          <p:spPr>
            <a:xfrm>
              <a:off x="0" y="0"/>
              <a:ext cx="5809448" cy="1143647"/>
            </a:xfrm>
            <a:custGeom>
              <a:avLst/>
              <a:gdLst/>
              <a:ahLst/>
              <a:cxnLst/>
              <a:rect l="l" t="t" r="r" b="b"/>
              <a:pathLst>
                <a:path w="5809448" h="1143647">
                  <a:moveTo>
                    <a:pt x="0" y="0"/>
                  </a:moveTo>
                  <a:lnTo>
                    <a:pt x="5809448" y="0"/>
                  </a:lnTo>
                  <a:lnTo>
                    <a:pt x="5809448" y="1143647"/>
                  </a:lnTo>
                  <a:lnTo>
                    <a:pt x="0" y="114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94" b="-595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2308877" y="8062638"/>
            <a:ext cx="4577782" cy="876120"/>
            <a:chOff x="0" y="0"/>
            <a:chExt cx="5164531" cy="988415"/>
          </a:xfrm>
        </p:grpSpPr>
        <p:sp>
          <p:nvSpPr>
            <p:cNvPr id="29" name="Freeform 29" descr="Terminal dbt show : lignes_negatives = 0"/>
            <p:cNvSpPr/>
            <p:nvPr/>
          </p:nvSpPr>
          <p:spPr>
            <a:xfrm>
              <a:off x="0" y="0"/>
              <a:ext cx="5164582" cy="988415"/>
            </a:xfrm>
            <a:custGeom>
              <a:avLst/>
              <a:gdLst/>
              <a:ahLst/>
              <a:cxnLst/>
              <a:rect l="l" t="t" r="r" b="b"/>
              <a:pathLst>
                <a:path w="5164582" h="988415">
                  <a:moveTo>
                    <a:pt x="0" y="0"/>
                  </a:moveTo>
                  <a:lnTo>
                    <a:pt x="5164582" y="0"/>
                  </a:lnTo>
                  <a:lnTo>
                    <a:pt x="5164582" y="988415"/>
                  </a:lnTo>
                  <a:lnTo>
                    <a:pt x="0" y="98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1" b="-111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219200" y="9345959"/>
            <a:ext cx="5774388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MLOps &amp; DataOps — Maintenance Prédictive Industrielle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54162" y="9345959"/>
            <a:ext cx="2899077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Analytics Engineering — 2/4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8199" y="804862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 b="1">
                <a:solidFill>
                  <a:srgbClr val="AB5B2A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DATA PROFILING — LIMITES DU JEU DE DONNÉES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693516"/>
            <a:ext cx="834896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1F243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Documenter, sans corriger sans preuve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556424"/>
            <a:ext cx="8824912" cy="6206576"/>
            <a:chOff x="0" y="0"/>
            <a:chExt cx="11766550" cy="82754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766550" cy="8275448"/>
            </a:xfrm>
            <a:custGeom>
              <a:avLst/>
              <a:gdLst/>
              <a:ahLst/>
              <a:cxnLst/>
              <a:rect l="l" t="t" r="r" b="b"/>
              <a:pathLst>
                <a:path w="11766550" h="8275448">
                  <a:moveTo>
                    <a:pt x="0" y="248031"/>
                  </a:moveTo>
                  <a:cubicBezTo>
                    <a:pt x="0" y="110998"/>
                    <a:pt x="110998" y="0"/>
                    <a:pt x="248031" y="0"/>
                  </a:cubicBezTo>
                  <a:lnTo>
                    <a:pt x="11518519" y="0"/>
                  </a:lnTo>
                  <a:cubicBezTo>
                    <a:pt x="11655551" y="0"/>
                    <a:pt x="11766550" y="110998"/>
                    <a:pt x="11766550" y="248031"/>
                  </a:cubicBezTo>
                  <a:lnTo>
                    <a:pt x="11766550" y="8027416"/>
                  </a:lnTo>
                  <a:cubicBezTo>
                    <a:pt x="11766550" y="8164449"/>
                    <a:pt x="11655551" y="8275448"/>
                    <a:pt x="11518519" y="8275448"/>
                  </a:cubicBezTo>
                  <a:lnTo>
                    <a:pt x="248031" y="8275448"/>
                  </a:lnTo>
                  <a:cubicBezTo>
                    <a:pt x="110998" y="8275447"/>
                    <a:pt x="0" y="8164449"/>
                    <a:pt x="0" y="8027416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4E0D8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571625" y="2870749"/>
            <a:ext cx="8363664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failure_type parmi les machines en panne (machine_status = 2)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57007" y="3492760"/>
            <a:ext cx="3836581" cy="2181225"/>
            <a:chOff x="0" y="0"/>
            <a:chExt cx="5115442" cy="2908300"/>
          </a:xfrm>
        </p:grpSpPr>
        <p:sp>
          <p:nvSpPr>
            <p:cNvPr id="8" name="Freeform 8" descr="Repartition des types de panne parmi 10053 machines en panne : Vibration Issue 3129, Overheating 1987, Pressure Drop 1968, Normal 1956 en rouge car incoherent, Electrical Fault 1013"/>
            <p:cNvSpPr/>
            <p:nvPr/>
          </p:nvSpPr>
          <p:spPr>
            <a:xfrm>
              <a:off x="0" y="0"/>
              <a:ext cx="5115442" cy="2908300"/>
            </a:xfrm>
            <a:custGeom>
              <a:avLst/>
              <a:gdLst/>
              <a:ahLst/>
              <a:cxnLst/>
              <a:rect l="l" t="t" r="r" b="b"/>
              <a:pathLst>
                <a:path w="5115442" h="2908300">
                  <a:moveTo>
                    <a:pt x="0" y="0"/>
                  </a:moveTo>
                  <a:lnTo>
                    <a:pt x="5115442" y="0"/>
                  </a:lnTo>
                  <a:lnTo>
                    <a:pt x="5115442" y="2908300"/>
                  </a:lnTo>
                  <a:lnTo>
                    <a:pt x="0" y="290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9" b="-12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449824" y="6281652"/>
            <a:ext cx="8363664" cy="94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1 956 machines en panne (≈19 %) portent la mention "Normal" — incohérence probablement liée au caractère synthétique du dataset .</a:t>
            </a:r>
          </a:p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Non corrigée : aucune source ne permet de justifier une correction.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425112" y="2556424"/>
            <a:ext cx="6643688" cy="2988916"/>
            <a:chOff x="0" y="0"/>
            <a:chExt cx="8858250" cy="3985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58250" cy="3985260"/>
            </a:xfrm>
            <a:custGeom>
              <a:avLst/>
              <a:gdLst/>
              <a:ahLst/>
              <a:cxnLst/>
              <a:rect l="l" t="t" r="r" b="b"/>
              <a:pathLst>
                <a:path w="8858250" h="398526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8604250" y="0"/>
                  </a:lnTo>
                  <a:cubicBezTo>
                    <a:pt x="8744585" y="0"/>
                    <a:pt x="8858250" y="113665"/>
                    <a:pt x="8858250" y="254000"/>
                  </a:cubicBezTo>
                  <a:lnTo>
                    <a:pt x="8858250" y="3731260"/>
                  </a:lnTo>
                  <a:cubicBezTo>
                    <a:pt x="8858250" y="3871595"/>
                    <a:pt x="8744585" y="3985260"/>
                    <a:pt x="8604250" y="3985260"/>
                  </a:cubicBezTo>
                  <a:lnTo>
                    <a:pt x="254000" y="3985260"/>
                  </a:lnTo>
                  <a:cubicBezTo>
                    <a:pt x="113665" y="3985260"/>
                    <a:pt x="0" y="3871595"/>
                    <a:pt x="0" y="3731260"/>
                  </a:cubicBezTo>
                  <a:close/>
                </a:path>
              </a:pathLst>
            </a:custGeom>
            <a:solidFill>
              <a:srgbClr val="232B36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729912" y="3210820"/>
            <a:ext cx="621511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downtime_risk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29912" y="3570837"/>
            <a:ext cx="6215110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F2EFE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8 904 / 8 914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29912" y="4271810"/>
            <a:ext cx="621511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B71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valeurs exactement égales à anomaly_flag quand celui-ci vaut 1 — quasi-redondante, peu d'information propre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425112" y="5773941"/>
            <a:ext cx="6643688" cy="2989059"/>
            <a:chOff x="0" y="0"/>
            <a:chExt cx="8858250" cy="39854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58250" cy="3985387"/>
            </a:xfrm>
            <a:custGeom>
              <a:avLst/>
              <a:gdLst/>
              <a:ahLst/>
              <a:cxnLst/>
              <a:rect l="l" t="t" r="r" b="b"/>
              <a:pathLst>
                <a:path w="8858250" h="3985387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8604250" y="0"/>
                  </a:lnTo>
                  <a:cubicBezTo>
                    <a:pt x="8744585" y="0"/>
                    <a:pt x="8858250" y="113665"/>
                    <a:pt x="8858250" y="254000"/>
                  </a:cubicBezTo>
                  <a:lnTo>
                    <a:pt x="8858250" y="3731387"/>
                  </a:lnTo>
                  <a:cubicBezTo>
                    <a:pt x="8858250" y="3871722"/>
                    <a:pt x="8744585" y="3985387"/>
                    <a:pt x="8604250" y="3985387"/>
                  </a:cubicBezTo>
                  <a:lnTo>
                    <a:pt x="254000" y="3985387"/>
                  </a:lnTo>
                  <a:cubicBezTo>
                    <a:pt x="113665" y="3985387"/>
                    <a:pt x="0" y="3871722"/>
                    <a:pt x="0" y="3731387"/>
                  </a:cubicBezTo>
                  <a:close/>
                </a:path>
              </a:pathLst>
            </a:custGeom>
            <a:solidFill>
              <a:srgbClr val="232B36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729912" y="6428337"/>
            <a:ext cx="621511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predicted_remaining_life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29912" y="6788353"/>
            <a:ext cx="6215110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F2EFE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234,5 / 234,4 / 233,1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29912" y="7489327"/>
            <a:ext cx="621511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B71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moyenne quasi identique selon l'état machine (arrêt / marche / panne) — faible valeur prédictive apparente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9200" y="9345959"/>
            <a:ext cx="5774388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MLOps &amp; DataOps — Maintenance Prédictive Industrielle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52524" y="9345959"/>
            <a:ext cx="2900763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Analytics Engineering — 3/4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TESTS QUALITÉ — DATA CONTRACT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693516"/>
            <a:ext cx="16325088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>
                <a:solidFill>
                  <a:srgbClr val="F2EFE8"/>
                </a:solidFill>
                <a:latin typeface="Georgia"/>
                <a:ea typeface="Georgia"/>
                <a:cs typeface="Georgia"/>
                <a:sym typeface="Georgia"/>
              </a:rPr>
              <a:t>18 tests, un contrat de schéma actif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769841"/>
            <a:ext cx="2701975" cy="102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4"/>
              </a:lnSpc>
            </a:pPr>
            <a:r>
              <a:rPr lang="en-US" sz="7594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18/18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3792884"/>
            <a:ext cx="5653602" cy="2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1681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tests qualité réussis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4314225"/>
            <a:ext cx="5653602" cy="249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9A948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(PASS = 18, ERROR = 0)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4943180"/>
            <a:ext cx="5653602" cy="249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C7C2B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clean_machine_data : 13 tests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5243808"/>
            <a:ext cx="5653602" cy="249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C7C2B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ml_features : 5 tests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9200" y="5753995"/>
            <a:ext cx="5488934" cy="1846955"/>
            <a:chOff x="0" y="0"/>
            <a:chExt cx="7318578" cy="246260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8629" cy="2462657"/>
            </a:xfrm>
            <a:custGeom>
              <a:avLst/>
              <a:gdLst/>
              <a:ahLst/>
              <a:cxnLst/>
              <a:rect l="l" t="t" r="r" b="b"/>
              <a:pathLst>
                <a:path w="7318629" h="2462657">
                  <a:moveTo>
                    <a:pt x="0" y="249526"/>
                  </a:moveTo>
                  <a:cubicBezTo>
                    <a:pt x="0" y="111663"/>
                    <a:pt x="90932" y="0"/>
                    <a:pt x="203200" y="0"/>
                  </a:cubicBezTo>
                  <a:lnTo>
                    <a:pt x="7115429" y="0"/>
                  </a:lnTo>
                  <a:cubicBezTo>
                    <a:pt x="7227698" y="0"/>
                    <a:pt x="7318629" y="111663"/>
                    <a:pt x="7318629" y="249526"/>
                  </a:cubicBezTo>
                  <a:lnTo>
                    <a:pt x="7318629" y="2213142"/>
                  </a:lnTo>
                  <a:cubicBezTo>
                    <a:pt x="7318629" y="2351006"/>
                    <a:pt x="7227698" y="2462657"/>
                    <a:pt x="7115429" y="2462657"/>
                  </a:cubicBezTo>
                  <a:lnTo>
                    <a:pt x="203200" y="2462657"/>
                  </a:lnTo>
                  <a:cubicBezTo>
                    <a:pt x="90932" y="2462657"/>
                    <a:pt x="0" y="2351006"/>
                    <a:pt x="0" y="2213142"/>
                  </a:cubicBezTo>
                  <a:close/>
                </a:path>
              </a:pathLst>
            </a:custGeom>
            <a:solidFill>
              <a:srgbClr val="1B2129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409700" y="5877820"/>
            <a:ext cx="5261172" cy="16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9"/>
              </a:lnSpc>
            </a:pPr>
            <a:r>
              <a:rPr lang="en-US" sz="934" b="1">
                <a:solidFill>
                  <a:srgbClr val="9A948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PREUVE TERMINAL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9200" y="6259684"/>
            <a:ext cx="5451672" cy="547294"/>
            <a:chOff x="0" y="0"/>
            <a:chExt cx="5914669" cy="593775"/>
          </a:xfrm>
        </p:grpSpPr>
        <p:sp>
          <p:nvSpPr>
            <p:cNvPr id="13" name="Freeform 13" descr="Terminal : Done PASS=13 pour clean_machine_data"/>
            <p:cNvSpPr/>
            <p:nvPr/>
          </p:nvSpPr>
          <p:spPr>
            <a:xfrm>
              <a:off x="0" y="0"/>
              <a:ext cx="5914634" cy="593826"/>
            </a:xfrm>
            <a:custGeom>
              <a:avLst/>
              <a:gdLst/>
              <a:ahLst/>
              <a:cxnLst/>
              <a:rect l="l" t="t" r="r" b="b"/>
              <a:pathLst>
                <a:path w="5914634" h="593826">
                  <a:moveTo>
                    <a:pt x="0" y="0"/>
                  </a:moveTo>
                  <a:lnTo>
                    <a:pt x="5914634" y="0"/>
                  </a:lnTo>
                  <a:lnTo>
                    <a:pt x="5914634" y="593826"/>
                  </a:lnTo>
                  <a:lnTo>
                    <a:pt x="0" y="593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14" t="-8" r="-441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66895" y="6938646"/>
            <a:ext cx="5303977" cy="554351"/>
            <a:chOff x="0" y="0"/>
            <a:chExt cx="5623712" cy="587769"/>
          </a:xfrm>
        </p:grpSpPr>
        <p:sp>
          <p:nvSpPr>
            <p:cNvPr id="15" name="Freeform 15" descr="Terminal : Done PASS=5 pour ml_features"/>
            <p:cNvSpPr/>
            <p:nvPr/>
          </p:nvSpPr>
          <p:spPr>
            <a:xfrm>
              <a:off x="0" y="0"/>
              <a:ext cx="5623687" cy="587756"/>
            </a:xfrm>
            <a:custGeom>
              <a:avLst/>
              <a:gdLst/>
              <a:ahLst/>
              <a:cxnLst/>
              <a:rect l="l" t="t" r="r" b="b"/>
              <a:pathLst>
                <a:path w="5623687" h="587756">
                  <a:moveTo>
                    <a:pt x="0" y="0"/>
                  </a:moveTo>
                  <a:lnTo>
                    <a:pt x="5623687" y="0"/>
                  </a:lnTo>
                  <a:lnTo>
                    <a:pt x="5623687" y="587756"/>
                  </a:lnTo>
                  <a:lnTo>
                    <a:pt x="0" y="587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2" b="-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089134" y="2636491"/>
            <a:ext cx="9979666" cy="1020813"/>
            <a:chOff x="0" y="0"/>
            <a:chExt cx="13306222" cy="13610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306171" cy="1361059"/>
            </a:xfrm>
            <a:custGeom>
              <a:avLst/>
              <a:gdLst/>
              <a:ahLst/>
              <a:cxnLst/>
              <a:rect l="l" t="t" r="r" b="b"/>
              <a:pathLst>
                <a:path w="13306171" h="1361059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3102971" y="0"/>
                  </a:lnTo>
                  <a:cubicBezTo>
                    <a:pt x="13215238" y="0"/>
                    <a:pt x="13306171" y="90932"/>
                    <a:pt x="13306171" y="203200"/>
                  </a:cubicBezTo>
                  <a:lnTo>
                    <a:pt x="13306171" y="1157859"/>
                  </a:lnTo>
                  <a:cubicBezTo>
                    <a:pt x="13306171" y="1270127"/>
                    <a:pt x="13215238" y="1361059"/>
                    <a:pt x="13102971" y="1361059"/>
                  </a:cubicBezTo>
                  <a:lnTo>
                    <a:pt x="203200" y="1361059"/>
                  </a:lnTo>
                  <a:cubicBezTo>
                    <a:pt x="90932" y="1361059"/>
                    <a:pt x="0" y="1270127"/>
                    <a:pt x="0" y="1157859"/>
                  </a:cubicBezTo>
                  <a:close/>
                </a:path>
              </a:pathLst>
            </a:custGeom>
            <a:solidFill>
              <a:srgbClr val="2C354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7317734" y="2788891"/>
            <a:ext cx="4127868" cy="22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Tests structurels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7734" y="3053658"/>
            <a:ext cx="412786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499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not_null, unicité (machine_id, recorded_at)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30177" y="2798416"/>
            <a:ext cx="5366328" cy="20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203" b="1">
                <a:solidFill>
                  <a:srgbClr val="C1652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Tests métier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30177" y="3050229"/>
            <a:ext cx="5366328" cy="49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450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vibration ≥ 0 — humidity 0–100 — machine_status ∈ {0,1,2} — failure_type (5 valeurs)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089134" y="3809705"/>
            <a:ext cx="9979666" cy="1846507"/>
            <a:chOff x="0" y="0"/>
            <a:chExt cx="13306222" cy="24620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306298" cy="2462022"/>
            </a:xfrm>
            <a:custGeom>
              <a:avLst/>
              <a:gdLst/>
              <a:ahLst/>
              <a:cxnLst/>
              <a:rect l="l" t="t" r="r" b="b"/>
              <a:pathLst>
                <a:path w="13306298" h="2462022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3103098" y="0"/>
                  </a:lnTo>
                  <a:cubicBezTo>
                    <a:pt x="13215365" y="0"/>
                    <a:pt x="13306298" y="90932"/>
                    <a:pt x="13306298" y="203200"/>
                  </a:cubicBezTo>
                  <a:lnTo>
                    <a:pt x="13306298" y="2258822"/>
                  </a:lnTo>
                  <a:cubicBezTo>
                    <a:pt x="13306298" y="2371090"/>
                    <a:pt x="13215365" y="2462022"/>
                    <a:pt x="13103098" y="2462022"/>
                  </a:cubicBezTo>
                  <a:lnTo>
                    <a:pt x="203200" y="2462022"/>
                  </a:lnTo>
                  <a:cubicBezTo>
                    <a:pt x="90932" y="2462022"/>
                    <a:pt x="0" y="2371090"/>
                    <a:pt x="0" y="22588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7317734" y="3971630"/>
            <a:ext cx="9808140" cy="182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044" b="1">
                <a:solidFill>
                  <a:srgbClr val="6B6355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DATA CONTRACT — EXTRAIT (ml_features.yml)</a:t>
            </a:r>
          </a:p>
        </p:txBody>
      </p:sp>
      <p:sp>
        <p:nvSpPr>
          <p:cNvPr id="25" name="AutoShape 25"/>
          <p:cNvSpPr/>
          <p:nvPr/>
        </p:nvSpPr>
        <p:spPr>
          <a:xfrm rot="3420">
            <a:off x="7312962" y="4506668"/>
            <a:ext cx="9532001" cy="0"/>
          </a:xfrm>
          <a:prstGeom prst="line">
            <a:avLst/>
          </a:prstGeom>
          <a:ln w="9525" cap="rnd">
            <a:solidFill>
              <a:srgbClr val="E4E0D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7317734" y="4269134"/>
            <a:ext cx="2972200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8A84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Colonne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03361" y="4269134"/>
            <a:ext cx="2096100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8A84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Type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23252" y="4269134"/>
            <a:ext cx="4755452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b="1">
                <a:solidFill>
                  <a:srgbClr val="8A847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Règle de validation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7734" y="4592393"/>
            <a:ext cx="29722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machine_id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03361" y="4592393"/>
            <a:ext cx="2096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BIGINT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23252" y="4592393"/>
            <a:ext cx="475545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NOT NULL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317734" y="4908794"/>
            <a:ext cx="9522466" cy="240354"/>
            <a:chOff x="0" y="0"/>
            <a:chExt cx="12696622" cy="3204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696571" cy="320421"/>
            </a:xfrm>
            <a:custGeom>
              <a:avLst/>
              <a:gdLst/>
              <a:ahLst/>
              <a:cxnLst/>
              <a:rect l="l" t="t" r="r" b="b"/>
              <a:pathLst>
                <a:path w="12696571" h="320421">
                  <a:moveTo>
                    <a:pt x="0" y="0"/>
                  </a:moveTo>
                  <a:lnTo>
                    <a:pt x="12696571" y="0"/>
                  </a:lnTo>
                  <a:lnTo>
                    <a:pt x="12696571" y="320421"/>
                  </a:lnTo>
                  <a:lnTo>
                    <a:pt x="0" y="320421"/>
                  </a:lnTo>
                  <a:close/>
                </a:path>
              </a:pathLst>
            </a:custGeom>
            <a:solidFill>
              <a:srgbClr val="F7F5F0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7317734" y="4908794"/>
            <a:ext cx="29722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maintenance_required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03361" y="4908794"/>
            <a:ext cx="2096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BIGINT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23252" y="4908794"/>
            <a:ext cx="475545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NOT NULL ; valeurs {0,1}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17734" y="5225358"/>
            <a:ext cx="29722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b="1">
                <a:solidFill>
                  <a:srgbClr val="1F243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vibration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03361" y="5225358"/>
            <a:ext cx="209610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DOUBLE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23252" y="5225358"/>
            <a:ext cx="475545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>
                <a:solidFill>
                  <a:srgbClr val="4A46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≥ 0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089134" y="5808612"/>
            <a:ext cx="9979666" cy="1449438"/>
            <a:chOff x="0" y="0"/>
            <a:chExt cx="13306222" cy="1932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306171" cy="1932559"/>
            </a:xfrm>
            <a:custGeom>
              <a:avLst/>
              <a:gdLst/>
              <a:ahLst/>
              <a:cxnLst/>
              <a:rect l="l" t="t" r="r" b="b"/>
              <a:pathLst>
                <a:path w="13306171" h="1932559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3102971" y="0"/>
                  </a:lnTo>
                  <a:cubicBezTo>
                    <a:pt x="13215238" y="0"/>
                    <a:pt x="13306171" y="90932"/>
                    <a:pt x="13306171" y="203200"/>
                  </a:cubicBezTo>
                  <a:lnTo>
                    <a:pt x="13306171" y="1729359"/>
                  </a:lnTo>
                  <a:cubicBezTo>
                    <a:pt x="13306171" y="1841627"/>
                    <a:pt x="13215238" y="1932559"/>
                    <a:pt x="13102971" y="1932559"/>
                  </a:cubicBezTo>
                  <a:lnTo>
                    <a:pt x="203200" y="1932559"/>
                  </a:lnTo>
                  <a:cubicBezTo>
                    <a:pt x="90932" y="1932559"/>
                    <a:pt x="0" y="1841627"/>
                    <a:pt x="0" y="17293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7279634" y="5932437"/>
            <a:ext cx="9886626" cy="19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5"/>
              </a:lnSpc>
            </a:pPr>
            <a:r>
              <a:rPr lang="en-US" sz="1096" b="1">
                <a:solidFill>
                  <a:srgbClr val="6B6355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PREUVE — dbt docs, table ml_features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7279634" y="6206881"/>
            <a:ext cx="4389682" cy="898769"/>
            <a:chOff x="0" y="0"/>
            <a:chExt cx="5852909" cy="1198359"/>
          </a:xfrm>
        </p:grpSpPr>
        <p:sp>
          <p:nvSpPr>
            <p:cNvPr id="44" name="Freeform 44" descr="Page de documentation dbt pour ml_features montrant Contract: Enforced"/>
            <p:cNvSpPr/>
            <p:nvPr/>
          </p:nvSpPr>
          <p:spPr>
            <a:xfrm>
              <a:off x="0" y="0"/>
              <a:ext cx="5852922" cy="1198372"/>
            </a:xfrm>
            <a:custGeom>
              <a:avLst/>
              <a:gdLst/>
              <a:ahLst/>
              <a:cxnLst/>
              <a:rect l="l" t="t" r="r" b="b"/>
              <a:pathLst>
                <a:path w="5852922" h="1198372">
                  <a:moveTo>
                    <a:pt x="0" y="0"/>
                  </a:moveTo>
                  <a:lnTo>
                    <a:pt x="5852922" y="0"/>
                  </a:lnTo>
                  <a:lnTo>
                    <a:pt x="5852922" y="1198372"/>
                  </a:lnTo>
                  <a:lnTo>
                    <a:pt x="0" y="1198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1" b="2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219200" y="7600950"/>
            <a:ext cx="15849600" cy="1162050"/>
            <a:chOff x="0" y="0"/>
            <a:chExt cx="21132800" cy="1549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132800" cy="1549400"/>
            </a:xfrm>
            <a:custGeom>
              <a:avLst/>
              <a:gdLst/>
              <a:ahLst/>
              <a:cxnLst/>
              <a:rect l="l" t="t" r="r" b="b"/>
              <a:pathLst>
                <a:path w="21132800" h="1549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0904200" y="0"/>
                  </a:lnTo>
                  <a:cubicBezTo>
                    <a:pt x="21030437" y="0"/>
                    <a:pt x="21132800" y="102362"/>
                    <a:pt x="21132800" y="228600"/>
                  </a:cubicBezTo>
                  <a:lnTo>
                    <a:pt x="21132800" y="1320800"/>
                  </a:lnTo>
                  <a:cubicBezTo>
                    <a:pt x="21132800" y="1447038"/>
                    <a:pt x="21030437" y="1549400"/>
                    <a:pt x="20904200" y="1549400"/>
                  </a:cubicBezTo>
                  <a:lnTo>
                    <a:pt x="228600" y="1549400"/>
                  </a:lnTo>
                  <a:cubicBezTo>
                    <a:pt x="102362" y="1549400"/>
                    <a:pt x="0" y="1447038"/>
                    <a:pt x="0" y="1320800"/>
                  </a:cubicBezTo>
                  <a:close/>
                </a:path>
              </a:pathLst>
            </a:custGeom>
            <a:solidFill>
              <a:srgbClr val="2C3542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1409700" y="7781925"/>
            <a:ext cx="15618714" cy="71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1949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 </a:t>
            </a:r>
            <a:r>
              <a:rPr lang="en-US" sz="1949" b="1">
                <a:solidFill>
                  <a:srgbClr val="F2EFE8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Data Contract</a:t>
            </a:r>
            <a:r>
              <a:rPr lang="en-US" sz="1949">
                <a:solidFill>
                  <a:srgbClr val="F2EFE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ne décrit que ce qui est garanti  — les observations issues de l'analyse exploratoire sont documentées séparément, pour ne pas mélanger un engagement stable avec une analyse ponctuelle.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19200" y="9345959"/>
            <a:ext cx="5494477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MLOps &amp; DataOps — Maintenance Prédictive Industrielle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436328" y="9345959"/>
            <a:ext cx="2711444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8A84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Analytics Engineering — 4/4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301752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797" b="-28379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34440" y="3010376"/>
            <a:ext cx="8229600" cy="487204"/>
            <a:chOff x="0" y="0"/>
            <a:chExt cx="10972800" cy="6496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49605"/>
            </a:xfrm>
            <a:custGeom>
              <a:avLst/>
              <a:gdLst/>
              <a:ahLst/>
              <a:cxnLst/>
              <a:rect l="l" t="t" r="r" b="b"/>
              <a:pathLst>
                <a:path w="10972800" h="649605">
                  <a:moveTo>
                    <a:pt x="0" y="0"/>
                  </a:moveTo>
                  <a:lnTo>
                    <a:pt x="10972800" y="0"/>
                  </a:lnTo>
                  <a:lnTo>
                    <a:pt x="10972800" y="649605"/>
                  </a:lnTo>
                  <a:lnTo>
                    <a:pt x="0" y="649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131" b="-27913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09728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448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PARTIE 2 / 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566160"/>
            <a:ext cx="15087600" cy="1645920"/>
            <a:chOff x="0" y="0"/>
            <a:chExt cx="20116800" cy="21945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116800" cy="2194560"/>
            </a:xfrm>
            <a:custGeom>
              <a:avLst/>
              <a:gdLst/>
              <a:ahLst/>
              <a:cxnLst/>
              <a:rect l="l" t="t" r="r" b="b"/>
              <a:pathLst>
                <a:path w="20116800" h="2194560">
                  <a:moveTo>
                    <a:pt x="0" y="0"/>
                  </a:moveTo>
                  <a:lnTo>
                    <a:pt x="20116800" y="0"/>
                  </a:lnTo>
                  <a:lnTo>
                    <a:pt x="2011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8488" b="-12848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34440" y="3559016"/>
            <a:ext cx="15087600" cy="1653064"/>
            <a:chOff x="0" y="0"/>
            <a:chExt cx="20116800" cy="2204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16800" cy="2204085"/>
            </a:xfrm>
            <a:custGeom>
              <a:avLst/>
              <a:gdLst/>
              <a:ahLst/>
              <a:cxnLst/>
              <a:rect l="l" t="t" r="r" b="b"/>
              <a:pathLst>
                <a:path w="20116800" h="2204085">
                  <a:moveTo>
                    <a:pt x="0" y="0"/>
                  </a:moveTo>
                  <a:lnTo>
                    <a:pt x="20116800" y="0"/>
                  </a:lnTo>
                  <a:lnTo>
                    <a:pt x="20116800" y="2204085"/>
                  </a:lnTo>
                  <a:lnTo>
                    <a:pt x="0" y="22040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40" b="-12784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0116800" cy="2213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Orchestration &amp; Machine Learning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" y="5692140"/>
            <a:ext cx="960120" cy="960120"/>
            <a:chOff x="0" y="0"/>
            <a:chExt cx="128016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71295" y="5965774"/>
            <a:ext cx="86392" cy="86392"/>
            <a:chOff x="0" y="0"/>
            <a:chExt cx="115189" cy="1151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189" cy="115189"/>
            </a:xfrm>
            <a:custGeom>
              <a:avLst/>
              <a:gdLst/>
              <a:ahLst/>
              <a:cxnLst/>
              <a:rect l="l" t="t" r="r" b="b"/>
              <a:pathLst>
                <a:path w="115189" h="115189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cubicBezTo>
                    <a:pt x="89535" y="0"/>
                    <a:pt x="115189" y="25781"/>
                    <a:pt x="115189" y="57658"/>
                  </a:cubicBezTo>
                  <a:cubicBezTo>
                    <a:pt x="115189" y="89535"/>
                    <a:pt x="89408" y="115189"/>
                    <a:pt x="57658" y="115189"/>
                  </a:cubicBezTo>
                  <a:cubicBezTo>
                    <a:pt x="25908" y="115189"/>
                    <a:pt x="0" y="89408"/>
                    <a:pt x="0" y="576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824914" y="6244209"/>
            <a:ext cx="86392" cy="86392"/>
            <a:chOff x="0" y="0"/>
            <a:chExt cx="115189" cy="1151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5189" cy="115189"/>
            </a:xfrm>
            <a:custGeom>
              <a:avLst/>
              <a:gdLst/>
              <a:ahLst/>
              <a:cxnLst/>
              <a:rect l="l" t="t" r="r" b="b"/>
              <a:pathLst>
                <a:path w="115189" h="115189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cubicBezTo>
                    <a:pt x="89535" y="0"/>
                    <a:pt x="115189" y="25781"/>
                    <a:pt x="115189" y="57658"/>
                  </a:cubicBezTo>
                  <a:cubicBezTo>
                    <a:pt x="115189" y="89535"/>
                    <a:pt x="89408" y="115189"/>
                    <a:pt x="57658" y="115189"/>
                  </a:cubicBezTo>
                  <a:cubicBezTo>
                    <a:pt x="25908" y="115189"/>
                    <a:pt x="0" y="89408"/>
                    <a:pt x="0" y="576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517675" y="6244209"/>
            <a:ext cx="86392" cy="86392"/>
            <a:chOff x="0" y="0"/>
            <a:chExt cx="115189" cy="1151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5189" cy="115189"/>
            </a:xfrm>
            <a:custGeom>
              <a:avLst/>
              <a:gdLst/>
              <a:ahLst/>
              <a:cxnLst/>
              <a:rect l="l" t="t" r="r" b="b"/>
              <a:pathLst>
                <a:path w="115189" h="115189">
                  <a:moveTo>
                    <a:pt x="0" y="57658"/>
                  </a:moveTo>
                  <a:cubicBezTo>
                    <a:pt x="0" y="25781"/>
                    <a:pt x="25781" y="0"/>
                    <a:pt x="57658" y="0"/>
                  </a:cubicBezTo>
                  <a:cubicBezTo>
                    <a:pt x="89535" y="0"/>
                    <a:pt x="115189" y="25781"/>
                    <a:pt x="115189" y="57658"/>
                  </a:cubicBezTo>
                  <a:cubicBezTo>
                    <a:pt x="115189" y="89535"/>
                    <a:pt x="89408" y="115189"/>
                    <a:pt x="57658" y="115189"/>
                  </a:cubicBezTo>
                  <a:cubicBezTo>
                    <a:pt x="25908" y="115189"/>
                    <a:pt x="0" y="89408"/>
                    <a:pt x="0" y="576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AutoShape 20"/>
          <p:cNvSpPr/>
          <p:nvPr/>
        </p:nvSpPr>
        <p:spPr>
          <a:xfrm rot="119940">
            <a:off x="1640367" y="6133871"/>
            <a:ext cx="273072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123060">
            <a:off x="1581455" y="6277889"/>
            <a:ext cx="26609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822960" y="6789420"/>
            <a:ext cx="2606040" cy="822960"/>
            <a:chOff x="0" y="0"/>
            <a:chExt cx="347472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822960" y="6775132"/>
            <a:ext cx="2606040" cy="837248"/>
            <a:chOff x="0" y="0"/>
            <a:chExt cx="3474720" cy="111633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Dagster — Orchestration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rot="37140">
            <a:off x="22391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3977640" y="5692140"/>
            <a:ext cx="960120" cy="960120"/>
            <a:chOff x="0" y="0"/>
            <a:chExt cx="1280160" cy="12801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4256075" y="6191402"/>
            <a:ext cx="96012" cy="134398"/>
            <a:chOff x="0" y="0"/>
            <a:chExt cx="128016" cy="1791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8016" cy="179197"/>
            </a:xfrm>
            <a:custGeom>
              <a:avLst/>
              <a:gdLst/>
              <a:ahLst/>
              <a:cxnLst/>
              <a:rect l="l" t="t" r="r" b="b"/>
              <a:pathLst>
                <a:path w="128016" h="179197">
                  <a:moveTo>
                    <a:pt x="0" y="0"/>
                  </a:moveTo>
                  <a:lnTo>
                    <a:pt x="128016" y="0"/>
                  </a:lnTo>
                  <a:lnTo>
                    <a:pt x="128016" y="179197"/>
                  </a:lnTo>
                  <a:lnTo>
                    <a:pt x="0" y="17919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409694" y="6114593"/>
            <a:ext cx="96012" cy="211264"/>
            <a:chOff x="0" y="0"/>
            <a:chExt cx="128016" cy="2816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" cy="281686"/>
            </a:xfrm>
            <a:custGeom>
              <a:avLst/>
              <a:gdLst/>
              <a:ahLst/>
              <a:cxnLst/>
              <a:rect l="l" t="t" r="r" b="b"/>
              <a:pathLst>
                <a:path w="128016" h="281686">
                  <a:moveTo>
                    <a:pt x="0" y="0"/>
                  </a:moveTo>
                  <a:lnTo>
                    <a:pt x="128016" y="0"/>
                  </a:lnTo>
                  <a:lnTo>
                    <a:pt x="128016" y="281686"/>
                  </a:lnTo>
                  <a:lnTo>
                    <a:pt x="0" y="2816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4563313" y="6037783"/>
            <a:ext cx="96012" cy="288036"/>
            <a:chOff x="0" y="0"/>
            <a:chExt cx="128016" cy="3840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8016" cy="384048"/>
            </a:xfrm>
            <a:custGeom>
              <a:avLst/>
              <a:gdLst/>
              <a:ahLst/>
              <a:cxnLst/>
              <a:rect l="l" t="t" r="r" b="b"/>
              <a:pathLst>
                <a:path w="128016" h="384048">
                  <a:moveTo>
                    <a:pt x="0" y="0"/>
                  </a:moveTo>
                  <a:lnTo>
                    <a:pt x="128016" y="0"/>
                  </a:lnTo>
                  <a:lnTo>
                    <a:pt x="128016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566160" y="6789420"/>
            <a:ext cx="2606040" cy="822960"/>
            <a:chOff x="0" y="0"/>
            <a:chExt cx="3474720" cy="10972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3566160" y="6775132"/>
            <a:ext cx="2606040" cy="837248"/>
            <a:chOff x="0" y="0"/>
            <a:chExt cx="3474720" cy="111633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Machine Learning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rot="37140">
            <a:off x="49823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6720840" y="5692140"/>
            <a:ext cx="960120" cy="960120"/>
            <a:chOff x="0" y="0"/>
            <a:chExt cx="1280160" cy="12801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989674" y="6042584"/>
            <a:ext cx="422434" cy="67246"/>
            <a:chOff x="0" y="0"/>
            <a:chExt cx="563245" cy="8966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63245" cy="89662"/>
            </a:xfrm>
            <a:custGeom>
              <a:avLst/>
              <a:gdLst/>
              <a:ahLst/>
              <a:cxnLst/>
              <a:rect l="l" t="t" r="r" b="b"/>
              <a:pathLst>
                <a:path w="563245" h="89662">
                  <a:moveTo>
                    <a:pt x="0" y="0"/>
                  </a:moveTo>
                  <a:lnTo>
                    <a:pt x="563245" y="0"/>
                  </a:lnTo>
                  <a:lnTo>
                    <a:pt x="563245" y="89662"/>
                  </a:lnTo>
                  <a:lnTo>
                    <a:pt x="0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7018477" y="6138596"/>
            <a:ext cx="422434" cy="67246"/>
            <a:chOff x="0" y="0"/>
            <a:chExt cx="563245" cy="8966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63245" cy="89662"/>
            </a:xfrm>
            <a:custGeom>
              <a:avLst/>
              <a:gdLst/>
              <a:ahLst/>
              <a:cxnLst/>
              <a:rect l="l" t="t" r="r" b="b"/>
              <a:pathLst>
                <a:path w="563245" h="89662">
                  <a:moveTo>
                    <a:pt x="0" y="0"/>
                  </a:moveTo>
                  <a:lnTo>
                    <a:pt x="563245" y="0"/>
                  </a:lnTo>
                  <a:lnTo>
                    <a:pt x="563245" y="89662"/>
                  </a:lnTo>
                  <a:lnTo>
                    <a:pt x="0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7047281" y="6234608"/>
            <a:ext cx="422434" cy="67246"/>
            <a:chOff x="0" y="0"/>
            <a:chExt cx="563245" cy="8966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63245" cy="89662"/>
            </a:xfrm>
            <a:custGeom>
              <a:avLst/>
              <a:gdLst/>
              <a:ahLst/>
              <a:cxnLst/>
              <a:rect l="l" t="t" r="r" b="b"/>
              <a:pathLst>
                <a:path w="563245" h="89662">
                  <a:moveTo>
                    <a:pt x="0" y="0"/>
                  </a:moveTo>
                  <a:lnTo>
                    <a:pt x="563245" y="0"/>
                  </a:lnTo>
                  <a:lnTo>
                    <a:pt x="563245" y="89662"/>
                  </a:lnTo>
                  <a:lnTo>
                    <a:pt x="0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6309360" y="6789420"/>
            <a:ext cx="2606040" cy="822960"/>
            <a:chOff x="0" y="0"/>
            <a:chExt cx="3474720" cy="10972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6309360" y="6775132"/>
            <a:ext cx="2606040" cy="837248"/>
            <a:chOff x="0" y="0"/>
            <a:chExt cx="3474720" cy="111633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MLflow — Tracking &amp; Registry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17220"/>
            <a:ext cx="2743200" cy="822960"/>
            <a:chOff x="0" y="0"/>
            <a:chExt cx="3657600" cy="1097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1097280"/>
            </a:xfrm>
            <a:custGeom>
              <a:avLst/>
              <a:gdLst/>
              <a:ahLst/>
              <a:cxnLst/>
              <a:rect l="l" t="t" r="r" b="b"/>
              <a:pathLst>
                <a:path w="3657600" h="1097280">
                  <a:moveTo>
                    <a:pt x="0" y="0"/>
                  </a:moveTo>
                  <a:lnTo>
                    <a:pt x="3657600" y="0"/>
                  </a:lnTo>
                  <a:lnTo>
                    <a:pt x="3657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65760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165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65860"/>
            <a:ext cx="15773400" cy="1508760"/>
            <a:chOff x="0" y="0"/>
            <a:chExt cx="21031200" cy="20116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2011680"/>
            </a:xfrm>
            <a:custGeom>
              <a:avLst/>
              <a:gdLst/>
              <a:ahLst/>
              <a:cxnLst/>
              <a:rect l="l" t="t" r="r" b="b"/>
              <a:pathLst>
                <a:path w="21031200" h="201168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3707" b="-15370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031200" cy="202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Orchestration avec Dagster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400300"/>
            <a:ext cx="14401800" cy="822960"/>
            <a:chOff x="0" y="0"/>
            <a:chExt cx="19202400" cy="10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0" cy="1097280"/>
            </a:xfrm>
            <a:custGeom>
              <a:avLst/>
              <a:gdLst/>
              <a:ahLst/>
              <a:cxnLst/>
              <a:rect l="l" t="t" r="r" b="b"/>
              <a:pathLst>
                <a:path w="19202400" h="109728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988" b="-29098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920240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i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Faire communiquer, de manière fiable et automatisée, les briques ingestion, transformation et Machine Learning du pipeline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2960" y="3771900"/>
            <a:ext cx="754380" cy="754380"/>
            <a:chOff x="0" y="0"/>
            <a:chExt cx="100584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7C5CFC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22960" y="3771900"/>
            <a:ext cx="754380" cy="754380"/>
            <a:chOff x="0" y="0"/>
            <a:chExt cx="100584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20240" y="3703320"/>
            <a:ext cx="14401800" cy="548640"/>
            <a:chOff x="0" y="0"/>
            <a:chExt cx="192024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202400" cy="731520"/>
            </a:xfrm>
            <a:custGeom>
              <a:avLst/>
              <a:gdLst/>
              <a:ahLst/>
              <a:cxnLst/>
              <a:rect l="l" t="t" r="r" b="b"/>
              <a:pathLst>
                <a:path w="19202400" h="73152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9202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problème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20240" y="4251960"/>
            <a:ext cx="14813280" cy="1165860"/>
            <a:chOff x="0" y="0"/>
            <a:chExt cx="19751040" cy="1554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751039" cy="1554480"/>
            </a:xfrm>
            <a:custGeom>
              <a:avLst/>
              <a:gdLst/>
              <a:ahLst/>
              <a:cxnLst/>
              <a:rect l="l" t="t" r="r" b="b"/>
              <a:pathLst>
                <a:path w="19751039" h="1554480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574" b="-19757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975104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Ingestion (dlt), transformation (DuckDB/dbt) et entraînement ML développés séparément par l'équipe → besoin d'un enchaînement fiable, reproductible et supervisable.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2960" y="5623560"/>
            <a:ext cx="754380" cy="754380"/>
            <a:chOff x="0" y="0"/>
            <a:chExt cx="1005840" cy="10058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7C5CFC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822960" y="5623560"/>
            <a:ext cx="754380" cy="754380"/>
            <a:chOff x="0" y="0"/>
            <a:chExt cx="1005840" cy="1005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20240" y="5554980"/>
            <a:ext cx="14401800" cy="548640"/>
            <a:chOff x="0" y="0"/>
            <a:chExt cx="1920240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02400" cy="731520"/>
            </a:xfrm>
            <a:custGeom>
              <a:avLst/>
              <a:gdLst/>
              <a:ahLst/>
              <a:cxnLst/>
              <a:rect l="l" t="t" r="r" b="b"/>
              <a:pathLst>
                <a:path w="19202400" h="73152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9202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rôle de Dagster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20240" y="6103620"/>
            <a:ext cx="14813280" cy="1165860"/>
            <a:chOff x="0" y="0"/>
            <a:chExt cx="19751040" cy="15544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751039" cy="1554480"/>
            </a:xfrm>
            <a:custGeom>
              <a:avLst/>
              <a:gdLst/>
              <a:ahLst/>
              <a:cxnLst/>
              <a:rect l="l" t="t" r="r" b="b"/>
              <a:pathLst>
                <a:path w="19751039" h="1554480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574" b="-197574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1975104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Chaque étape devient un asset ; les dépendances sont déclarées explicitement ; le pipeline s'exécute et se supervise depuis une interface web centralisée.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2960" y="7475220"/>
            <a:ext cx="754380" cy="754380"/>
            <a:chOff x="0" y="0"/>
            <a:chExt cx="1005840" cy="10058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7C5CFC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22960" y="7475220"/>
            <a:ext cx="754380" cy="754380"/>
            <a:chOff x="0" y="0"/>
            <a:chExt cx="1005840" cy="1005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20240" y="7406640"/>
            <a:ext cx="14401800" cy="548640"/>
            <a:chOff x="0" y="0"/>
            <a:chExt cx="1920240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202400" cy="731520"/>
            </a:xfrm>
            <a:custGeom>
              <a:avLst/>
              <a:gdLst/>
              <a:ahLst/>
              <a:cxnLst/>
              <a:rect l="l" t="t" r="r" b="b"/>
              <a:pathLst>
                <a:path w="19202400" h="73152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92024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Notre contribution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920240" y="7955280"/>
            <a:ext cx="14813280" cy="1165860"/>
            <a:chOff x="0" y="0"/>
            <a:chExt cx="19751040" cy="15544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9751039" cy="1554480"/>
            </a:xfrm>
            <a:custGeom>
              <a:avLst/>
              <a:gdLst/>
              <a:ahLst/>
              <a:cxnLst/>
              <a:rect l="l" t="t" r="r" b="b"/>
              <a:pathLst>
                <a:path w="19751039" h="1554480">
                  <a:moveTo>
                    <a:pt x="0" y="0"/>
                  </a:moveTo>
                  <a:lnTo>
                    <a:pt x="19751039" y="0"/>
                  </a:lnTo>
                  <a:lnTo>
                    <a:pt x="197510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574" b="-19757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19751040" cy="1621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Installation et configuration de Dagster, modélisation des étapes en assets, vérification des dépendances, exécution et supervision du pipeline complet.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Architecture du pipeline orchestré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399032"/>
            <a:ext cx="13716000" cy="548640"/>
            <a:chOff x="0" y="0"/>
            <a:chExt cx="18288000" cy="731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731520"/>
            </a:xfrm>
            <a:custGeom>
              <a:avLst/>
              <a:gdLst/>
              <a:ahLst/>
              <a:cxnLst/>
              <a:rect l="l" t="t" r="r" b="b"/>
              <a:pathLst>
                <a:path w="18288000" h="73152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6 assets Dagster, organisés en 3 groupes fonctionnels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263140"/>
            <a:ext cx="6720840" cy="1508760"/>
            <a:chOff x="0" y="0"/>
            <a:chExt cx="8961120" cy="20116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61120" cy="2011680"/>
            </a:xfrm>
            <a:custGeom>
              <a:avLst/>
              <a:gdLst/>
              <a:ahLst/>
              <a:cxnLst/>
              <a:rect l="l" t="t" r="r" b="b"/>
              <a:pathLst>
                <a:path w="8961120" h="2011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814816" y="0"/>
                  </a:lnTo>
                  <a:cubicBezTo>
                    <a:pt x="8895588" y="0"/>
                    <a:pt x="8961120" y="65532"/>
                    <a:pt x="8961120" y="146304"/>
                  </a:cubicBezTo>
                  <a:lnTo>
                    <a:pt x="8961120" y="1865376"/>
                  </a:lnTo>
                  <a:cubicBezTo>
                    <a:pt x="8961120" y="1946148"/>
                    <a:pt x="8895588" y="2011680"/>
                    <a:pt x="881481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69848" y="2510028"/>
            <a:ext cx="548640" cy="548640"/>
            <a:chOff x="0" y="0"/>
            <a:chExt cx="7315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B3AA3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69848" y="2510028"/>
            <a:ext cx="548640" cy="548640"/>
            <a:chOff x="0" y="0"/>
            <a:chExt cx="73152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4F5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51660" y="2400300"/>
            <a:ext cx="5486400" cy="480060"/>
            <a:chOff x="0" y="0"/>
            <a:chExt cx="7315200" cy="6400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F4F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Ingestion  </a:t>
              </a:r>
              <a:r>
                <a:rPr lang="en-US" sz="2175" i="1">
                  <a:solidFill>
                    <a:srgbClr val="7C5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— Imane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51660" y="2866644"/>
            <a:ext cx="5486400" cy="754380"/>
            <a:chOff x="0" y="0"/>
            <a:chExt cx="7315200" cy="10058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0" cy="1005840"/>
            </a:xfrm>
            <a:custGeom>
              <a:avLst/>
              <a:gdLst/>
              <a:ahLst/>
              <a:cxnLst/>
              <a:rect l="l" t="t" r="r" b="b"/>
              <a:pathLst>
                <a:path w="7315200" h="100584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3152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A8AE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capteurs → DuckDB (raw) via dlt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0392" y="3744468"/>
            <a:ext cx="548640" cy="342900"/>
            <a:chOff x="0" y="0"/>
            <a:chExt cx="731520" cy="457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31520" cy="457200"/>
            </a:xfrm>
            <a:custGeom>
              <a:avLst/>
              <a:gdLst/>
              <a:ahLst/>
              <a:cxnLst/>
              <a:rect l="l" t="t" r="r" b="b"/>
              <a:pathLst>
                <a:path w="731520" h="45720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31520" cy="504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5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2960" y="4018788"/>
            <a:ext cx="6720840" cy="1508760"/>
            <a:chOff x="0" y="0"/>
            <a:chExt cx="8961120" cy="20116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961120" cy="2011680"/>
            </a:xfrm>
            <a:custGeom>
              <a:avLst/>
              <a:gdLst/>
              <a:ahLst/>
              <a:cxnLst/>
              <a:rect l="l" t="t" r="r" b="b"/>
              <a:pathLst>
                <a:path w="8961120" h="2011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814816" y="0"/>
                  </a:lnTo>
                  <a:cubicBezTo>
                    <a:pt x="8895588" y="0"/>
                    <a:pt x="8961120" y="65532"/>
                    <a:pt x="8961120" y="146304"/>
                  </a:cubicBezTo>
                  <a:lnTo>
                    <a:pt x="8961120" y="1865376"/>
                  </a:lnTo>
                  <a:cubicBezTo>
                    <a:pt x="8961120" y="1946148"/>
                    <a:pt x="8895588" y="2011680"/>
                    <a:pt x="881481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69848" y="4265676"/>
            <a:ext cx="548640" cy="548640"/>
            <a:chOff x="0" y="0"/>
            <a:chExt cx="73152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B3AA3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69848" y="4265676"/>
            <a:ext cx="548640" cy="548640"/>
            <a:chOff x="0" y="0"/>
            <a:chExt cx="7315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4F5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851660" y="4155948"/>
            <a:ext cx="5486400" cy="480060"/>
            <a:chOff x="0" y="0"/>
            <a:chExt cx="7315200" cy="6400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F4F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Transformation  </a:t>
              </a:r>
              <a:r>
                <a:rPr lang="en-US" sz="2175" i="1">
                  <a:solidFill>
                    <a:srgbClr val="7C5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— Sara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51660" y="4622292"/>
            <a:ext cx="5486400" cy="754380"/>
            <a:chOff x="0" y="0"/>
            <a:chExt cx="7315200" cy="10058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0" cy="1005840"/>
            </a:xfrm>
            <a:custGeom>
              <a:avLst/>
              <a:gdLst/>
              <a:ahLst/>
              <a:cxnLst/>
              <a:rect l="l" t="t" r="r" b="b"/>
              <a:pathLst>
                <a:path w="7315200" h="100584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73152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A8AE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staging → clean → ml_features (dbt)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0392" y="5500116"/>
            <a:ext cx="548640" cy="342900"/>
            <a:chOff x="0" y="0"/>
            <a:chExt cx="731520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520" cy="457200"/>
            </a:xfrm>
            <a:custGeom>
              <a:avLst/>
              <a:gdLst/>
              <a:ahLst/>
              <a:cxnLst/>
              <a:rect l="l" t="t" r="r" b="b"/>
              <a:pathLst>
                <a:path w="731520" h="45720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731520" cy="504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5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2960" y="5774436"/>
            <a:ext cx="6720840" cy="1508760"/>
            <a:chOff x="0" y="0"/>
            <a:chExt cx="8961120" cy="20116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961120" cy="2011680"/>
            </a:xfrm>
            <a:custGeom>
              <a:avLst/>
              <a:gdLst/>
              <a:ahLst/>
              <a:cxnLst/>
              <a:rect l="l" t="t" r="r" b="b"/>
              <a:pathLst>
                <a:path w="8961120" h="2011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814816" y="0"/>
                  </a:lnTo>
                  <a:cubicBezTo>
                    <a:pt x="8895588" y="0"/>
                    <a:pt x="8961120" y="65532"/>
                    <a:pt x="8961120" y="146304"/>
                  </a:cubicBezTo>
                  <a:lnTo>
                    <a:pt x="8961120" y="1865376"/>
                  </a:lnTo>
                  <a:cubicBezTo>
                    <a:pt x="8961120" y="1946148"/>
                    <a:pt x="8895588" y="2011680"/>
                    <a:pt x="881481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69848" y="6021324"/>
            <a:ext cx="548640" cy="548640"/>
            <a:chOff x="0" y="0"/>
            <a:chExt cx="73152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B3AA3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69848" y="6021324"/>
            <a:ext cx="548640" cy="548640"/>
            <a:chOff x="0" y="0"/>
            <a:chExt cx="73152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4F5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851660" y="5911596"/>
            <a:ext cx="5486400" cy="480060"/>
            <a:chOff x="0" y="0"/>
            <a:chExt cx="7315200" cy="6400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F4F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Vérification  </a:t>
              </a:r>
              <a:r>
                <a:rPr lang="en-US" sz="2175" i="1">
                  <a:solidFill>
                    <a:srgbClr val="7C5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— Amina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51660" y="6377940"/>
            <a:ext cx="5486400" cy="754380"/>
            <a:chOff x="0" y="0"/>
            <a:chExt cx="7315200" cy="10058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315200" cy="1005840"/>
            </a:xfrm>
            <a:custGeom>
              <a:avLst/>
              <a:gdLst/>
              <a:ahLst/>
              <a:cxnLst/>
              <a:rect l="l" t="t" r="r" b="b"/>
              <a:pathLst>
                <a:path w="7315200" h="100584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73152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A8AE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disponibilité et qualité des données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50392" y="7255764"/>
            <a:ext cx="548640" cy="342900"/>
            <a:chOff x="0" y="0"/>
            <a:chExt cx="731520" cy="457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31520" cy="457200"/>
            </a:xfrm>
            <a:custGeom>
              <a:avLst/>
              <a:gdLst/>
              <a:ahLst/>
              <a:cxnLst/>
              <a:rect l="l" t="t" r="r" b="b"/>
              <a:pathLst>
                <a:path w="731520" h="457200">
                  <a:moveTo>
                    <a:pt x="0" y="0"/>
                  </a:moveTo>
                  <a:lnTo>
                    <a:pt x="731520" y="0"/>
                  </a:lnTo>
                  <a:lnTo>
                    <a:pt x="731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731520" cy="504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7C5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22960" y="7530084"/>
            <a:ext cx="6720840" cy="1508760"/>
            <a:chOff x="0" y="0"/>
            <a:chExt cx="8961120" cy="20116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961120" cy="2011680"/>
            </a:xfrm>
            <a:custGeom>
              <a:avLst/>
              <a:gdLst/>
              <a:ahLst/>
              <a:cxnLst/>
              <a:rect l="l" t="t" r="r" b="b"/>
              <a:pathLst>
                <a:path w="8961120" h="2011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814816" y="0"/>
                  </a:lnTo>
                  <a:cubicBezTo>
                    <a:pt x="8895588" y="0"/>
                    <a:pt x="8961120" y="65532"/>
                    <a:pt x="8961120" y="146304"/>
                  </a:cubicBezTo>
                  <a:lnTo>
                    <a:pt x="8961120" y="1865376"/>
                  </a:lnTo>
                  <a:cubicBezTo>
                    <a:pt x="8961120" y="1946148"/>
                    <a:pt x="8895588" y="2011680"/>
                    <a:pt x="8814816" y="2011680"/>
                  </a:cubicBezTo>
                  <a:lnTo>
                    <a:pt x="146304" y="2011680"/>
                  </a:lnTo>
                  <a:cubicBezTo>
                    <a:pt x="65532" y="2011680"/>
                    <a:pt x="0" y="1946148"/>
                    <a:pt x="0" y="186537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069848" y="7776972"/>
            <a:ext cx="548640" cy="548640"/>
            <a:chOff x="0" y="0"/>
            <a:chExt cx="73152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4B3AA3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069848" y="7776972"/>
            <a:ext cx="548640" cy="548640"/>
            <a:chOff x="0" y="0"/>
            <a:chExt cx="73152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4F5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51660" y="7667244"/>
            <a:ext cx="5486400" cy="480060"/>
            <a:chOff x="0" y="0"/>
            <a:chExt cx="7315200" cy="64008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15200" cy="640080"/>
            </a:xfrm>
            <a:custGeom>
              <a:avLst/>
              <a:gdLst/>
              <a:ahLst/>
              <a:cxnLst/>
              <a:rect l="l" t="t" r="r" b="b"/>
              <a:pathLst>
                <a:path w="7315200" h="64008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73152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F4F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Entraînement  </a:t>
              </a:r>
              <a:r>
                <a:rPr lang="en-US" sz="2175" i="1">
                  <a:solidFill>
                    <a:srgbClr val="7C5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— Maroua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851660" y="8133588"/>
            <a:ext cx="5486400" cy="754380"/>
            <a:chOff x="0" y="0"/>
            <a:chExt cx="7315200" cy="10058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315200" cy="1005840"/>
            </a:xfrm>
            <a:custGeom>
              <a:avLst/>
              <a:gdLst/>
              <a:ahLst/>
              <a:cxnLst/>
              <a:rect l="l" t="t" r="r" b="b"/>
              <a:pathLst>
                <a:path w="7315200" h="100584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709" b="-91709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73152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A8AE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 prédictif sur ml_features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49743" y="2089023"/>
            <a:ext cx="9743694" cy="5615178"/>
            <a:chOff x="0" y="0"/>
            <a:chExt cx="12991592" cy="748690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2991592" cy="7486904"/>
            </a:xfrm>
            <a:custGeom>
              <a:avLst/>
              <a:gdLst/>
              <a:ahLst/>
              <a:cxnLst/>
              <a:rect l="l" t="t" r="r" b="b"/>
              <a:pathLst>
                <a:path w="12991592" h="7486904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2808077" y="0"/>
                  </a:lnTo>
                  <a:cubicBezTo>
                    <a:pt x="12909423" y="0"/>
                    <a:pt x="12991592" y="82169"/>
                    <a:pt x="12991592" y="183515"/>
                  </a:cubicBezTo>
                  <a:lnTo>
                    <a:pt x="12991592" y="7303389"/>
                  </a:lnTo>
                  <a:cubicBezTo>
                    <a:pt x="12991592" y="7404735"/>
                    <a:pt x="12909423" y="7486904"/>
                    <a:pt x="12808077" y="7486904"/>
                  </a:cubicBezTo>
                  <a:lnTo>
                    <a:pt x="183515" y="7486904"/>
                  </a:lnTo>
                  <a:cubicBezTo>
                    <a:pt x="82169" y="7486904"/>
                    <a:pt x="0" y="7404735"/>
                    <a:pt x="0" y="7303389"/>
                  </a:cubicBezTo>
                  <a:close/>
                </a:path>
              </a:pathLst>
            </a:custGeom>
            <a:solidFill>
              <a:srgbClr val="191F3D"/>
            </a:solidFill>
            <a:ln w="19050" cap="sq">
              <a:solidFill>
                <a:srgbClr val="4B3AA3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8023860" y="2263140"/>
            <a:ext cx="9395460" cy="5266944"/>
            <a:chOff x="0" y="0"/>
            <a:chExt cx="12527280" cy="7022592"/>
          </a:xfrm>
        </p:grpSpPr>
        <p:sp>
          <p:nvSpPr>
            <p:cNvPr id="72" name="Freeform 72" descr="/home/claude/imgs/fig-000.png"/>
            <p:cNvSpPr/>
            <p:nvPr/>
          </p:nvSpPr>
          <p:spPr>
            <a:xfrm>
              <a:off x="0" y="0"/>
              <a:ext cx="12527280" cy="7022592"/>
            </a:xfrm>
            <a:custGeom>
              <a:avLst/>
              <a:gdLst/>
              <a:ahLst/>
              <a:cxnLst/>
              <a:rect l="l" t="t" r="r" b="b"/>
              <a:pathLst>
                <a:path w="12527280" h="7022592">
                  <a:moveTo>
                    <a:pt x="0" y="0"/>
                  </a:moveTo>
                  <a:lnTo>
                    <a:pt x="12527280" y="0"/>
                  </a:lnTo>
                  <a:lnTo>
                    <a:pt x="12527280" y="7022592"/>
                  </a:lnTo>
                  <a:lnTo>
                    <a:pt x="0" y="7022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" r="-19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8023860" y="7776972"/>
            <a:ext cx="9395460" cy="480060"/>
            <a:chOff x="0" y="0"/>
            <a:chExt cx="12527280" cy="6400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2527280" cy="640080"/>
            </a:xfrm>
            <a:custGeom>
              <a:avLst/>
              <a:gdLst/>
              <a:ahLst/>
              <a:cxnLst/>
              <a:rect l="l" t="t" r="r" b="b"/>
              <a:pathLst>
                <a:path w="12527280" h="640080">
                  <a:moveTo>
                    <a:pt x="0" y="0"/>
                  </a:moveTo>
                  <a:lnTo>
                    <a:pt x="12527280" y="0"/>
                  </a:lnTo>
                  <a:lnTo>
                    <a:pt x="1252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1350" b="-33135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1252728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A8AEC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5.1 — Vue globale du lineage des assets dans Dagster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4864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Exécution du pipeline complet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399032"/>
            <a:ext cx="13716000" cy="548640"/>
            <a:chOff x="0" y="0"/>
            <a:chExt cx="18288000" cy="7315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731520"/>
            </a:xfrm>
            <a:custGeom>
              <a:avLst/>
              <a:gdLst/>
              <a:ahLst/>
              <a:cxnLst/>
              <a:rect l="l" t="t" r="r" b="b"/>
              <a:pathLst>
                <a:path w="18288000" h="73152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Depuis l'interface Dagster (fonctionnalité « Materialize all »)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8843" y="2089023"/>
            <a:ext cx="9469374" cy="5491734"/>
            <a:chOff x="0" y="0"/>
            <a:chExt cx="12625832" cy="7322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25832" cy="7322312"/>
            </a:xfrm>
            <a:custGeom>
              <a:avLst/>
              <a:gdLst/>
              <a:ahLst/>
              <a:cxnLst/>
              <a:rect l="l" t="t" r="r" b="b"/>
              <a:pathLst>
                <a:path w="12625832" h="7322312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2442317" y="0"/>
                  </a:lnTo>
                  <a:cubicBezTo>
                    <a:pt x="12543663" y="0"/>
                    <a:pt x="12625832" y="82169"/>
                    <a:pt x="12625832" y="183515"/>
                  </a:cubicBezTo>
                  <a:lnTo>
                    <a:pt x="12625832" y="7138797"/>
                  </a:lnTo>
                  <a:cubicBezTo>
                    <a:pt x="12625832" y="7240143"/>
                    <a:pt x="12543663" y="7322312"/>
                    <a:pt x="12442317" y="7322312"/>
                  </a:cubicBezTo>
                  <a:lnTo>
                    <a:pt x="183515" y="7322312"/>
                  </a:lnTo>
                  <a:cubicBezTo>
                    <a:pt x="82169" y="7322312"/>
                    <a:pt x="0" y="7240143"/>
                    <a:pt x="0" y="7138797"/>
                  </a:cubicBezTo>
                  <a:close/>
                </a:path>
              </a:pathLst>
            </a:custGeom>
            <a:solidFill>
              <a:srgbClr val="191F3D"/>
            </a:solidFill>
            <a:ln w="19050" cap="sq">
              <a:solidFill>
                <a:srgbClr val="4B3AA3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2960" y="2263140"/>
            <a:ext cx="9121140" cy="5143500"/>
            <a:chOff x="0" y="0"/>
            <a:chExt cx="12161520" cy="6858000"/>
          </a:xfrm>
        </p:grpSpPr>
        <p:sp>
          <p:nvSpPr>
            <p:cNvPr id="11" name="Freeform 11" descr="/home/claude/imgs/fig-002.png"/>
            <p:cNvSpPr/>
            <p:nvPr/>
          </p:nvSpPr>
          <p:spPr>
            <a:xfrm>
              <a:off x="0" y="0"/>
              <a:ext cx="12161520" cy="6858000"/>
            </a:xfrm>
            <a:custGeom>
              <a:avLst/>
              <a:gdLst/>
              <a:ahLst/>
              <a:cxnLst/>
              <a:rect l="l" t="t" r="r" b="b"/>
              <a:pathLst>
                <a:path w="12161520" h="6858000">
                  <a:moveTo>
                    <a:pt x="0" y="0"/>
                  </a:moveTo>
                  <a:lnTo>
                    <a:pt x="12161520" y="0"/>
                  </a:lnTo>
                  <a:lnTo>
                    <a:pt x="1216152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" r="-3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22960" y="7653528"/>
            <a:ext cx="9121140" cy="480060"/>
            <a:chOff x="0" y="0"/>
            <a:chExt cx="12161520" cy="6400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61520" cy="640080"/>
            </a:xfrm>
            <a:custGeom>
              <a:avLst/>
              <a:gdLst/>
              <a:ahLst/>
              <a:cxnLst/>
              <a:rect l="l" t="t" r="r" b="b"/>
              <a:pathLst>
                <a:path w="12161520" h="640080">
                  <a:moveTo>
                    <a:pt x="0" y="0"/>
                  </a:moveTo>
                  <a:lnTo>
                    <a:pt x="12161520" y="0"/>
                  </a:lnTo>
                  <a:lnTo>
                    <a:pt x="12161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15" b="-32021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216152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5.2 — Détail d'une exécution réussie du pipeline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355580" y="2331720"/>
            <a:ext cx="7063740" cy="1440180"/>
            <a:chOff x="0" y="0"/>
            <a:chExt cx="9418320" cy="19202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18320" cy="1920240"/>
            </a:xfrm>
            <a:custGeom>
              <a:avLst/>
              <a:gdLst/>
              <a:ahLst/>
              <a:cxnLst/>
              <a:rect l="l" t="t" r="r" b="b"/>
              <a:pathLst>
                <a:path w="9418320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272016" y="0"/>
                  </a:lnTo>
                  <a:cubicBezTo>
                    <a:pt x="9352788" y="0"/>
                    <a:pt x="9418320" y="65532"/>
                    <a:pt x="9418320" y="146304"/>
                  </a:cubicBezTo>
                  <a:lnTo>
                    <a:pt x="9418320" y="1773936"/>
                  </a:lnTo>
                  <a:cubicBezTo>
                    <a:pt x="9418320" y="1854708"/>
                    <a:pt x="9352788" y="1920240"/>
                    <a:pt x="92720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0698480" y="2331720"/>
            <a:ext cx="2057400" cy="1440180"/>
            <a:chOff x="0" y="0"/>
            <a:chExt cx="2743200" cy="19202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43200" cy="1920240"/>
            </a:xfrm>
            <a:custGeom>
              <a:avLst/>
              <a:gdLst/>
              <a:ahLst/>
              <a:cxnLst/>
              <a:rect l="l" t="t" r="r" b="b"/>
              <a:pathLst>
                <a:path w="2743200" h="1920240">
                  <a:moveTo>
                    <a:pt x="0" y="0"/>
                  </a:moveTo>
                  <a:lnTo>
                    <a:pt x="2743200" y="0"/>
                  </a:lnTo>
                  <a:lnTo>
                    <a:pt x="2743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2743200" cy="192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55880" y="2331720"/>
            <a:ext cx="4320540" cy="1440180"/>
            <a:chOff x="0" y="0"/>
            <a:chExt cx="5760720" cy="19202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760720" cy="1920240"/>
            </a:xfrm>
            <a:custGeom>
              <a:avLst/>
              <a:gdLst/>
              <a:ahLst/>
              <a:cxnLst/>
              <a:rect l="l" t="t" r="r" b="b"/>
              <a:pathLst>
                <a:path w="5760720" h="1920240">
                  <a:moveTo>
                    <a:pt x="0" y="0"/>
                  </a:moveTo>
                  <a:lnTo>
                    <a:pt x="5760720" y="0"/>
                  </a:lnTo>
                  <a:lnTo>
                    <a:pt x="57607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760720" cy="196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assets matérialisés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55580" y="4046220"/>
            <a:ext cx="7063740" cy="1440180"/>
            <a:chOff x="0" y="0"/>
            <a:chExt cx="9418320" cy="19202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418320" cy="1920240"/>
            </a:xfrm>
            <a:custGeom>
              <a:avLst/>
              <a:gdLst/>
              <a:ahLst/>
              <a:cxnLst/>
              <a:rect l="l" t="t" r="r" b="b"/>
              <a:pathLst>
                <a:path w="9418320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272016" y="0"/>
                  </a:lnTo>
                  <a:cubicBezTo>
                    <a:pt x="9352788" y="0"/>
                    <a:pt x="9418320" y="65532"/>
                    <a:pt x="9418320" y="146304"/>
                  </a:cubicBezTo>
                  <a:lnTo>
                    <a:pt x="9418320" y="1773936"/>
                  </a:lnTo>
                  <a:cubicBezTo>
                    <a:pt x="9418320" y="1854708"/>
                    <a:pt x="9352788" y="1920240"/>
                    <a:pt x="92720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698480" y="4046220"/>
            <a:ext cx="2057400" cy="1440180"/>
            <a:chOff x="0" y="0"/>
            <a:chExt cx="2743200" cy="1920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43200" cy="1920240"/>
            </a:xfrm>
            <a:custGeom>
              <a:avLst/>
              <a:gdLst/>
              <a:ahLst/>
              <a:cxnLst/>
              <a:rect l="l" t="t" r="r" b="b"/>
              <a:pathLst>
                <a:path w="2743200" h="1920240">
                  <a:moveTo>
                    <a:pt x="0" y="0"/>
                  </a:moveTo>
                  <a:lnTo>
                    <a:pt x="2743200" y="0"/>
                  </a:lnTo>
                  <a:lnTo>
                    <a:pt x="2743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2743200" cy="192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755880" y="4046220"/>
            <a:ext cx="4320540" cy="1440180"/>
            <a:chOff x="0" y="0"/>
            <a:chExt cx="5760720" cy="19202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60720" cy="1920240"/>
            </a:xfrm>
            <a:custGeom>
              <a:avLst/>
              <a:gdLst/>
              <a:ahLst/>
              <a:cxnLst/>
              <a:rect l="l" t="t" r="r" b="b"/>
              <a:pathLst>
                <a:path w="5760720" h="1920240">
                  <a:moveTo>
                    <a:pt x="0" y="0"/>
                  </a:moveTo>
                  <a:lnTo>
                    <a:pt x="5760720" y="0"/>
                  </a:lnTo>
                  <a:lnTo>
                    <a:pt x="57607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5760720" cy="196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tests de qualité (checks) validés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355580" y="5760720"/>
            <a:ext cx="7063740" cy="1440180"/>
            <a:chOff x="0" y="0"/>
            <a:chExt cx="9418320" cy="19202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418320" cy="1920240"/>
            </a:xfrm>
            <a:custGeom>
              <a:avLst/>
              <a:gdLst/>
              <a:ahLst/>
              <a:cxnLst/>
              <a:rect l="l" t="t" r="r" b="b"/>
              <a:pathLst>
                <a:path w="9418320" h="1920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272016" y="0"/>
                  </a:lnTo>
                  <a:cubicBezTo>
                    <a:pt x="9352788" y="0"/>
                    <a:pt x="9418320" y="65532"/>
                    <a:pt x="9418320" y="146304"/>
                  </a:cubicBezTo>
                  <a:lnTo>
                    <a:pt x="9418320" y="1773936"/>
                  </a:lnTo>
                  <a:cubicBezTo>
                    <a:pt x="9418320" y="1854708"/>
                    <a:pt x="9352788" y="1920240"/>
                    <a:pt x="927201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191F3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0698480" y="5760720"/>
            <a:ext cx="2057400" cy="1440180"/>
            <a:chOff x="0" y="0"/>
            <a:chExt cx="2743200" cy="19202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43200" cy="1920240"/>
            </a:xfrm>
            <a:custGeom>
              <a:avLst/>
              <a:gdLst/>
              <a:ahLst/>
              <a:cxnLst/>
              <a:rect l="l" t="t" r="r" b="b"/>
              <a:pathLst>
                <a:path w="2743200" h="1920240">
                  <a:moveTo>
                    <a:pt x="0" y="0"/>
                  </a:moveTo>
                  <a:lnTo>
                    <a:pt x="2743200" y="0"/>
                  </a:lnTo>
                  <a:lnTo>
                    <a:pt x="2743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12" r="-3981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743200" cy="19297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755880" y="5760720"/>
            <a:ext cx="4320540" cy="1440180"/>
            <a:chOff x="0" y="0"/>
            <a:chExt cx="5760720" cy="19202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760720" cy="1920240"/>
            </a:xfrm>
            <a:custGeom>
              <a:avLst/>
              <a:gdLst/>
              <a:ahLst/>
              <a:cxnLst/>
              <a:rect l="l" t="t" r="r" b="b"/>
              <a:pathLst>
                <a:path w="5760720" h="1920240">
                  <a:moveTo>
                    <a:pt x="0" y="0"/>
                  </a:moveTo>
                  <a:lnTo>
                    <a:pt x="5760720" y="0"/>
                  </a:lnTo>
                  <a:lnTo>
                    <a:pt x="57607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5760720" cy="1967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intervention manuelle nécessaire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355580" y="7612380"/>
            <a:ext cx="7063740" cy="1920240"/>
            <a:chOff x="0" y="0"/>
            <a:chExt cx="9418320" cy="25603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418320" cy="2560320"/>
            </a:xfrm>
            <a:custGeom>
              <a:avLst/>
              <a:gdLst/>
              <a:ahLst/>
              <a:cxnLst/>
              <a:rect l="l" t="t" r="r" b="b"/>
              <a:pathLst>
                <a:path w="9418320" h="2560320">
                  <a:moveTo>
                    <a:pt x="0" y="0"/>
                  </a:moveTo>
                  <a:lnTo>
                    <a:pt x="9418320" y="0"/>
                  </a:lnTo>
                  <a:lnTo>
                    <a:pt x="94183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677" b="-2167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9418320" cy="2655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08"/>
                </a:lnSpc>
              </a:pPr>
              <a:r>
                <a:rPr lang="en-US" sz="19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Statut : Success</a:t>
              </a:r>
              <a:r>
                <a:rPr lang="en-US" sz="19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— le pipeline transforme des scripts indépendants en un flux unique, fiable et supervisable de bout en bout.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86993" y="1186434"/>
            <a:ext cx="102870" cy="144018"/>
            <a:chOff x="0" y="0"/>
            <a:chExt cx="137160" cy="1920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160" cy="192024"/>
            </a:xfrm>
            <a:custGeom>
              <a:avLst/>
              <a:gdLst/>
              <a:ahLst/>
              <a:cxnLst/>
              <a:rect l="l" t="t" r="r" b="b"/>
              <a:pathLst>
                <a:path w="137160" h="192024">
                  <a:moveTo>
                    <a:pt x="0" y="0"/>
                  </a:moveTo>
                  <a:lnTo>
                    <a:pt x="137160" y="0"/>
                  </a:lnTo>
                  <a:lnTo>
                    <a:pt x="137160" y="192024"/>
                  </a:lnTo>
                  <a:lnTo>
                    <a:pt x="0" y="1920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1585" y="1104138"/>
            <a:ext cx="102870" cy="226314"/>
            <a:chOff x="0" y="0"/>
            <a:chExt cx="137160" cy="3017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160" cy="301752"/>
            </a:xfrm>
            <a:custGeom>
              <a:avLst/>
              <a:gdLst/>
              <a:ahLst/>
              <a:cxnLst/>
              <a:rect l="l" t="t" r="r" b="b"/>
              <a:pathLst>
                <a:path w="137160" h="301752">
                  <a:moveTo>
                    <a:pt x="0" y="0"/>
                  </a:moveTo>
                  <a:lnTo>
                    <a:pt x="137160" y="0"/>
                  </a:lnTo>
                  <a:lnTo>
                    <a:pt x="137160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16177" y="1021842"/>
            <a:ext cx="102870" cy="308610"/>
            <a:chOff x="0" y="0"/>
            <a:chExt cx="137160" cy="4114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" cy="411480"/>
            </a:xfrm>
            <a:custGeom>
              <a:avLst/>
              <a:gdLst/>
              <a:ahLst/>
              <a:cxnLst/>
              <a:rect l="l" t="t" r="r" b="b"/>
              <a:pathLst>
                <a:path w="137160" h="411480">
                  <a:moveTo>
                    <a:pt x="0" y="0"/>
                  </a:moveTo>
                  <a:lnTo>
                    <a:pt x="137160" y="0"/>
                  </a:lnTo>
                  <a:lnTo>
                    <a:pt x="13716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7 / 12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Machine Learning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6459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178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Entraînement et évaluation des modèles de classification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6445484" y="754380"/>
            <a:ext cx="150876" cy="150876"/>
            <a:chOff x="0" y="0"/>
            <a:chExt cx="201168" cy="2011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822960" y="2674620"/>
            <a:ext cx="4937760" cy="1165860"/>
            <a:chOff x="0" y="0"/>
            <a:chExt cx="6583680" cy="15544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83680" cy="1554480"/>
            </a:xfrm>
            <a:custGeom>
              <a:avLst/>
              <a:gdLst/>
              <a:ahLst/>
              <a:cxnLst/>
              <a:rect l="l" t="t" r="r" b="b"/>
              <a:pathLst>
                <a:path w="6583680" h="1554480">
                  <a:moveTo>
                    <a:pt x="0" y="0"/>
                  </a:moveTo>
                  <a:lnTo>
                    <a:pt x="6583680" y="0"/>
                  </a:lnTo>
                  <a:lnTo>
                    <a:pt x="6583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67" b="-32467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822960" y="2667476"/>
            <a:ext cx="4937760" cy="1173004"/>
            <a:chOff x="0" y="0"/>
            <a:chExt cx="6583680" cy="156400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583680" cy="1564005"/>
            </a:xfrm>
            <a:custGeom>
              <a:avLst/>
              <a:gdLst/>
              <a:ahLst/>
              <a:cxnLst/>
              <a:rect l="l" t="t" r="r" b="b"/>
              <a:pathLst>
                <a:path w="6583680" h="1564005">
                  <a:moveTo>
                    <a:pt x="0" y="0"/>
                  </a:moveTo>
                  <a:lnTo>
                    <a:pt x="6583680" y="0"/>
                  </a:lnTo>
                  <a:lnTo>
                    <a:pt x="6583680" y="1564005"/>
                  </a:lnTo>
                  <a:lnTo>
                    <a:pt x="0" y="1564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022" b="-3202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658368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280"/>
                </a:lnSpc>
              </a:pPr>
              <a:r>
                <a:rPr lang="en-US" sz="6900" b="1">
                  <a:solidFill>
                    <a:srgbClr val="AB5B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62,89 %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22960" y="3840480"/>
            <a:ext cx="4937760" cy="411480"/>
            <a:chOff x="0" y="0"/>
            <a:chExt cx="6583680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822960" y="3833336"/>
            <a:ext cx="4937760" cy="418624"/>
            <a:chOff x="0" y="0"/>
            <a:chExt cx="6583680" cy="55816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583680" cy="558165"/>
            </a:xfrm>
            <a:custGeom>
              <a:avLst/>
              <a:gdLst/>
              <a:ahLst/>
              <a:cxnLst/>
              <a:rect l="l" t="t" r="r" b="b"/>
              <a:pathLst>
                <a:path w="6583680" h="558165">
                  <a:moveTo>
                    <a:pt x="0" y="0"/>
                  </a:moveTo>
                  <a:lnTo>
                    <a:pt x="6583680" y="0"/>
                  </a:lnTo>
                  <a:lnTo>
                    <a:pt x="6583680" y="558165"/>
                  </a:lnTo>
                  <a:lnTo>
                    <a:pt x="0" y="5581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9830" b="-17983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65836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F1-score — Gradient Boosting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2960" y="4389120"/>
            <a:ext cx="2468880" cy="466344"/>
            <a:chOff x="0" y="0"/>
            <a:chExt cx="3291840" cy="6217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291840" cy="621792"/>
            </a:xfrm>
            <a:custGeom>
              <a:avLst/>
              <a:gdLst/>
              <a:ahLst/>
              <a:cxnLst/>
              <a:rect l="l" t="t" r="r" b="b"/>
              <a:pathLst>
                <a:path w="3291840" h="621792">
                  <a:moveTo>
                    <a:pt x="0" y="0"/>
                  </a:moveTo>
                  <a:lnTo>
                    <a:pt x="3291840" y="0"/>
                  </a:lnTo>
                  <a:lnTo>
                    <a:pt x="3291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84" b="-53084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822960" y="4381976"/>
            <a:ext cx="2468880" cy="473488"/>
            <a:chOff x="0" y="0"/>
            <a:chExt cx="3291840" cy="63131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291840" cy="631317"/>
            </a:xfrm>
            <a:custGeom>
              <a:avLst/>
              <a:gdLst/>
              <a:ahLst/>
              <a:cxnLst/>
              <a:rect l="l" t="t" r="r" b="b"/>
              <a:pathLst>
                <a:path w="3291840" h="631317">
                  <a:moveTo>
                    <a:pt x="0" y="0"/>
                  </a:moveTo>
                  <a:lnTo>
                    <a:pt x="3291840" y="0"/>
                  </a:lnTo>
                  <a:lnTo>
                    <a:pt x="329184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599" b="-5159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32918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Accuracy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154680" y="4389120"/>
            <a:ext cx="2194560" cy="466344"/>
            <a:chOff x="0" y="0"/>
            <a:chExt cx="2926080" cy="62179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29" b="-41631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3154680" y="4389120"/>
            <a:ext cx="2194560" cy="466344"/>
            <a:chOff x="0" y="0"/>
            <a:chExt cx="2926080" cy="6217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89,09 %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22960" y="4882896"/>
            <a:ext cx="2468880" cy="466344"/>
            <a:chOff x="0" y="0"/>
            <a:chExt cx="3291840" cy="6217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291840" cy="621792"/>
            </a:xfrm>
            <a:custGeom>
              <a:avLst/>
              <a:gdLst/>
              <a:ahLst/>
              <a:cxnLst/>
              <a:rect l="l" t="t" r="r" b="b"/>
              <a:pathLst>
                <a:path w="3291840" h="621792">
                  <a:moveTo>
                    <a:pt x="0" y="0"/>
                  </a:moveTo>
                  <a:lnTo>
                    <a:pt x="3291840" y="0"/>
                  </a:lnTo>
                  <a:lnTo>
                    <a:pt x="3291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84" b="-53084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822960" y="4875752"/>
            <a:ext cx="2468880" cy="473488"/>
            <a:chOff x="0" y="0"/>
            <a:chExt cx="3291840" cy="63131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291840" cy="631317"/>
            </a:xfrm>
            <a:custGeom>
              <a:avLst/>
              <a:gdLst/>
              <a:ahLst/>
              <a:cxnLst/>
              <a:rect l="l" t="t" r="r" b="b"/>
              <a:pathLst>
                <a:path w="3291840" h="631317">
                  <a:moveTo>
                    <a:pt x="0" y="0"/>
                  </a:moveTo>
                  <a:lnTo>
                    <a:pt x="3291840" y="0"/>
                  </a:lnTo>
                  <a:lnTo>
                    <a:pt x="329184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599" b="-51599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32918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Precision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154680" y="4882896"/>
            <a:ext cx="2194560" cy="466344"/>
            <a:chOff x="0" y="0"/>
            <a:chExt cx="2926080" cy="6217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29" b="-41631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3154680" y="4882896"/>
            <a:ext cx="2194560" cy="466344"/>
            <a:chOff x="0" y="0"/>
            <a:chExt cx="2926080" cy="6217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95,31 %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22960" y="5376672"/>
            <a:ext cx="2468880" cy="466344"/>
            <a:chOff x="0" y="0"/>
            <a:chExt cx="3291840" cy="6217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291840" cy="621792"/>
            </a:xfrm>
            <a:custGeom>
              <a:avLst/>
              <a:gdLst/>
              <a:ahLst/>
              <a:cxnLst/>
              <a:rect l="l" t="t" r="r" b="b"/>
              <a:pathLst>
                <a:path w="3291840" h="621792">
                  <a:moveTo>
                    <a:pt x="0" y="0"/>
                  </a:moveTo>
                  <a:lnTo>
                    <a:pt x="3291840" y="0"/>
                  </a:lnTo>
                  <a:lnTo>
                    <a:pt x="3291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84" b="-53084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822960" y="5369528"/>
            <a:ext cx="2468880" cy="473488"/>
            <a:chOff x="0" y="0"/>
            <a:chExt cx="3291840" cy="631317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291840" cy="631317"/>
            </a:xfrm>
            <a:custGeom>
              <a:avLst/>
              <a:gdLst/>
              <a:ahLst/>
              <a:cxnLst/>
              <a:rect l="l" t="t" r="r" b="b"/>
              <a:pathLst>
                <a:path w="3291840" h="631317">
                  <a:moveTo>
                    <a:pt x="0" y="0"/>
                  </a:moveTo>
                  <a:lnTo>
                    <a:pt x="3291840" y="0"/>
                  </a:lnTo>
                  <a:lnTo>
                    <a:pt x="329184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599" b="-51599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32918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Recall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3154680" y="5376672"/>
            <a:ext cx="2194560" cy="466344"/>
            <a:chOff x="0" y="0"/>
            <a:chExt cx="2926080" cy="6217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29" b="-41631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3154680" y="5376672"/>
            <a:ext cx="2194560" cy="466344"/>
            <a:chOff x="0" y="0"/>
            <a:chExt cx="2926080" cy="6217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46,93 %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22960" y="5870448"/>
            <a:ext cx="2468880" cy="466344"/>
            <a:chOff x="0" y="0"/>
            <a:chExt cx="3291840" cy="6217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291840" cy="621792"/>
            </a:xfrm>
            <a:custGeom>
              <a:avLst/>
              <a:gdLst/>
              <a:ahLst/>
              <a:cxnLst/>
              <a:rect l="l" t="t" r="r" b="b"/>
              <a:pathLst>
                <a:path w="3291840" h="621792">
                  <a:moveTo>
                    <a:pt x="0" y="0"/>
                  </a:moveTo>
                  <a:lnTo>
                    <a:pt x="3291840" y="0"/>
                  </a:lnTo>
                  <a:lnTo>
                    <a:pt x="3291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84" b="-53084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822960" y="5863304"/>
            <a:ext cx="2468880" cy="473488"/>
            <a:chOff x="0" y="0"/>
            <a:chExt cx="3291840" cy="631317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291840" cy="631317"/>
            </a:xfrm>
            <a:custGeom>
              <a:avLst/>
              <a:gdLst/>
              <a:ahLst/>
              <a:cxnLst/>
              <a:rect l="l" t="t" r="r" b="b"/>
              <a:pathLst>
                <a:path w="3291840" h="631317">
                  <a:moveTo>
                    <a:pt x="0" y="0"/>
                  </a:moveTo>
                  <a:lnTo>
                    <a:pt x="3291840" y="0"/>
                  </a:lnTo>
                  <a:lnTo>
                    <a:pt x="329184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599" b="-51599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"/>
              <a:ext cx="32918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ROC-AUC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3154680" y="5870448"/>
            <a:ext cx="2194560" cy="466344"/>
            <a:chOff x="0" y="0"/>
            <a:chExt cx="2926080" cy="62179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29" b="-41631"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3154680" y="5870448"/>
            <a:ext cx="2194560" cy="466344"/>
            <a:chOff x="0" y="0"/>
            <a:chExt cx="2926080" cy="62179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73,69 %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22960" y="6364224"/>
            <a:ext cx="2468880" cy="466344"/>
            <a:chOff x="0" y="0"/>
            <a:chExt cx="3291840" cy="62179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291840" cy="621792"/>
            </a:xfrm>
            <a:custGeom>
              <a:avLst/>
              <a:gdLst/>
              <a:ahLst/>
              <a:cxnLst/>
              <a:rect l="l" t="t" r="r" b="b"/>
              <a:pathLst>
                <a:path w="3291840" h="621792">
                  <a:moveTo>
                    <a:pt x="0" y="0"/>
                  </a:moveTo>
                  <a:lnTo>
                    <a:pt x="3291840" y="0"/>
                  </a:lnTo>
                  <a:lnTo>
                    <a:pt x="3291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084" b="-53084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822960" y="6357080"/>
            <a:ext cx="2468880" cy="473488"/>
            <a:chOff x="0" y="0"/>
            <a:chExt cx="3291840" cy="631317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291840" cy="631317"/>
            </a:xfrm>
            <a:custGeom>
              <a:avLst/>
              <a:gdLst/>
              <a:ahLst/>
              <a:cxnLst/>
              <a:rect l="l" t="t" r="r" b="b"/>
              <a:pathLst>
                <a:path w="3291840" h="631317">
                  <a:moveTo>
                    <a:pt x="0" y="0"/>
                  </a:moveTo>
                  <a:lnTo>
                    <a:pt x="3291840" y="0"/>
                  </a:lnTo>
                  <a:lnTo>
                    <a:pt x="3291840" y="631317"/>
                  </a:lnTo>
                  <a:lnTo>
                    <a:pt x="0" y="631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599" b="-51599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32918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Seuil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3154680" y="6364224"/>
            <a:ext cx="2194560" cy="466344"/>
            <a:chOff x="0" y="0"/>
            <a:chExt cx="2926080" cy="62179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29" b="-41631"/>
              </a:stretch>
            </a:blipFill>
          </p:spPr>
        </p:sp>
      </p:grpSp>
      <p:grpSp>
        <p:nvGrpSpPr>
          <p:cNvPr id="106" name="Group 106"/>
          <p:cNvGrpSpPr/>
          <p:nvPr/>
        </p:nvGrpSpPr>
        <p:grpSpPr>
          <a:xfrm>
            <a:off x="3154680" y="6364224"/>
            <a:ext cx="2194560" cy="466344"/>
            <a:chOff x="0" y="0"/>
            <a:chExt cx="2926080" cy="62179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926080" cy="621792"/>
            </a:xfrm>
            <a:custGeom>
              <a:avLst/>
              <a:gdLst/>
              <a:ahLst/>
              <a:cxnLst/>
              <a:rect l="l" t="t" r="r" b="b"/>
              <a:pathLst>
                <a:path w="2926080" h="621792">
                  <a:moveTo>
                    <a:pt x="0" y="0"/>
                  </a:moveTo>
                  <a:lnTo>
                    <a:pt x="2926080" y="0"/>
                  </a:lnTo>
                  <a:lnTo>
                    <a:pt x="2926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694" b="-41694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0"/>
              <a:ext cx="2926080" cy="6217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0,18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64592" y="6199632"/>
            <a:ext cx="7077456" cy="4128516"/>
            <a:chOff x="0" y="0"/>
            <a:chExt cx="9436608" cy="550468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9436608" cy="5504688"/>
            </a:xfrm>
            <a:custGeom>
              <a:avLst/>
              <a:gdLst/>
              <a:ahLst/>
              <a:cxnLst/>
              <a:rect l="l" t="t" r="r" b="b"/>
              <a:pathLst>
                <a:path w="9436608" h="5504688">
                  <a:moveTo>
                    <a:pt x="0" y="0"/>
                  </a:moveTo>
                  <a:lnTo>
                    <a:pt x="9436608" y="0"/>
                  </a:lnTo>
                  <a:lnTo>
                    <a:pt x="9436608" y="5504688"/>
                  </a:lnTo>
                  <a:lnTo>
                    <a:pt x="0" y="5504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" r="-48"/>
              </a:stretch>
            </a:blipFill>
          </p:spPr>
        </p:sp>
      </p:grpSp>
      <p:grpSp>
        <p:nvGrpSpPr>
          <p:cNvPr id="111" name="Group 111"/>
          <p:cNvGrpSpPr/>
          <p:nvPr/>
        </p:nvGrpSpPr>
        <p:grpSpPr>
          <a:xfrm>
            <a:off x="7132320" y="2674620"/>
            <a:ext cx="9601200" cy="411480"/>
            <a:chOff x="0" y="0"/>
            <a:chExt cx="12801600" cy="54864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2801600" cy="548640"/>
            </a:xfrm>
            <a:custGeom>
              <a:avLst/>
              <a:gdLst/>
              <a:ahLst/>
              <a:cxnLst/>
              <a:rect l="l" t="t" r="r" b="b"/>
              <a:pathLst>
                <a:path w="12801600" h="54864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335" b="-404333"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7132320" y="2674620"/>
            <a:ext cx="9601200" cy="411480"/>
            <a:chOff x="0" y="0"/>
            <a:chExt cx="12801600" cy="54864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2801600" cy="548640"/>
            </a:xfrm>
            <a:custGeom>
              <a:avLst/>
              <a:gdLst/>
              <a:ahLst/>
              <a:cxnLst/>
              <a:rect l="l" t="t" r="r" b="b"/>
              <a:pathLst>
                <a:path w="12801600" h="54864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4650" b="-404650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0"/>
              <a:ext cx="12801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DÉMARCHE (5 ÉTAPES)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7338060" y="3154680"/>
            <a:ext cx="548640" cy="548640"/>
            <a:chOff x="0" y="0"/>
            <a:chExt cx="731520" cy="7315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118" name="AutoShape 118"/>
          <p:cNvSpPr/>
          <p:nvPr/>
        </p:nvSpPr>
        <p:spPr>
          <a:xfrm rot="469560">
            <a:off x="7441616" y="3438106"/>
            <a:ext cx="20984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9" name="Group 119"/>
          <p:cNvGrpSpPr/>
          <p:nvPr/>
        </p:nvGrpSpPr>
        <p:grpSpPr>
          <a:xfrm>
            <a:off x="8161020" y="3154680"/>
            <a:ext cx="9052560" cy="754380"/>
            <a:chOff x="0" y="0"/>
            <a:chExt cx="12070080" cy="100584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2070080" cy="1005840"/>
            </a:xfrm>
            <a:custGeom>
              <a:avLst/>
              <a:gdLst/>
              <a:ahLst/>
              <a:cxnLst/>
              <a:rect l="l" t="t" r="r" b="b"/>
              <a:pathLst>
                <a:path w="12070080" h="100584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8161020" y="3147536"/>
            <a:ext cx="9052560" cy="761524"/>
            <a:chOff x="0" y="0"/>
            <a:chExt cx="12070080" cy="1015365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2070080" cy="1015365"/>
            </a:xfrm>
            <a:custGeom>
              <a:avLst/>
              <a:gdLst/>
              <a:ahLst/>
              <a:cxnLst/>
              <a:rect l="l" t="t" r="r" b="b"/>
              <a:pathLst>
                <a:path w="12070080" h="1015365">
                  <a:moveTo>
                    <a:pt x="0" y="0"/>
                  </a:moveTo>
                  <a:lnTo>
                    <a:pt x="12070080" y="0"/>
                  </a:lnTo>
                  <a:lnTo>
                    <a:pt x="1207008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627" b="-181627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9525"/>
              <a:ext cx="12070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20212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Détection d'une fuite d'information (précision suspecte de 1,0000)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7338060" y="4005072"/>
            <a:ext cx="548640" cy="548640"/>
            <a:chOff x="0" y="0"/>
            <a:chExt cx="731520" cy="73152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126" name="AutoShape 126"/>
          <p:cNvSpPr/>
          <p:nvPr/>
        </p:nvSpPr>
        <p:spPr>
          <a:xfrm rot="469560">
            <a:off x="7441616" y="4288498"/>
            <a:ext cx="20984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7" name="Group 127"/>
          <p:cNvGrpSpPr/>
          <p:nvPr/>
        </p:nvGrpSpPr>
        <p:grpSpPr>
          <a:xfrm>
            <a:off x="8161020" y="4005072"/>
            <a:ext cx="9052560" cy="754380"/>
            <a:chOff x="0" y="0"/>
            <a:chExt cx="12070080" cy="100584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2070080" cy="1005840"/>
            </a:xfrm>
            <a:custGeom>
              <a:avLst/>
              <a:gdLst/>
              <a:ahLst/>
              <a:cxnLst/>
              <a:rect l="l" t="t" r="r" b="b"/>
              <a:pathLst>
                <a:path w="12070080" h="100584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</p:sp>
      </p:grpSp>
      <p:grpSp>
        <p:nvGrpSpPr>
          <p:cNvPr id="129" name="Group 129"/>
          <p:cNvGrpSpPr/>
          <p:nvPr/>
        </p:nvGrpSpPr>
        <p:grpSpPr>
          <a:xfrm>
            <a:off x="8161020" y="3997928"/>
            <a:ext cx="9052560" cy="761524"/>
            <a:chOff x="0" y="0"/>
            <a:chExt cx="12070080" cy="1015365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2070080" cy="1015365"/>
            </a:xfrm>
            <a:custGeom>
              <a:avLst/>
              <a:gdLst/>
              <a:ahLst/>
              <a:cxnLst/>
              <a:rect l="l" t="t" r="r" b="b"/>
              <a:pathLst>
                <a:path w="12070080" h="1015365">
                  <a:moveTo>
                    <a:pt x="0" y="0"/>
                  </a:moveTo>
                  <a:lnTo>
                    <a:pt x="12070080" y="0"/>
                  </a:lnTo>
                  <a:lnTo>
                    <a:pt x="1207008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627" b="-181627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9525"/>
              <a:ext cx="12070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20212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Suppression de 5 variables : anomaly_flag, machine_status, failure_type, downtime_risk, predicted_remaining_life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7338060" y="4855464"/>
            <a:ext cx="548640" cy="548640"/>
            <a:chOff x="0" y="0"/>
            <a:chExt cx="731520" cy="73152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134" name="AutoShape 134"/>
          <p:cNvSpPr/>
          <p:nvPr/>
        </p:nvSpPr>
        <p:spPr>
          <a:xfrm rot="469560">
            <a:off x="7441616" y="5138890"/>
            <a:ext cx="20984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5" name="Group 135"/>
          <p:cNvGrpSpPr/>
          <p:nvPr/>
        </p:nvGrpSpPr>
        <p:grpSpPr>
          <a:xfrm>
            <a:off x="8161020" y="4855464"/>
            <a:ext cx="9052560" cy="754380"/>
            <a:chOff x="0" y="0"/>
            <a:chExt cx="12070080" cy="1005840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12070080" cy="1005840"/>
            </a:xfrm>
            <a:custGeom>
              <a:avLst/>
              <a:gdLst/>
              <a:ahLst/>
              <a:cxnLst/>
              <a:rect l="l" t="t" r="r" b="b"/>
              <a:pathLst>
                <a:path w="12070080" h="100584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</p:sp>
      </p:grpSp>
      <p:grpSp>
        <p:nvGrpSpPr>
          <p:cNvPr id="137" name="Group 137"/>
          <p:cNvGrpSpPr/>
          <p:nvPr/>
        </p:nvGrpSpPr>
        <p:grpSpPr>
          <a:xfrm>
            <a:off x="8161020" y="4848320"/>
            <a:ext cx="9052560" cy="761524"/>
            <a:chOff x="0" y="0"/>
            <a:chExt cx="12070080" cy="1015365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2070080" cy="1015365"/>
            </a:xfrm>
            <a:custGeom>
              <a:avLst/>
              <a:gdLst/>
              <a:ahLst/>
              <a:cxnLst/>
              <a:rect l="l" t="t" r="r" b="b"/>
              <a:pathLst>
                <a:path w="12070080" h="1015365">
                  <a:moveTo>
                    <a:pt x="0" y="0"/>
                  </a:moveTo>
                  <a:lnTo>
                    <a:pt x="12070080" y="0"/>
                  </a:lnTo>
                  <a:lnTo>
                    <a:pt x="1207008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627" b="-181627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9525"/>
              <a:ext cx="12070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20212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Feature engineering temporel : lag, différences, moyennes glissantes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7338060" y="5705856"/>
            <a:ext cx="548640" cy="548640"/>
            <a:chOff x="0" y="0"/>
            <a:chExt cx="731520" cy="73152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142" name="AutoShape 142"/>
          <p:cNvSpPr/>
          <p:nvPr/>
        </p:nvSpPr>
        <p:spPr>
          <a:xfrm rot="469560">
            <a:off x="7441616" y="5989282"/>
            <a:ext cx="20984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3" name="Group 143"/>
          <p:cNvGrpSpPr/>
          <p:nvPr/>
        </p:nvGrpSpPr>
        <p:grpSpPr>
          <a:xfrm>
            <a:off x="8161020" y="5705856"/>
            <a:ext cx="9052560" cy="754380"/>
            <a:chOff x="0" y="0"/>
            <a:chExt cx="12070080" cy="100584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2070080" cy="1005840"/>
            </a:xfrm>
            <a:custGeom>
              <a:avLst/>
              <a:gdLst/>
              <a:ahLst/>
              <a:cxnLst/>
              <a:rect l="l" t="t" r="r" b="b"/>
              <a:pathLst>
                <a:path w="12070080" h="100584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</p:sp>
      </p:grpSp>
      <p:grpSp>
        <p:nvGrpSpPr>
          <p:cNvPr id="145" name="Group 145"/>
          <p:cNvGrpSpPr/>
          <p:nvPr/>
        </p:nvGrpSpPr>
        <p:grpSpPr>
          <a:xfrm>
            <a:off x="8161020" y="5698712"/>
            <a:ext cx="9052560" cy="761524"/>
            <a:chOff x="0" y="0"/>
            <a:chExt cx="12070080" cy="1015365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12070080" cy="1015365"/>
            </a:xfrm>
            <a:custGeom>
              <a:avLst/>
              <a:gdLst/>
              <a:ahLst/>
              <a:cxnLst/>
              <a:rect l="l" t="t" r="r" b="b"/>
              <a:pathLst>
                <a:path w="12070080" h="1015365">
                  <a:moveTo>
                    <a:pt x="0" y="0"/>
                  </a:moveTo>
                  <a:lnTo>
                    <a:pt x="12070080" y="0"/>
                  </a:lnTo>
                  <a:lnTo>
                    <a:pt x="1207008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627" b="-181627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-9525"/>
              <a:ext cx="12070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20212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Entraînement et comparaison de 4 modèles de classification</a:t>
              </a: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7338060" y="6556248"/>
            <a:ext cx="548640" cy="548640"/>
            <a:chOff x="0" y="0"/>
            <a:chExt cx="731520" cy="731520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150" name="AutoShape 150"/>
          <p:cNvSpPr/>
          <p:nvPr/>
        </p:nvSpPr>
        <p:spPr>
          <a:xfrm rot="469560">
            <a:off x="7441616" y="6839674"/>
            <a:ext cx="20984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1" name="Group 151"/>
          <p:cNvGrpSpPr/>
          <p:nvPr/>
        </p:nvGrpSpPr>
        <p:grpSpPr>
          <a:xfrm>
            <a:off x="8161020" y="6556248"/>
            <a:ext cx="9052560" cy="754380"/>
            <a:chOff x="0" y="0"/>
            <a:chExt cx="12070080" cy="100584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2070080" cy="1005840"/>
            </a:xfrm>
            <a:custGeom>
              <a:avLst/>
              <a:gdLst/>
              <a:ahLst/>
              <a:cxnLst/>
              <a:rect l="l" t="t" r="r" b="b"/>
              <a:pathLst>
                <a:path w="12070080" h="100584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657" b="-183657"/>
              </a:stretch>
            </a:blipFill>
          </p:spPr>
        </p:sp>
      </p:grpSp>
      <p:grpSp>
        <p:nvGrpSpPr>
          <p:cNvPr id="153" name="Group 153"/>
          <p:cNvGrpSpPr/>
          <p:nvPr/>
        </p:nvGrpSpPr>
        <p:grpSpPr>
          <a:xfrm>
            <a:off x="8161020" y="6549104"/>
            <a:ext cx="9052560" cy="761524"/>
            <a:chOff x="0" y="0"/>
            <a:chExt cx="12070080" cy="1015365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12070080" cy="1015365"/>
            </a:xfrm>
            <a:custGeom>
              <a:avLst/>
              <a:gdLst/>
              <a:ahLst/>
              <a:cxnLst/>
              <a:rect l="l" t="t" r="r" b="b"/>
              <a:pathLst>
                <a:path w="12070080" h="1015365">
                  <a:moveTo>
                    <a:pt x="0" y="0"/>
                  </a:moveTo>
                  <a:lnTo>
                    <a:pt x="12070080" y="0"/>
                  </a:lnTo>
                  <a:lnTo>
                    <a:pt x="1207008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627" b="-181627"/>
              </a:stretch>
            </a:blipFill>
          </p:spPr>
        </p:sp>
        <p:sp>
          <p:nvSpPr>
            <p:cNvPr id="155" name="TextBox 155"/>
            <p:cNvSpPr txBox="1"/>
            <p:nvPr/>
          </p:nvSpPr>
          <p:spPr>
            <a:xfrm>
              <a:off x="0" y="-9525"/>
              <a:ext cx="1207008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20212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Optimisation du seuil de décision → seuil retenu : 0,18</a:t>
              </a:r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7115651" y="7458551"/>
            <a:ext cx="10114598" cy="2227898"/>
            <a:chOff x="0" y="0"/>
            <a:chExt cx="13486130" cy="2970530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13486130" cy="2970530"/>
            </a:xfrm>
            <a:custGeom>
              <a:avLst/>
              <a:gdLst/>
              <a:ahLst/>
              <a:cxnLst/>
              <a:rect l="l" t="t" r="r" b="b"/>
              <a:pathLst>
                <a:path w="13486130" h="2970530">
                  <a:moveTo>
                    <a:pt x="0" y="0"/>
                  </a:moveTo>
                  <a:lnTo>
                    <a:pt x="13486130" y="0"/>
                  </a:lnTo>
                  <a:lnTo>
                    <a:pt x="13486130" y="2970530"/>
                  </a:lnTo>
                  <a:lnTo>
                    <a:pt x="0" y="2970530"/>
                  </a:lnTo>
                  <a:close/>
                </a:path>
              </a:pathLst>
            </a:custGeom>
            <a:solidFill>
              <a:srgbClr val="FBEEE3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158" name="Group 158"/>
          <p:cNvGrpSpPr/>
          <p:nvPr/>
        </p:nvGrpSpPr>
        <p:grpSpPr>
          <a:xfrm>
            <a:off x="7543800" y="7680960"/>
            <a:ext cx="9464040" cy="548640"/>
            <a:chOff x="0" y="0"/>
            <a:chExt cx="12618720" cy="731520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12618720" cy="731520"/>
            </a:xfrm>
            <a:custGeom>
              <a:avLst/>
              <a:gdLst/>
              <a:ahLst/>
              <a:cxnLst/>
              <a:rect l="l" t="t" r="r" b="b"/>
              <a:pathLst>
                <a:path w="12618720" h="731520">
                  <a:moveTo>
                    <a:pt x="0" y="0"/>
                  </a:moveTo>
                  <a:lnTo>
                    <a:pt x="12618720" y="0"/>
                  </a:lnTo>
                  <a:lnTo>
                    <a:pt x="1261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883" b="-285881"/>
              </a:stretch>
            </a:blipFill>
          </p:spPr>
        </p:sp>
      </p:grpSp>
      <p:grpSp>
        <p:nvGrpSpPr>
          <p:cNvPr id="160" name="Group 160"/>
          <p:cNvGrpSpPr/>
          <p:nvPr/>
        </p:nvGrpSpPr>
        <p:grpSpPr>
          <a:xfrm>
            <a:off x="7543800" y="7673816"/>
            <a:ext cx="9464040" cy="555784"/>
            <a:chOff x="0" y="0"/>
            <a:chExt cx="12618720" cy="741045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12618720" cy="741045"/>
            </a:xfrm>
            <a:custGeom>
              <a:avLst/>
              <a:gdLst/>
              <a:ahLst/>
              <a:cxnLst/>
              <a:rect l="l" t="t" r="r" b="b"/>
              <a:pathLst>
                <a:path w="12618720" h="741045">
                  <a:moveTo>
                    <a:pt x="0" y="0"/>
                  </a:moveTo>
                  <a:lnTo>
                    <a:pt x="12618720" y="0"/>
                  </a:lnTo>
                  <a:lnTo>
                    <a:pt x="1261872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1796" b="-281796"/>
              </a:stretch>
            </a:blipFill>
          </p:spPr>
        </p:sp>
        <p:sp>
          <p:nvSpPr>
            <p:cNvPr id="162" name="TextBox 162"/>
            <p:cNvSpPr txBox="1"/>
            <p:nvPr/>
          </p:nvSpPr>
          <p:spPr>
            <a:xfrm>
              <a:off x="0" y="-9525"/>
              <a:ext cx="126187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AB5B2A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Modèle retenu : Gradient Boosting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7543800" y="8229600"/>
            <a:ext cx="9464040" cy="1303020"/>
            <a:chOff x="0" y="0"/>
            <a:chExt cx="12618720" cy="1737360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2618720" cy="1737360"/>
            </a:xfrm>
            <a:custGeom>
              <a:avLst/>
              <a:gdLst/>
              <a:ahLst/>
              <a:cxnLst/>
              <a:rect l="l" t="t" r="r" b="b"/>
              <a:pathLst>
                <a:path w="12618720" h="1737360">
                  <a:moveTo>
                    <a:pt x="0" y="0"/>
                  </a:moveTo>
                  <a:lnTo>
                    <a:pt x="12618720" y="0"/>
                  </a:lnTo>
                  <a:lnTo>
                    <a:pt x="12618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424" b="-91423"/>
              </a:stretch>
            </a:blipFill>
          </p:spPr>
        </p:sp>
      </p:grpSp>
      <p:grpSp>
        <p:nvGrpSpPr>
          <p:cNvPr id="165" name="Group 165"/>
          <p:cNvGrpSpPr/>
          <p:nvPr/>
        </p:nvGrpSpPr>
        <p:grpSpPr>
          <a:xfrm>
            <a:off x="7543800" y="8229600"/>
            <a:ext cx="9464040" cy="1303020"/>
            <a:chOff x="0" y="0"/>
            <a:chExt cx="12618720" cy="1737360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12618720" cy="1737360"/>
            </a:xfrm>
            <a:custGeom>
              <a:avLst/>
              <a:gdLst/>
              <a:ahLst/>
              <a:cxnLst/>
              <a:rect l="l" t="t" r="r" b="b"/>
              <a:pathLst>
                <a:path w="12618720" h="1737360">
                  <a:moveTo>
                    <a:pt x="0" y="0"/>
                  </a:moveTo>
                  <a:lnTo>
                    <a:pt x="12618720" y="0"/>
                  </a:lnTo>
                  <a:lnTo>
                    <a:pt x="12618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522" b="-91522"/>
              </a:stretch>
            </a:blipFill>
          </p:spPr>
        </p:sp>
        <p:sp>
          <p:nvSpPr>
            <p:cNvPr id="167" name="TextBox 167"/>
            <p:cNvSpPr txBox="1"/>
            <p:nvPr/>
          </p:nvSpPr>
          <p:spPr>
            <a:xfrm>
              <a:off x="0" y="0"/>
              <a:ext cx="12618720" cy="1737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202124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Meilleur F1-score parmi les 4 modèles testés — alertes fiables (peu de fausses alertes) mais recall limité : ~47 % des cas de maintenance sont détectés. Facteurs les plus influents : température et vibration.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170" name="Group 170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172" name="TextBox 172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75" name="Group 175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77" name="TextBox 177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7175" y="-81915"/>
            <a:ext cx="987552" cy="987552"/>
            <a:chOff x="0" y="0"/>
            <a:chExt cx="1316736" cy="1316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07008" y="0"/>
                  </a:lnTo>
                  <a:cubicBezTo>
                    <a:pt x="1267587" y="0"/>
                    <a:pt x="1316736" y="49149"/>
                    <a:pt x="1316736" y="109728"/>
                  </a:cubicBezTo>
                  <a:lnTo>
                    <a:pt x="1316736" y="1207008"/>
                  </a:lnTo>
                  <a:cubicBezTo>
                    <a:pt x="1316736" y="1267587"/>
                    <a:pt x="1267587" y="1316736"/>
                    <a:pt x="1207008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86452" y="-895598"/>
            <a:ext cx="4114800" cy="2637158"/>
            <a:chOff x="0" y="0"/>
            <a:chExt cx="5486400" cy="35162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3516249"/>
            </a:xfrm>
            <a:custGeom>
              <a:avLst/>
              <a:gdLst/>
              <a:ahLst/>
              <a:cxnLst/>
              <a:rect l="l" t="t" r="r" b="b"/>
              <a:pathLst>
                <a:path w="5486400" h="3516249">
                  <a:moveTo>
                    <a:pt x="0" y="0"/>
                  </a:moveTo>
                  <a:lnTo>
                    <a:pt x="5486400" y="0"/>
                  </a:lnTo>
                  <a:lnTo>
                    <a:pt x="5486400" y="3516249"/>
                  </a:lnTo>
                  <a:lnTo>
                    <a:pt x="0" y="35162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86" r="-32286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86452" y="-909885"/>
            <a:ext cx="4114800" cy="2651446"/>
            <a:chOff x="0" y="0"/>
            <a:chExt cx="5486400" cy="3535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3535263"/>
            </a:xfrm>
            <a:custGeom>
              <a:avLst/>
              <a:gdLst/>
              <a:ahLst/>
              <a:cxnLst/>
              <a:rect l="l" t="t" r="r" b="b"/>
              <a:pathLst>
                <a:path w="5486400" h="3535263">
                  <a:moveTo>
                    <a:pt x="0" y="0"/>
                  </a:moveTo>
                  <a:lnTo>
                    <a:pt x="5486400" y="0"/>
                  </a:lnTo>
                  <a:lnTo>
                    <a:pt x="5486400" y="3535263"/>
                  </a:lnTo>
                  <a:lnTo>
                    <a:pt x="0" y="35352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674" r="-326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486400" cy="35543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MLflow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6600000">
            <a:off x="614543" y="288417"/>
            <a:ext cx="308610" cy="246888"/>
            <a:chOff x="0" y="0"/>
            <a:chExt cx="41148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" cy="329184"/>
            </a:xfrm>
            <a:custGeom>
              <a:avLst/>
              <a:gdLst/>
              <a:ahLst/>
              <a:cxnLst/>
              <a:rect l="l" t="t" r="r" b="b"/>
              <a:pathLst>
                <a:path w="411480" h="329184">
                  <a:moveTo>
                    <a:pt x="0" y="329184"/>
                  </a:moveTo>
                  <a:lnTo>
                    <a:pt x="205740" y="0"/>
                  </a:lnTo>
                  <a:lnTo>
                    <a:pt x="41148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0" y="5361913"/>
            <a:ext cx="11209859" cy="5074453"/>
            <a:chOff x="0" y="0"/>
            <a:chExt cx="14946479" cy="67659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46517" cy="6765925"/>
            </a:xfrm>
            <a:custGeom>
              <a:avLst/>
              <a:gdLst/>
              <a:ahLst/>
              <a:cxnLst/>
              <a:rect l="l" t="t" r="r" b="b"/>
              <a:pathLst>
                <a:path w="14946517" h="6765925">
                  <a:moveTo>
                    <a:pt x="0" y="0"/>
                  </a:moveTo>
                  <a:lnTo>
                    <a:pt x="14946517" y="0"/>
                  </a:lnTo>
                  <a:lnTo>
                    <a:pt x="14946517" y="6765925"/>
                  </a:lnTo>
                  <a:lnTo>
                    <a:pt x="0" y="6765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47" b="-254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647585" y="1805855"/>
            <a:ext cx="1756455" cy="2646683"/>
            <a:chOff x="0" y="0"/>
            <a:chExt cx="2341939" cy="35289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41965" cy="3528949"/>
            </a:xfrm>
            <a:custGeom>
              <a:avLst/>
              <a:gdLst/>
              <a:ahLst/>
              <a:cxnLst/>
              <a:rect l="l" t="t" r="r" b="b"/>
              <a:pathLst>
                <a:path w="2341965" h="3528949">
                  <a:moveTo>
                    <a:pt x="0" y="0"/>
                  </a:moveTo>
                  <a:lnTo>
                    <a:pt x="2341965" y="0"/>
                  </a:lnTo>
                  <a:lnTo>
                    <a:pt x="2341965" y="3528949"/>
                  </a:lnTo>
                  <a:lnTo>
                    <a:pt x="0" y="3528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3468" t="-1" r="-14346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47585" y="1791567"/>
            <a:ext cx="2211042" cy="2660973"/>
            <a:chOff x="0" y="0"/>
            <a:chExt cx="2948056" cy="35479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48059" cy="3547966"/>
            </a:xfrm>
            <a:custGeom>
              <a:avLst/>
              <a:gdLst/>
              <a:ahLst/>
              <a:cxnLst/>
              <a:rect l="l" t="t" r="r" b="b"/>
              <a:pathLst>
                <a:path w="2948059" h="3547966">
                  <a:moveTo>
                    <a:pt x="0" y="0"/>
                  </a:moveTo>
                  <a:lnTo>
                    <a:pt x="2948059" y="0"/>
                  </a:lnTo>
                  <a:lnTo>
                    <a:pt x="2948059" y="3547966"/>
                  </a:lnTo>
                  <a:lnTo>
                    <a:pt x="0" y="3547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863" r="-1009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48056" cy="3567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Objectif: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28932" y="3669345"/>
            <a:ext cx="234077" cy="274320"/>
            <a:chOff x="0" y="0"/>
            <a:chExt cx="312103" cy="3657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2103" cy="365760"/>
            </a:xfrm>
            <a:custGeom>
              <a:avLst/>
              <a:gdLst/>
              <a:ahLst/>
              <a:cxnLst/>
              <a:rect l="l" t="t" r="r" b="b"/>
              <a:pathLst>
                <a:path w="312103" h="365760">
                  <a:moveTo>
                    <a:pt x="0" y="182880"/>
                  </a:moveTo>
                  <a:cubicBezTo>
                    <a:pt x="0" y="81788"/>
                    <a:pt x="69898" y="0"/>
                    <a:pt x="156051" y="0"/>
                  </a:cubicBezTo>
                  <a:cubicBezTo>
                    <a:pt x="242205" y="0"/>
                    <a:pt x="312103" y="81788"/>
                    <a:pt x="312103" y="182880"/>
                  </a:cubicBezTo>
                  <a:cubicBezTo>
                    <a:pt x="312103" y="283972"/>
                    <a:pt x="242313" y="365760"/>
                    <a:pt x="156051" y="365760"/>
                  </a:cubicBezTo>
                  <a:cubicBezTo>
                    <a:pt x="69790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628932" y="5660165"/>
            <a:ext cx="234077" cy="274320"/>
            <a:chOff x="0" y="0"/>
            <a:chExt cx="312103" cy="3657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2103" cy="365760"/>
            </a:xfrm>
            <a:custGeom>
              <a:avLst/>
              <a:gdLst/>
              <a:ahLst/>
              <a:cxnLst/>
              <a:rect l="l" t="t" r="r" b="b"/>
              <a:pathLst>
                <a:path w="312103" h="365760">
                  <a:moveTo>
                    <a:pt x="0" y="182880"/>
                  </a:moveTo>
                  <a:cubicBezTo>
                    <a:pt x="0" y="81788"/>
                    <a:pt x="69898" y="0"/>
                    <a:pt x="156051" y="0"/>
                  </a:cubicBezTo>
                  <a:cubicBezTo>
                    <a:pt x="242205" y="0"/>
                    <a:pt x="312103" y="81788"/>
                    <a:pt x="312103" y="182880"/>
                  </a:cubicBezTo>
                  <a:cubicBezTo>
                    <a:pt x="312103" y="283972"/>
                    <a:pt x="242313" y="365760"/>
                    <a:pt x="156051" y="365760"/>
                  </a:cubicBezTo>
                  <a:cubicBezTo>
                    <a:pt x="69790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628932" y="6603436"/>
            <a:ext cx="234077" cy="274320"/>
            <a:chOff x="0" y="0"/>
            <a:chExt cx="312103" cy="3657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2103" cy="365760"/>
            </a:xfrm>
            <a:custGeom>
              <a:avLst/>
              <a:gdLst/>
              <a:ahLst/>
              <a:cxnLst/>
              <a:rect l="l" t="t" r="r" b="b"/>
              <a:pathLst>
                <a:path w="312103" h="365760">
                  <a:moveTo>
                    <a:pt x="0" y="182880"/>
                  </a:moveTo>
                  <a:cubicBezTo>
                    <a:pt x="0" y="81788"/>
                    <a:pt x="69898" y="0"/>
                    <a:pt x="156051" y="0"/>
                  </a:cubicBezTo>
                  <a:cubicBezTo>
                    <a:pt x="242205" y="0"/>
                    <a:pt x="312103" y="81788"/>
                    <a:pt x="312103" y="182880"/>
                  </a:cubicBezTo>
                  <a:cubicBezTo>
                    <a:pt x="312103" y="283972"/>
                    <a:pt x="242313" y="365760"/>
                    <a:pt x="156051" y="365760"/>
                  </a:cubicBezTo>
                  <a:cubicBezTo>
                    <a:pt x="69790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628932" y="4850369"/>
            <a:ext cx="234077" cy="274320"/>
            <a:chOff x="0" y="0"/>
            <a:chExt cx="312103" cy="3657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2103" cy="365760"/>
            </a:xfrm>
            <a:custGeom>
              <a:avLst/>
              <a:gdLst/>
              <a:ahLst/>
              <a:cxnLst/>
              <a:rect l="l" t="t" r="r" b="b"/>
              <a:pathLst>
                <a:path w="312103" h="365760">
                  <a:moveTo>
                    <a:pt x="0" y="182880"/>
                  </a:moveTo>
                  <a:cubicBezTo>
                    <a:pt x="0" y="81788"/>
                    <a:pt x="69898" y="0"/>
                    <a:pt x="156051" y="0"/>
                  </a:cubicBezTo>
                  <a:cubicBezTo>
                    <a:pt x="242205" y="0"/>
                    <a:pt x="312103" y="81788"/>
                    <a:pt x="312103" y="182880"/>
                  </a:cubicBezTo>
                  <a:cubicBezTo>
                    <a:pt x="312103" y="283972"/>
                    <a:pt x="242313" y="365760"/>
                    <a:pt x="156051" y="365760"/>
                  </a:cubicBezTo>
                  <a:cubicBezTo>
                    <a:pt x="69790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-492764" y="967169"/>
            <a:ext cx="11702623" cy="4333213"/>
          </a:xfrm>
          <a:custGeom>
            <a:avLst/>
            <a:gdLst/>
            <a:ahLst/>
            <a:cxnLst/>
            <a:rect l="l" t="t" r="r" b="b"/>
            <a:pathLst>
              <a:path w="11702623" h="4333213">
                <a:moveTo>
                  <a:pt x="0" y="0"/>
                </a:moveTo>
                <a:lnTo>
                  <a:pt x="11702623" y="0"/>
                </a:lnTo>
                <a:lnTo>
                  <a:pt x="11702623" y="4333212"/>
                </a:lnTo>
                <a:lnTo>
                  <a:pt x="0" y="4333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028155" y="3053002"/>
            <a:ext cx="5983989" cy="42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endParaRPr/>
          </a:p>
          <a:p>
            <a:pPr algn="l">
              <a:lnSpc>
                <a:spcPts val="3449"/>
              </a:lnSpc>
            </a:pPr>
            <a:r>
              <a:rPr lang="en-US" sz="287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Enregistrer chaque entraînement sous forme de Run</a:t>
            </a:r>
          </a:p>
          <a:p>
            <a:pPr algn="l">
              <a:lnSpc>
                <a:spcPts val="3449"/>
              </a:lnSpc>
            </a:pPr>
            <a:endParaRPr lang="en-US" sz="2874">
              <a:solidFill>
                <a:srgbClr val="202124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l">
              <a:lnSpc>
                <a:spcPts val="3449"/>
              </a:lnSpc>
            </a:pPr>
            <a:r>
              <a:rPr lang="en-US" sz="287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Suivre les paramètres et les métriques</a:t>
            </a:r>
          </a:p>
          <a:p>
            <a:pPr algn="l">
              <a:lnSpc>
                <a:spcPts val="3449"/>
              </a:lnSpc>
            </a:pPr>
            <a:endParaRPr lang="en-US" sz="2874">
              <a:solidFill>
                <a:srgbClr val="202124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l">
              <a:lnSpc>
                <a:spcPts val="3449"/>
              </a:lnSpc>
            </a:pPr>
            <a:r>
              <a:rPr lang="en-US" sz="287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Comparer les résultats des différents modèles</a:t>
            </a:r>
          </a:p>
          <a:p>
            <a:pPr algn="l">
              <a:lnSpc>
                <a:spcPts val="3449"/>
              </a:lnSpc>
            </a:pPr>
            <a:endParaRPr lang="en-US" sz="2874">
              <a:solidFill>
                <a:srgbClr val="202124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l">
              <a:lnSpc>
                <a:spcPts val="3449"/>
              </a:lnSpc>
            </a:pPr>
            <a:r>
              <a:rPr lang="en-US" sz="2874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Conserver l’historique des expériences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7282160" y="9792652"/>
            <a:ext cx="548640" cy="431918"/>
            <a:chOff x="0" y="0"/>
            <a:chExt cx="731520" cy="5758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" cy="575890"/>
            </a:xfrm>
            <a:custGeom>
              <a:avLst/>
              <a:gdLst/>
              <a:ahLst/>
              <a:cxnLst/>
              <a:rect l="l" t="t" r="r" b="b"/>
              <a:pathLst>
                <a:path w="731520" h="575890">
                  <a:moveTo>
                    <a:pt x="0" y="0"/>
                  </a:moveTo>
                  <a:lnTo>
                    <a:pt x="731520" y="0"/>
                  </a:lnTo>
                  <a:lnTo>
                    <a:pt x="731520" y="575890"/>
                  </a:lnTo>
                  <a:lnTo>
                    <a:pt x="0" y="575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 b="777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31520" cy="594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15</a:t>
              </a:r>
            </a:p>
            <a:p>
              <a:pPr algn="r">
                <a:lnSpc>
                  <a:spcPts val="1530"/>
                </a:lnSpc>
              </a:pPr>
              <a:endParaRPr lang="en-US" sz="1275">
                <a:solidFill>
                  <a:srgbClr val="6B71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0176" y="-91440"/>
            <a:ext cx="987552" cy="987552"/>
            <a:chOff x="0" y="0"/>
            <a:chExt cx="1316736" cy="1316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07008" y="0"/>
                  </a:lnTo>
                  <a:cubicBezTo>
                    <a:pt x="1267587" y="0"/>
                    <a:pt x="1316736" y="49149"/>
                    <a:pt x="1316736" y="109728"/>
                  </a:cubicBezTo>
                  <a:lnTo>
                    <a:pt x="1316736" y="1207008"/>
                  </a:lnTo>
                  <a:cubicBezTo>
                    <a:pt x="1316736" y="1267587"/>
                    <a:pt x="1267587" y="1316736"/>
                    <a:pt x="1207008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99454" y="-905123"/>
            <a:ext cx="4114800" cy="2637158"/>
            <a:chOff x="0" y="0"/>
            <a:chExt cx="5486400" cy="35162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3516249"/>
            </a:xfrm>
            <a:custGeom>
              <a:avLst/>
              <a:gdLst/>
              <a:ahLst/>
              <a:cxnLst/>
              <a:rect l="l" t="t" r="r" b="b"/>
              <a:pathLst>
                <a:path w="5486400" h="3516249">
                  <a:moveTo>
                    <a:pt x="0" y="0"/>
                  </a:moveTo>
                  <a:lnTo>
                    <a:pt x="5486400" y="0"/>
                  </a:lnTo>
                  <a:lnTo>
                    <a:pt x="5486400" y="3516249"/>
                  </a:lnTo>
                  <a:lnTo>
                    <a:pt x="0" y="35162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86" r="-32286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84601" y="-838448"/>
            <a:ext cx="4114800" cy="2651446"/>
            <a:chOff x="0" y="0"/>
            <a:chExt cx="5486400" cy="3535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3535263"/>
            </a:xfrm>
            <a:custGeom>
              <a:avLst/>
              <a:gdLst/>
              <a:ahLst/>
              <a:cxnLst/>
              <a:rect l="l" t="t" r="r" b="b"/>
              <a:pathLst>
                <a:path w="5486400" h="3535263">
                  <a:moveTo>
                    <a:pt x="0" y="0"/>
                  </a:moveTo>
                  <a:lnTo>
                    <a:pt x="5486400" y="0"/>
                  </a:lnTo>
                  <a:lnTo>
                    <a:pt x="5486400" y="3535263"/>
                  </a:lnTo>
                  <a:lnTo>
                    <a:pt x="0" y="35352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674" r="-326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486400" cy="35543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MLflow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6600000">
            <a:off x="727545" y="278892"/>
            <a:ext cx="308610" cy="246888"/>
            <a:chOff x="0" y="0"/>
            <a:chExt cx="41148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" cy="329184"/>
            </a:xfrm>
            <a:custGeom>
              <a:avLst/>
              <a:gdLst/>
              <a:ahLst/>
              <a:cxnLst/>
              <a:rect l="l" t="t" r="r" b="b"/>
              <a:pathLst>
                <a:path w="411480" h="329184">
                  <a:moveTo>
                    <a:pt x="0" y="329184"/>
                  </a:moveTo>
                  <a:lnTo>
                    <a:pt x="205740" y="0"/>
                  </a:lnTo>
                  <a:lnTo>
                    <a:pt x="41148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0" y="6002163"/>
            <a:ext cx="11399933" cy="5375539"/>
            <a:chOff x="0" y="0"/>
            <a:chExt cx="15199910" cy="71673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99948" cy="7167372"/>
            </a:xfrm>
            <a:custGeom>
              <a:avLst/>
              <a:gdLst/>
              <a:ahLst/>
              <a:cxnLst/>
              <a:rect l="l" t="t" r="r" b="b"/>
              <a:pathLst>
                <a:path w="15199948" h="7167372">
                  <a:moveTo>
                    <a:pt x="0" y="0"/>
                  </a:moveTo>
                  <a:lnTo>
                    <a:pt x="15199948" y="0"/>
                  </a:lnTo>
                  <a:lnTo>
                    <a:pt x="15199948" y="7167372"/>
                  </a:lnTo>
                  <a:lnTo>
                    <a:pt x="0" y="7167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091" r="-209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8575" y="1028700"/>
            <a:ext cx="11371358" cy="4902281"/>
            <a:chOff x="0" y="0"/>
            <a:chExt cx="15535794" cy="66976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35745" cy="6697556"/>
            </a:xfrm>
            <a:custGeom>
              <a:avLst/>
              <a:gdLst/>
              <a:ahLst/>
              <a:cxnLst/>
              <a:rect l="l" t="t" r="r" b="b"/>
              <a:pathLst>
                <a:path w="15535745" h="6697556">
                  <a:moveTo>
                    <a:pt x="0" y="0"/>
                  </a:moveTo>
                  <a:lnTo>
                    <a:pt x="15535745" y="0"/>
                  </a:lnTo>
                  <a:lnTo>
                    <a:pt x="15535745" y="6697556"/>
                  </a:lnTo>
                  <a:lnTo>
                    <a:pt x="0" y="6697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706" b="-370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1919959" y="2638425"/>
            <a:ext cx="6236593" cy="558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Meilleur run → enregistré officiellement dans le Model Registry</a:t>
            </a:r>
          </a:p>
          <a:p>
            <a:pPr algn="just">
              <a:lnSpc>
                <a:spcPts val="3444"/>
              </a:lnSpc>
              <a:spcBef>
                <a:spcPct val="0"/>
              </a:spcBef>
            </a:pPr>
            <a:endParaRPr lang="en-US" sz="2870">
              <a:solidFill>
                <a:srgbClr val="000000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just">
              <a:lnSpc>
                <a:spcPts val="3444"/>
              </a:lnSpc>
              <a:spcBef>
                <a:spcPct val="0"/>
              </a:spcBef>
            </a:pPr>
            <a:endParaRPr lang="en-US" sz="2870">
              <a:solidFill>
                <a:srgbClr val="000000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just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Artifacts : sauvegarder le modèle et les fichiers nécessaires à son utilisation.</a:t>
            </a:r>
          </a:p>
          <a:p>
            <a:pPr algn="just">
              <a:lnSpc>
                <a:spcPts val="3444"/>
              </a:lnSpc>
              <a:spcBef>
                <a:spcPct val="0"/>
              </a:spcBef>
            </a:pPr>
            <a:endParaRPr lang="en-US" sz="2870">
              <a:solidFill>
                <a:srgbClr val="000000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just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Sépare les expérimentations du modèle « officiel » utilisé par l'API</a:t>
            </a:r>
          </a:p>
          <a:p>
            <a:pPr algn="just">
              <a:lnSpc>
                <a:spcPts val="3444"/>
              </a:lnSpc>
              <a:spcBef>
                <a:spcPct val="0"/>
              </a:spcBef>
            </a:pPr>
            <a:endParaRPr lang="en-US" sz="2870">
              <a:solidFill>
                <a:srgbClr val="000000"/>
              </a:solidFill>
              <a:latin typeface="Georgia Pro Condensed"/>
              <a:ea typeface="Georgia Pro Condensed"/>
              <a:cs typeface="Georgia Pro Condensed"/>
              <a:sym typeface="Georgia Pro Condensed"/>
            </a:endParaRPr>
          </a:p>
          <a:p>
            <a:pPr algn="just">
              <a:lnSpc>
                <a:spcPts val="3444"/>
              </a:lnSpc>
              <a:spcBef>
                <a:spcPct val="0"/>
              </a:spcBef>
            </a:pPr>
            <a:r>
              <a:rPr lang="en-US" sz="2870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Traçabilité : on sait quelle version tourne en production, et pourquoi elle a été choisie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593273" y="2748183"/>
            <a:ext cx="183309" cy="292153"/>
            <a:chOff x="0" y="0"/>
            <a:chExt cx="229494" cy="3657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9494" cy="365760"/>
            </a:xfrm>
            <a:custGeom>
              <a:avLst/>
              <a:gdLst/>
              <a:ahLst/>
              <a:cxnLst/>
              <a:rect l="l" t="t" r="r" b="b"/>
              <a:pathLst>
                <a:path w="229494" h="365760">
                  <a:moveTo>
                    <a:pt x="0" y="182880"/>
                  </a:moveTo>
                  <a:cubicBezTo>
                    <a:pt x="0" y="81788"/>
                    <a:pt x="51397" y="0"/>
                    <a:pt x="114747" y="0"/>
                  </a:cubicBezTo>
                  <a:cubicBezTo>
                    <a:pt x="178097" y="0"/>
                    <a:pt x="229494" y="81788"/>
                    <a:pt x="229494" y="182880"/>
                  </a:cubicBezTo>
                  <a:cubicBezTo>
                    <a:pt x="229494" y="283972"/>
                    <a:pt x="178176" y="365760"/>
                    <a:pt x="114747" y="365760"/>
                  </a:cubicBezTo>
                  <a:cubicBezTo>
                    <a:pt x="51317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638559" y="7418089"/>
            <a:ext cx="183309" cy="292153"/>
            <a:chOff x="0" y="0"/>
            <a:chExt cx="229494" cy="3657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494" cy="365760"/>
            </a:xfrm>
            <a:custGeom>
              <a:avLst/>
              <a:gdLst/>
              <a:ahLst/>
              <a:cxnLst/>
              <a:rect l="l" t="t" r="r" b="b"/>
              <a:pathLst>
                <a:path w="229494" h="365760">
                  <a:moveTo>
                    <a:pt x="0" y="182880"/>
                  </a:moveTo>
                  <a:cubicBezTo>
                    <a:pt x="0" y="81788"/>
                    <a:pt x="51397" y="0"/>
                    <a:pt x="114747" y="0"/>
                  </a:cubicBezTo>
                  <a:cubicBezTo>
                    <a:pt x="178097" y="0"/>
                    <a:pt x="229494" y="81788"/>
                    <a:pt x="229494" y="182880"/>
                  </a:cubicBezTo>
                  <a:cubicBezTo>
                    <a:pt x="229494" y="283972"/>
                    <a:pt x="178176" y="365760"/>
                    <a:pt x="114747" y="365760"/>
                  </a:cubicBezTo>
                  <a:cubicBezTo>
                    <a:pt x="51317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638559" y="6154563"/>
            <a:ext cx="183309" cy="292153"/>
            <a:chOff x="0" y="0"/>
            <a:chExt cx="229494" cy="3657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9494" cy="365760"/>
            </a:xfrm>
            <a:custGeom>
              <a:avLst/>
              <a:gdLst/>
              <a:ahLst/>
              <a:cxnLst/>
              <a:rect l="l" t="t" r="r" b="b"/>
              <a:pathLst>
                <a:path w="229494" h="365760">
                  <a:moveTo>
                    <a:pt x="0" y="182880"/>
                  </a:moveTo>
                  <a:cubicBezTo>
                    <a:pt x="0" y="81788"/>
                    <a:pt x="51397" y="0"/>
                    <a:pt x="114747" y="0"/>
                  </a:cubicBezTo>
                  <a:cubicBezTo>
                    <a:pt x="178097" y="0"/>
                    <a:pt x="229494" y="81788"/>
                    <a:pt x="229494" y="182880"/>
                  </a:cubicBezTo>
                  <a:cubicBezTo>
                    <a:pt x="229494" y="283972"/>
                    <a:pt x="178176" y="365760"/>
                    <a:pt x="114747" y="365760"/>
                  </a:cubicBezTo>
                  <a:cubicBezTo>
                    <a:pt x="51317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638559" y="4503740"/>
            <a:ext cx="183309" cy="292153"/>
            <a:chOff x="0" y="0"/>
            <a:chExt cx="229494" cy="3657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9494" cy="365760"/>
            </a:xfrm>
            <a:custGeom>
              <a:avLst/>
              <a:gdLst/>
              <a:ahLst/>
              <a:cxnLst/>
              <a:rect l="l" t="t" r="r" b="b"/>
              <a:pathLst>
                <a:path w="229494" h="365760">
                  <a:moveTo>
                    <a:pt x="0" y="182880"/>
                  </a:moveTo>
                  <a:cubicBezTo>
                    <a:pt x="0" y="81788"/>
                    <a:pt x="51397" y="0"/>
                    <a:pt x="114747" y="0"/>
                  </a:cubicBezTo>
                  <a:cubicBezTo>
                    <a:pt x="178097" y="0"/>
                    <a:pt x="229494" y="81788"/>
                    <a:pt x="229494" y="182880"/>
                  </a:cubicBezTo>
                  <a:cubicBezTo>
                    <a:pt x="229494" y="283972"/>
                    <a:pt x="178176" y="365760"/>
                    <a:pt x="114747" y="365760"/>
                  </a:cubicBezTo>
                  <a:cubicBezTo>
                    <a:pt x="51317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7282160" y="9792652"/>
            <a:ext cx="548640" cy="431918"/>
            <a:chOff x="0" y="0"/>
            <a:chExt cx="731520" cy="5758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1520" cy="575890"/>
            </a:xfrm>
            <a:custGeom>
              <a:avLst/>
              <a:gdLst/>
              <a:ahLst/>
              <a:cxnLst/>
              <a:rect l="l" t="t" r="r" b="b"/>
              <a:pathLst>
                <a:path w="731520" h="575890">
                  <a:moveTo>
                    <a:pt x="0" y="0"/>
                  </a:moveTo>
                  <a:lnTo>
                    <a:pt x="731520" y="0"/>
                  </a:lnTo>
                  <a:lnTo>
                    <a:pt x="731520" y="575890"/>
                  </a:lnTo>
                  <a:lnTo>
                    <a:pt x="0" y="575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 b="777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731520" cy="594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16</a:t>
              </a:r>
            </a:p>
            <a:p>
              <a:pPr algn="r">
                <a:lnSpc>
                  <a:spcPts val="1530"/>
                </a:lnSpc>
              </a:pPr>
              <a:endParaRPr lang="en-US" sz="1275">
                <a:solidFill>
                  <a:srgbClr val="6B71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7175" y="-81915"/>
            <a:ext cx="987552" cy="987552"/>
            <a:chOff x="0" y="0"/>
            <a:chExt cx="1316736" cy="1316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207008" y="0"/>
                  </a:lnTo>
                  <a:cubicBezTo>
                    <a:pt x="1267587" y="0"/>
                    <a:pt x="1316736" y="49149"/>
                    <a:pt x="1316736" y="109728"/>
                  </a:cubicBezTo>
                  <a:lnTo>
                    <a:pt x="1316736" y="1207008"/>
                  </a:lnTo>
                  <a:cubicBezTo>
                    <a:pt x="1316736" y="1267587"/>
                    <a:pt x="1267587" y="1316736"/>
                    <a:pt x="1207008" y="1316736"/>
                  </a:cubicBezTo>
                  <a:lnTo>
                    <a:pt x="109728" y="1316736"/>
                  </a:lnTo>
                  <a:cubicBezTo>
                    <a:pt x="49149" y="1316736"/>
                    <a:pt x="0" y="1267587"/>
                    <a:pt x="0" y="1207008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86452" y="-895598"/>
            <a:ext cx="4114800" cy="2637158"/>
            <a:chOff x="0" y="0"/>
            <a:chExt cx="5486400" cy="35162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3516249"/>
            </a:xfrm>
            <a:custGeom>
              <a:avLst/>
              <a:gdLst/>
              <a:ahLst/>
              <a:cxnLst/>
              <a:rect l="l" t="t" r="r" b="b"/>
              <a:pathLst>
                <a:path w="5486400" h="3516249">
                  <a:moveTo>
                    <a:pt x="0" y="0"/>
                  </a:moveTo>
                  <a:lnTo>
                    <a:pt x="5486400" y="0"/>
                  </a:lnTo>
                  <a:lnTo>
                    <a:pt x="5486400" y="3516249"/>
                  </a:lnTo>
                  <a:lnTo>
                    <a:pt x="0" y="35162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86" r="-32286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86452" y="-909885"/>
            <a:ext cx="4114800" cy="2651448"/>
            <a:chOff x="0" y="0"/>
            <a:chExt cx="5486400" cy="35352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6400" cy="3535266"/>
            </a:xfrm>
            <a:custGeom>
              <a:avLst/>
              <a:gdLst/>
              <a:ahLst/>
              <a:cxnLst/>
              <a:rect l="l" t="t" r="r" b="b"/>
              <a:pathLst>
                <a:path w="5486400" h="3535266">
                  <a:moveTo>
                    <a:pt x="0" y="0"/>
                  </a:moveTo>
                  <a:lnTo>
                    <a:pt x="5486400" y="0"/>
                  </a:lnTo>
                  <a:lnTo>
                    <a:pt x="5486400" y="3535266"/>
                  </a:lnTo>
                  <a:lnTo>
                    <a:pt x="0" y="35352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674" r="-32674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486400" cy="35543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Monitoring 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 rot="6600000">
            <a:off x="614543" y="288417"/>
            <a:ext cx="308610" cy="246888"/>
            <a:chOff x="0" y="0"/>
            <a:chExt cx="41148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480" cy="329184"/>
            </a:xfrm>
            <a:custGeom>
              <a:avLst/>
              <a:gdLst/>
              <a:ahLst/>
              <a:cxnLst/>
              <a:rect l="l" t="t" r="r" b="b"/>
              <a:pathLst>
                <a:path w="411480" h="329184">
                  <a:moveTo>
                    <a:pt x="0" y="329184"/>
                  </a:moveTo>
                  <a:lnTo>
                    <a:pt x="205740" y="0"/>
                  </a:lnTo>
                  <a:lnTo>
                    <a:pt x="41148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688848" y="1580624"/>
            <a:ext cx="9399418" cy="4226458"/>
          </a:xfrm>
          <a:custGeom>
            <a:avLst/>
            <a:gdLst/>
            <a:ahLst/>
            <a:cxnLst/>
            <a:rect l="l" t="t" r="r" b="b"/>
            <a:pathLst>
              <a:path w="9399418" h="4226458">
                <a:moveTo>
                  <a:pt x="0" y="0"/>
                </a:moveTo>
                <a:lnTo>
                  <a:pt x="9399418" y="0"/>
                </a:lnTo>
                <a:lnTo>
                  <a:pt x="9399418" y="4226458"/>
                </a:lnTo>
                <a:lnTo>
                  <a:pt x="0" y="42264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3363" y="6912592"/>
            <a:ext cx="7795266" cy="3340502"/>
          </a:xfrm>
          <a:custGeom>
            <a:avLst/>
            <a:gdLst/>
            <a:ahLst/>
            <a:cxnLst/>
            <a:rect l="l" t="t" r="r" b="b"/>
            <a:pathLst>
              <a:path w="7795266" h="3340502">
                <a:moveTo>
                  <a:pt x="0" y="0"/>
                </a:moveTo>
                <a:lnTo>
                  <a:pt x="7795267" y="0"/>
                </a:lnTo>
                <a:lnTo>
                  <a:pt x="7795267" y="3340502"/>
                </a:lnTo>
                <a:lnTo>
                  <a:pt x="0" y="3340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6200" r="-1876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81223" y="6912592"/>
            <a:ext cx="8279761" cy="3764933"/>
          </a:xfrm>
          <a:custGeom>
            <a:avLst/>
            <a:gdLst/>
            <a:ahLst/>
            <a:cxnLst/>
            <a:rect l="l" t="t" r="r" b="b"/>
            <a:pathLst>
              <a:path w="8279761" h="3764933">
                <a:moveTo>
                  <a:pt x="0" y="0"/>
                </a:moveTo>
                <a:lnTo>
                  <a:pt x="8279761" y="0"/>
                </a:lnTo>
                <a:lnTo>
                  <a:pt x="8279761" y="3764933"/>
                </a:lnTo>
                <a:lnTo>
                  <a:pt x="0" y="3764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34152" y="6503042"/>
            <a:ext cx="5983989" cy="40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574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Cas stable - aucune alerte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93195" y="6503042"/>
            <a:ext cx="7767790" cy="40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574">
                <a:solidFill>
                  <a:srgbClr val="0000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Cas simulé — température +30 %, vibration +40 % 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867095" y="5010150"/>
            <a:ext cx="5468875" cy="2637160"/>
            <a:chOff x="0" y="0"/>
            <a:chExt cx="7291833" cy="35162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91832" cy="3516216"/>
            </a:xfrm>
            <a:custGeom>
              <a:avLst/>
              <a:gdLst/>
              <a:ahLst/>
              <a:cxnLst/>
              <a:rect l="l" t="t" r="r" b="b"/>
              <a:pathLst>
                <a:path w="7291832" h="3516216">
                  <a:moveTo>
                    <a:pt x="0" y="0"/>
                  </a:moveTo>
                  <a:lnTo>
                    <a:pt x="7291832" y="0"/>
                  </a:lnTo>
                  <a:lnTo>
                    <a:pt x="7291832" y="3516216"/>
                  </a:lnTo>
                  <a:lnTo>
                    <a:pt x="0" y="3516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584" r="175" b="-54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7291833" cy="3525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2.Détection du Data Drift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9124" y="-81915"/>
            <a:ext cx="6548205" cy="2833098"/>
            <a:chOff x="0" y="0"/>
            <a:chExt cx="8730940" cy="3777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30940" cy="3777466"/>
            </a:xfrm>
            <a:custGeom>
              <a:avLst/>
              <a:gdLst/>
              <a:ahLst/>
              <a:cxnLst/>
              <a:rect l="l" t="t" r="r" b="b"/>
              <a:pathLst>
                <a:path w="8730940" h="3777466">
                  <a:moveTo>
                    <a:pt x="0" y="0"/>
                  </a:moveTo>
                  <a:lnTo>
                    <a:pt x="8730940" y="0"/>
                  </a:lnTo>
                  <a:lnTo>
                    <a:pt x="8730940" y="3777466"/>
                  </a:lnTo>
                  <a:lnTo>
                    <a:pt x="0" y="3777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532" r="16629" b="641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8730940" cy="37869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1.Monitoring des performances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8291" y="2451146"/>
            <a:ext cx="7786591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Détecter si un nouveau modèle est moins bon qu'un modèle déjà en production</a:t>
            </a:r>
          </a:p>
          <a:p>
            <a:pPr algn="just">
              <a:lnSpc>
                <a:spcPts val="432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Détecter si les données changent, ce qui rendrait le modèle moins fiable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282160" y="9792652"/>
            <a:ext cx="792722" cy="575549"/>
            <a:chOff x="0" y="0"/>
            <a:chExt cx="731520" cy="5311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17</a:t>
              </a:r>
            </a:p>
            <a:p>
              <a:pPr algn="r">
                <a:lnSpc>
                  <a:spcPts val="1530"/>
                </a:lnSpc>
              </a:pPr>
              <a:endParaRPr lang="en-US" sz="1275">
                <a:solidFill>
                  <a:srgbClr val="6B717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301752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797" b="-28379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34440" y="3010376"/>
            <a:ext cx="8229600" cy="487204"/>
            <a:chOff x="0" y="0"/>
            <a:chExt cx="10972800" cy="6496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49605"/>
            </a:xfrm>
            <a:custGeom>
              <a:avLst/>
              <a:gdLst/>
              <a:ahLst/>
              <a:cxnLst/>
              <a:rect l="l" t="t" r="r" b="b"/>
              <a:pathLst>
                <a:path w="10972800" h="649605">
                  <a:moveTo>
                    <a:pt x="0" y="0"/>
                  </a:moveTo>
                  <a:lnTo>
                    <a:pt x="10972800" y="0"/>
                  </a:lnTo>
                  <a:lnTo>
                    <a:pt x="10972800" y="649605"/>
                  </a:lnTo>
                  <a:lnTo>
                    <a:pt x="0" y="649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131" b="-27913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09728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448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PARTIE 3 / 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3566160"/>
            <a:ext cx="15087600" cy="1645920"/>
            <a:chOff x="0" y="0"/>
            <a:chExt cx="20116800" cy="21945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116800" cy="2194560"/>
            </a:xfrm>
            <a:custGeom>
              <a:avLst/>
              <a:gdLst/>
              <a:ahLst/>
              <a:cxnLst/>
              <a:rect l="l" t="t" r="r" b="b"/>
              <a:pathLst>
                <a:path w="20116800" h="2194560">
                  <a:moveTo>
                    <a:pt x="0" y="0"/>
                  </a:moveTo>
                  <a:lnTo>
                    <a:pt x="20116800" y="0"/>
                  </a:lnTo>
                  <a:lnTo>
                    <a:pt x="20116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8488" b="-12848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34440" y="3559016"/>
            <a:ext cx="15087600" cy="1653064"/>
            <a:chOff x="0" y="0"/>
            <a:chExt cx="20116800" cy="2204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16800" cy="2204085"/>
            </a:xfrm>
            <a:custGeom>
              <a:avLst/>
              <a:gdLst/>
              <a:ahLst/>
              <a:cxnLst/>
              <a:rect l="l" t="t" r="r" b="b"/>
              <a:pathLst>
                <a:path w="20116800" h="2204085">
                  <a:moveTo>
                    <a:pt x="0" y="0"/>
                  </a:moveTo>
                  <a:lnTo>
                    <a:pt x="20116800" y="0"/>
                  </a:lnTo>
                  <a:lnTo>
                    <a:pt x="20116800" y="2204085"/>
                  </a:lnTo>
                  <a:lnTo>
                    <a:pt x="0" y="22040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840" b="-12784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0116800" cy="2213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Déploiement &amp; Observabilité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440" y="5692140"/>
            <a:ext cx="960120" cy="960120"/>
            <a:chOff x="0" y="0"/>
            <a:chExt cx="1280160" cy="1280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14" name="Group 14"/>
          <p:cNvGrpSpPr/>
          <p:nvPr/>
        </p:nvGrpSpPr>
        <p:grpSpPr>
          <a:xfrm rot="6600000">
            <a:off x="1560890" y="5960983"/>
            <a:ext cx="288036" cy="230410"/>
            <a:chOff x="0" y="0"/>
            <a:chExt cx="384048" cy="3072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4048" cy="307213"/>
            </a:xfrm>
            <a:custGeom>
              <a:avLst/>
              <a:gdLst/>
              <a:ahLst/>
              <a:cxnLst/>
              <a:rect l="l" t="t" r="r" b="b"/>
              <a:pathLst>
                <a:path w="384048" h="307213">
                  <a:moveTo>
                    <a:pt x="0" y="307213"/>
                  </a:moveTo>
                  <a:lnTo>
                    <a:pt x="192024" y="0"/>
                  </a:lnTo>
                  <a:lnTo>
                    <a:pt x="384048" y="3072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4200000">
            <a:off x="1580074" y="6153007"/>
            <a:ext cx="288036" cy="230410"/>
            <a:chOff x="0" y="0"/>
            <a:chExt cx="384048" cy="3072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4048" cy="307213"/>
            </a:xfrm>
            <a:custGeom>
              <a:avLst/>
              <a:gdLst/>
              <a:ahLst/>
              <a:cxnLst/>
              <a:rect l="l" t="t" r="r" b="b"/>
              <a:pathLst>
                <a:path w="384048" h="307213">
                  <a:moveTo>
                    <a:pt x="0" y="307213"/>
                  </a:moveTo>
                  <a:lnTo>
                    <a:pt x="192024" y="0"/>
                  </a:lnTo>
                  <a:lnTo>
                    <a:pt x="384048" y="30721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22960" y="6789420"/>
            <a:ext cx="2606040" cy="822960"/>
            <a:chOff x="0" y="0"/>
            <a:chExt cx="3474720" cy="1097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22960" y="6775132"/>
            <a:ext cx="2606040" cy="837248"/>
            <a:chOff x="0" y="0"/>
            <a:chExt cx="3474720" cy="11163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FastAPI — Service ML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rot="37140">
            <a:off x="22391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3977640" y="5692140"/>
            <a:ext cx="960120" cy="960120"/>
            <a:chOff x="0" y="0"/>
            <a:chExt cx="1280160" cy="12801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265676" y="6152998"/>
            <a:ext cx="307276" cy="249650"/>
            <a:chOff x="0" y="0"/>
            <a:chExt cx="409702" cy="33286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9702" cy="332867"/>
            </a:xfrm>
            <a:custGeom>
              <a:avLst/>
              <a:gdLst/>
              <a:ahLst/>
              <a:cxnLst/>
              <a:rect l="l" t="t" r="r" b="b"/>
              <a:pathLst>
                <a:path w="409702" h="332867">
                  <a:moveTo>
                    <a:pt x="0" y="0"/>
                  </a:moveTo>
                  <a:lnTo>
                    <a:pt x="409702" y="0"/>
                  </a:lnTo>
                  <a:lnTo>
                    <a:pt x="409702" y="332867"/>
                  </a:lnTo>
                  <a:lnTo>
                    <a:pt x="0" y="33286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4373423" y="5934304"/>
            <a:ext cx="360616" cy="302990"/>
            <a:chOff x="0" y="0"/>
            <a:chExt cx="480822" cy="4039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0822" cy="403987"/>
            </a:xfrm>
            <a:custGeom>
              <a:avLst/>
              <a:gdLst/>
              <a:ahLst/>
              <a:cxnLst/>
              <a:rect l="l" t="t" r="r" b="b"/>
              <a:pathLst>
                <a:path w="480822" h="403987">
                  <a:moveTo>
                    <a:pt x="0" y="0"/>
                  </a:moveTo>
                  <a:lnTo>
                    <a:pt x="480822" y="0"/>
                  </a:lnTo>
                  <a:lnTo>
                    <a:pt x="480822" y="403987"/>
                  </a:lnTo>
                  <a:lnTo>
                    <a:pt x="0" y="403987"/>
                  </a:lnTo>
                  <a:close/>
                </a:path>
              </a:pathLst>
            </a:custGeom>
            <a:solidFill>
              <a:srgbClr val="55606B"/>
            </a:solidFill>
            <a:ln w="3048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3566160" y="6789420"/>
            <a:ext cx="2606040" cy="822960"/>
            <a:chOff x="0" y="0"/>
            <a:chExt cx="347472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3566160" y="6775132"/>
            <a:ext cx="2606040" cy="837248"/>
            <a:chOff x="0" y="0"/>
            <a:chExt cx="3474720" cy="111633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Docker — Conteneurisation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rot="37140">
            <a:off x="49823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6720840" y="5692140"/>
            <a:ext cx="960120" cy="960120"/>
            <a:chOff x="0" y="0"/>
            <a:chExt cx="1280160" cy="12801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970471" y="5941771"/>
            <a:ext cx="460820" cy="460820"/>
            <a:chOff x="0" y="0"/>
            <a:chExt cx="614426" cy="61442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14426" cy="614426"/>
            </a:xfrm>
            <a:custGeom>
              <a:avLst/>
              <a:gdLst/>
              <a:ahLst/>
              <a:cxnLst/>
              <a:rect l="l" t="t" r="r" b="b"/>
              <a:pathLst>
                <a:path w="614426" h="614426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cubicBezTo>
                    <a:pt x="476885" y="0"/>
                    <a:pt x="614426" y="137541"/>
                    <a:pt x="614426" y="307213"/>
                  </a:cubicBezTo>
                  <a:cubicBezTo>
                    <a:pt x="614426" y="476885"/>
                    <a:pt x="476885" y="614426"/>
                    <a:pt x="307213" y="614426"/>
                  </a:cubicBezTo>
                  <a:cubicBezTo>
                    <a:pt x="137541" y="614426"/>
                    <a:pt x="0" y="476885"/>
                    <a:pt x="0" y="307213"/>
                  </a:cubicBezTo>
                  <a:close/>
                  <a:moveTo>
                    <a:pt x="153670" y="307213"/>
                  </a:moveTo>
                  <a:cubicBezTo>
                    <a:pt x="153670" y="392049"/>
                    <a:pt x="222504" y="460883"/>
                    <a:pt x="307340" y="460883"/>
                  </a:cubicBezTo>
                  <a:cubicBezTo>
                    <a:pt x="392176" y="460883"/>
                    <a:pt x="461010" y="392049"/>
                    <a:pt x="461010" y="307213"/>
                  </a:cubicBezTo>
                  <a:cubicBezTo>
                    <a:pt x="461010" y="222377"/>
                    <a:pt x="392176" y="153543"/>
                    <a:pt x="307340" y="153543"/>
                  </a:cubicBezTo>
                  <a:cubicBezTo>
                    <a:pt x="222504" y="153543"/>
                    <a:pt x="153670" y="222377"/>
                    <a:pt x="153670" y="3072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309360" y="6789420"/>
            <a:ext cx="2606040" cy="822960"/>
            <a:chOff x="0" y="0"/>
            <a:chExt cx="347472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6309360" y="6775132"/>
            <a:ext cx="2606040" cy="837248"/>
            <a:chOff x="0" y="0"/>
            <a:chExt cx="3474720" cy="111633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CI/CD — GitHub Actions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 rot="37140">
            <a:off x="7725566" y="6153150"/>
            <a:ext cx="1762468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9464040" y="5692140"/>
            <a:ext cx="960120" cy="960120"/>
            <a:chOff x="0" y="0"/>
            <a:chExt cx="1280160" cy="12801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9651930" y="5880030"/>
            <a:ext cx="584359" cy="584359"/>
            <a:chOff x="0" y="0"/>
            <a:chExt cx="779145" cy="77914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79145" cy="779145"/>
            </a:xfrm>
            <a:custGeom>
              <a:avLst/>
              <a:gdLst/>
              <a:ahLst/>
              <a:cxnLst/>
              <a:rect l="l" t="t" r="r" b="b"/>
              <a:pathLst>
                <a:path w="779145" h="779145">
                  <a:moveTo>
                    <a:pt x="0" y="389509"/>
                  </a:moveTo>
                  <a:cubicBezTo>
                    <a:pt x="0" y="174371"/>
                    <a:pt x="174371" y="0"/>
                    <a:pt x="389509" y="0"/>
                  </a:cubicBezTo>
                  <a:cubicBezTo>
                    <a:pt x="604647" y="0"/>
                    <a:pt x="779145" y="174371"/>
                    <a:pt x="779145" y="389509"/>
                  </a:cubicBezTo>
                  <a:cubicBezTo>
                    <a:pt x="779145" y="604647"/>
                    <a:pt x="604647" y="779145"/>
                    <a:pt x="389509" y="779145"/>
                  </a:cubicBezTo>
                  <a:cubicBezTo>
                    <a:pt x="174371" y="779145"/>
                    <a:pt x="0" y="604647"/>
                    <a:pt x="0" y="38950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9800082" y="6028182"/>
            <a:ext cx="288036" cy="288036"/>
            <a:chOff x="0" y="0"/>
            <a:chExt cx="384048" cy="38404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84048" cy="384048"/>
            </a:xfrm>
            <a:custGeom>
              <a:avLst/>
              <a:gdLst/>
              <a:ahLst/>
              <a:cxnLst/>
              <a:rect l="l" t="t" r="r" b="b"/>
              <a:pathLst>
                <a:path w="384048" h="384048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cubicBezTo>
                    <a:pt x="298069" y="0"/>
                    <a:pt x="384048" y="85979"/>
                    <a:pt x="384048" y="192024"/>
                  </a:cubicBezTo>
                  <a:cubicBezTo>
                    <a:pt x="384048" y="298069"/>
                    <a:pt x="298069" y="384048"/>
                    <a:pt x="192024" y="384048"/>
                  </a:cubicBezTo>
                  <a:cubicBezTo>
                    <a:pt x="85979" y="384048"/>
                    <a:pt x="0" y="298069"/>
                    <a:pt x="0" y="1920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052560" y="6789420"/>
            <a:ext cx="2606040" cy="822960"/>
            <a:chOff x="0" y="0"/>
            <a:chExt cx="3474720" cy="10972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474720" cy="1097280"/>
            </a:xfrm>
            <a:custGeom>
              <a:avLst/>
              <a:gdLst/>
              <a:ahLst/>
              <a:cxnLst/>
              <a:rect l="l" t="t" r="r" b="b"/>
              <a:pathLst>
                <a:path w="3474720" h="109728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9" b="-11659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9052560" y="6775132"/>
            <a:ext cx="2606040" cy="837248"/>
            <a:chOff x="0" y="0"/>
            <a:chExt cx="3474720" cy="111633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474720" cy="1116330"/>
            </a:xfrm>
            <a:custGeom>
              <a:avLst/>
              <a:gdLst/>
              <a:ahLst/>
              <a:cxnLst/>
              <a:rect l="l" t="t" r="r" b="b"/>
              <a:pathLst>
                <a:path w="3474720" h="1116330">
                  <a:moveTo>
                    <a:pt x="0" y="0"/>
                  </a:moveTo>
                  <a:lnTo>
                    <a:pt x="3474720" y="0"/>
                  </a:lnTo>
                  <a:lnTo>
                    <a:pt x="3474720" y="1116330"/>
                  </a:lnTo>
                  <a:lnTo>
                    <a:pt x="0" y="1116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649" b="-10649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34747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C7CCD1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Monitoring &amp; Observabilité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" name="Group 4"/>
          <p:cNvGrpSpPr/>
          <p:nvPr/>
        </p:nvGrpSpPr>
        <p:grpSpPr>
          <a:xfrm rot="6600000">
            <a:off x="1138428" y="939546"/>
            <a:ext cx="308610" cy="246888"/>
            <a:chOff x="0" y="0"/>
            <a:chExt cx="411480" cy="3291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480" cy="329184"/>
            </a:xfrm>
            <a:custGeom>
              <a:avLst/>
              <a:gdLst/>
              <a:ahLst/>
              <a:cxnLst/>
              <a:rect l="l" t="t" r="r" b="b"/>
              <a:pathLst>
                <a:path w="411480" h="329184">
                  <a:moveTo>
                    <a:pt x="0" y="329184"/>
                  </a:moveTo>
                  <a:lnTo>
                    <a:pt x="205740" y="0"/>
                  </a:lnTo>
                  <a:lnTo>
                    <a:pt x="41148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-4200000">
            <a:off x="1159002" y="1145286"/>
            <a:ext cx="308610" cy="246888"/>
            <a:chOff x="0" y="0"/>
            <a:chExt cx="411480" cy="329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1480" cy="329184"/>
            </a:xfrm>
            <a:custGeom>
              <a:avLst/>
              <a:gdLst/>
              <a:ahLst/>
              <a:cxnLst/>
              <a:rect l="l" t="t" r="r" b="b"/>
              <a:pathLst>
                <a:path w="411480" h="329184">
                  <a:moveTo>
                    <a:pt x="0" y="329184"/>
                  </a:moveTo>
                  <a:lnTo>
                    <a:pt x="205740" y="0"/>
                  </a:lnTo>
                  <a:lnTo>
                    <a:pt x="411480" y="3291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9 / 12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FastAPI — Service ML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2976" y="754380"/>
            <a:ext cx="150876" cy="150876"/>
            <a:chOff x="0" y="0"/>
            <a:chExt cx="201168" cy="2011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871728" y="2085594"/>
            <a:ext cx="4114800" cy="1371600"/>
            <a:chOff x="0" y="0"/>
            <a:chExt cx="5486400" cy="1828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86400" cy="1828800"/>
            </a:xfrm>
            <a:custGeom>
              <a:avLst/>
              <a:gdLst/>
              <a:ahLst/>
              <a:cxnLst/>
              <a:rect l="l" t="t" r="r" b="b"/>
              <a:pathLst>
                <a:path w="5486400" h="1828800">
                  <a:moveTo>
                    <a:pt x="0" y="0"/>
                  </a:moveTo>
                  <a:lnTo>
                    <a:pt x="5486400" y="0"/>
                  </a:lnTo>
                  <a:lnTo>
                    <a:pt x="5486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14" b="-8414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871728" y="2071306"/>
            <a:ext cx="4114800" cy="1385888"/>
            <a:chOff x="0" y="0"/>
            <a:chExt cx="5486400" cy="18478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486400" cy="1847850"/>
            </a:xfrm>
            <a:custGeom>
              <a:avLst/>
              <a:gdLst/>
              <a:ahLst/>
              <a:cxnLst/>
              <a:rect l="l" t="t" r="r" b="b"/>
              <a:pathLst>
                <a:path w="5486400" h="1847850">
                  <a:moveTo>
                    <a:pt x="0" y="0"/>
                  </a:moveTo>
                  <a:lnTo>
                    <a:pt x="5486400" y="0"/>
                  </a:lnTo>
                  <a:lnTo>
                    <a:pt x="5486400" y="1847850"/>
                  </a:lnTo>
                  <a:lnTo>
                    <a:pt x="0" y="1847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2" b="-785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5486400" cy="1866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800"/>
                </a:lnSpc>
              </a:pPr>
              <a:r>
                <a:rPr lang="en-US" sz="9000" b="1">
                  <a:solidFill>
                    <a:srgbClr val="AB5B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71728" y="3457194"/>
            <a:ext cx="4114800" cy="685800"/>
            <a:chOff x="0" y="0"/>
            <a:chExt cx="54864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486400" cy="914400"/>
            </a:xfrm>
            <a:custGeom>
              <a:avLst/>
              <a:gdLst/>
              <a:ahLst/>
              <a:cxnLst/>
              <a:rect l="l" t="t" r="r" b="b"/>
              <a:pathLst>
                <a:path w="5486400" h="914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829" b="-66829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871728" y="3450050"/>
            <a:ext cx="4114800" cy="692944"/>
            <a:chOff x="0" y="0"/>
            <a:chExt cx="5486400" cy="92392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923925"/>
            </a:xfrm>
            <a:custGeom>
              <a:avLst/>
              <a:gdLst/>
              <a:ahLst/>
              <a:cxnLst/>
              <a:rect l="l" t="t" r="r" b="b"/>
              <a:pathLst>
                <a:path w="5486400" h="923925">
                  <a:moveTo>
                    <a:pt x="0" y="0"/>
                  </a:moveTo>
                  <a:lnTo>
                    <a:pt x="5486400" y="0"/>
                  </a:lnTo>
                  <a:lnTo>
                    <a:pt x="5486400" y="923925"/>
                  </a:lnTo>
                  <a:lnTo>
                    <a:pt x="0" y="923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704" b="-65704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54864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endpoints exposés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71728" y="4005834"/>
            <a:ext cx="5486400" cy="411480"/>
            <a:chOff x="0" y="0"/>
            <a:chExt cx="7315200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9620" b="-209620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871728" y="4005834"/>
            <a:ext cx="5486400" cy="411480"/>
            <a:chOff x="0" y="0"/>
            <a:chExt cx="731520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7315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ARCHITECTURE DU SERVICE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353014" y="1693640"/>
            <a:ext cx="4902518" cy="2982278"/>
            <a:chOff x="0" y="0"/>
            <a:chExt cx="6536690" cy="397637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536690" cy="3976370"/>
            </a:xfrm>
            <a:custGeom>
              <a:avLst/>
              <a:gdLst/>
              <a:ahLst/>
              <a:cxnLst/>
              <a:rect l="l" t="t" r="r" b="b"/>
              <a:pathLst>
                <a:path w="6536690" h="3976370">
                  <a:moveTo>
                    <a:pt x="0" y="0"/>
                  </a:moveTo>
                  <a:lnTo>
                    <a:pt x="6536690" y="0"/>
                  </a:lnTo>
                  <a:lnTo>
                    <a:pt x="6536690" y="3976370"/>
                  </a:lnTo>
                  <a:lnTo>
                    <a:pt x="0" y="3976370"/>
                  </a:lnTo>
                  <a:close/>
                </a:path>
              </a:pathLst>
            </a:custGeom>
            <a:solidFill>
              <a:srgbClr val="EEF0F1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7849743" y="2121789"/>
            <a:ext cx="685800" cy="685800"/>
            <a:chOff x="0" y="0"/>
            <a:chExt cx="914400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63" name="AutoShape 63"/>
          <p:cNvSpPr/>
          <p:nvPr/>
        </p:nvSpPr>
        <p:spPr>
          <a:xfrm>
            <a:off x="8182164" y="2261047"/>
            <a:ext cx="10479" cy="285938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4" name="Group 64"/>
          <p:cNvGrpSpPr/>
          <p:nvPr/>
        </p:nvGrpSpPr>
        <p:grpSpPr>
          <a:xfrm rot="-10800000">
            <a:off x="8096631" y="2478405"/>
            <a:ext cx="192024" cy="137160"/>
            <a:chOff x="0" y="0"/>
            <a:chExt cx="256032" cy="1828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56032" cy="182880"/>
            </a:xfrm>
            <a:custGeom>
              <a:avLst/>
              <a:gdLst/>
              <a:ahLst/>
              <a:cxnLst/>
              <a:rect l="l" t="t" r="r" b="b"/>
              <a:pathLst>
                <a:path w="256032" h="182880">
                  <a:moveTo>
                    <a:pt x="0" y="182880"/>
                  </a:moveTo>
                  <a:lnTo>
                    <a:pt x="128016" y="0"/>
                  </a:lnTo>
                  <a:lnTo>
                    <a:pt x="256032" y="18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8809863" y="2053209"/>
            <a:ext cx="3291840" cy="480060"/>
            <a:chOff x="0" y="0"/>
            <a:chExt cx="4389120" cy="6400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389120" cy="640080"/>
            </a:xfrm>
            <a:custGeom>
              <a:avLst/>
              <a:gdLst/>
              <a:ahLst/>
              <a:cxnLst/>
              <a:rect l="l" t="t" r="r" b="b"/>
              <a:pathLst>
                <a:path w="4389120" h="640080">
                  <a:moveTo>
                    <a:pt x="0" y="0"/>
                  </a:moveTo>
                  <a:lnTo>
                    <a:pt x="4389120" y="0"/>
                  </a:lnTo>
                  <a:lnTo>
                    <a:pt x="4389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3517" b="-83519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8809863" y="2046065"/>
            <a:ext cx="3291840" cy="487204"/>
            <a:chOff x="0" y="0"/>
            <a:chExt cx="4389120" cy="64960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389120" cy="649605"/>
            </a:xfrm>
            <a:custGeom>
              <a:avLst/>
              <a:gdLst/>
              <a:ahLst/>
              <a:cxnLst/>
              <a:rect l="l" t="t" r="r" b="b"/>
              <a:pathLst>
                <a:path w="4389120" h="649605">
                  <a:moveTo>
                    <a:pt x="0" y="0"/>
                  </a:moveTo>
                  <a:lnTo>
                    <a:pt x="4389120" y="0"/>
                  </a:lnTo>
                  <a:lnTo>
                    <a:pt x="4389120" y="649605"/>
                  </a:lnTo>
                  <a:lnTo>
                    <a:pt x="0" y="649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652" b="-8165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38912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GET /health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44003" y="3081909"/>
            <a:ext cx="4320540" cy="1234440"/>
            <a:chOff x="0" y="0"/>
            <a:chExt cx="5760720" cy="16459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760720" cy="1645920"/>
            </a:xfrm>
            <a:custGeom>
              <a:avLst/>
              <a:gdLst/>
              <a:ahLst/>
              <a:cxnLst/>
              <a:rect l="l" t="t" r="r" b="b"/>
              <a:pathLst>
                <a:path w="5760720" h="1645920">
                  <a:moveTo>
                    <a:pt x="0" y="0"/>
                  </a:moveTo>
                  <a:lnTo>
                    <a:pt x="5760720" y="0"/>
                  </a:lnTo>
                  <a:lnTo>
                    <a:pt x="5760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50" b="-18149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7644003" y="3067622"/>
            <a:ext cx="4320540" cy="1248727"/>
            <a:chOff x="0" y="0"/>
            <a:chExt cx="5760720" cy="166497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760720" cy="1664970"/>
            </a:xfrm>
            <a:custGeom>
              <a:avLst/>
              <a:gdLst/>
              <a:ahLst/>
              <a:cxnLst/>
              <a:rect l="l" t="t" r="r" b="b"/>
              <a:pathLst>
                <a:path w="5760720" h="1664970">
                  <a:moveTo>
                    <a:pt x="0" y="0"/>
                  </a:moveTo>
                  <a:lnTo>
                    <a:pt x="5760720" y="0"/>
                  </a:lnTo>
                  <a:lnTo>
                    <a:pt x="576072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17" b="-1741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5760720" cy="1684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état du service, modèle chargé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496514" y="1693640"/>
            <a:ext cx="4971097" cy="2982278"/>
            <a:chOff x="0" y="0"/>
            <a:chExt cx="6628130" cy="397637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628130" cy="3976370"/>
            </a:xfrm>
            <a:custGeom>
              <a:avLst/>
              <a:gdLst/>
              <a:ahLst/>
              <a:cxnLst/>
              <a:rect l="l" t="t" r="r" b="b"/>
              <a:pathLst>
                <a:path w="6628130" h="3976370">
                  <a:moveTo>
                    <a:pt x="0" y="0"/>
                  </a:moveTo>
                  <a:lnTo>
                    <a:pt x="6628130" y="0"/>
                  </a:lnTo>
                  <a:lnTo>
                    <a:pt x="6628130" y="3976370"/>
                  </a:lnTo>
                  <a:lnTo>
                    <a:pt x="0" y="3976370"/>
                  </a:lnTo>
                  <a:close/>
                </a:path>
              </a:pathLst>
            </a:custGeom>
            <a:solidFill>
              <a:srgbClr val="FBEEE3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2993243" y="2121789"/>
            <a:ext cx="685800" cy="685800"/>
            <a:chOff x="0" y="0"/>
            <a:chExt cx="914400" cy="9144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80" name="Group 80"/>
          <p:cNvGrpSpPr/>
          <p:nvPr/>
        </p:nvGrpSpPr>
        <p:grpSpPr>
          <a:xfrm rot="6600000">
            <a:off x="13226415" y="2313813"/>
            <a:ext cx="205740" cy="164592"/>
            <a:chOff x="0" y="0"/>
            <a:chExt cx="274320" cy="21945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74320" cy="219456"/>
            </a:xfrm>
            <a:custGeom>
              <a:avLst/>
              <a:gdLst/>
              <a:ahLst/>
              <a:cxnLst/>
              <a:rect l="l" t="t" r="r" b="b"/>
              <a:pathLst>
                <a:path w="274320" h="219456">
                  <a:moveTo>
                    <a:pt x="0" y="219456"/>
                  </a:moveTo>
                  <a:lnTo>
                    <a:pt x="137160" y="0"/>
                  </a:lnTo>
                  <a:lnTo>
                    <a:pt x="274320" y="2194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2" name="Group 82"/>
          <p:cNvGrpSpPr/>
          <p:nvPr/>
        </p:nvGrpSpPr>
        <p:grpSpPr>
          <a:xfrm rot="-4200000">
            <a:off x="13240131" y="2450973"/>
            <a:ext cx="205740" cy="164592"/>
            <a:chOff x="0" y="0"/>
            <a:chExt cx="274320" cy="21945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74320" cy="219456"/>
            </a:xfrm>
            <a:custGeom>
              <a:avLst/>
              <a:gdLst/>
              <a:ahLst/>
              <a:cxnLst/>
              <a:rect l="l" t="t" r="r" b="b"/>
              <a:pathLst>
                <a:path w="274320" h="219456">
                  <a:moveTo>
                    <a:pt x="0" y="219456"/>
                  </a:moveTo>
                  <a:lnTo>
                    <a:pt x="137160" y="0"/>
                  </a:lnTo>
                  <a:lnTo>
                    <a:pt x="274320" y="2194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3953363" y="2053209"/>
            <a:ext cx="3429000" cy="480060"/>
            <a:chOff x="0" y="0"/>
            <a:chExt cx="4572000" cy="64008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572000" cy="640080"/>
            </a:xfrm>
            <a:custGeom>
              <a:avLst/>
              <a:gdLst/>
              <a:ahLst/>
              <a:cxnLst/>
              <a:rect l="l" t="t" r="r" b="b"/>
              <a:pathLst>
                <a:path w="4572000" h="64008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081" b="-89083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3953363" y="2046065"/>
            <a:ext cx="3429000" cy="487204"/>
            <a:chOff x="0" y="0"/>
            <a:chExt cx="4572000" cy="649605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572000" cy="649605"/>
            </a:xfrm>
            <a:custGeom>
              <a:avLst/>
              <a:gdLst/>
              <a:ahLst/>
              <a:cxnLst/>
              <a:rect l="l" t="t" r="r" b="b"/>
              <a:pathLst>
                <a:path w="4572000" h="649605">
                  <a:moveTo>
                    <a:pt x="0" y="0"/>
                  </a:moveTo>
                  <a:lnTo>
                    <a:pt x="4572000" y="0"/>
                  </a:lnTo>
                  <a:lnTo>
                    <a:pt x="4572000" y="649605"/>
                  </a:lnTo>
                  <a:lnTo>
                    <a:pt x="0" y="649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138" b="-87138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457200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AB5B2A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POST /predict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787503" y="3081909"/>
            <a:ext cx="4389120" cy="1234440"/>
            <a:chOff x="0" y="0"/>
            <a:chExt cx="5852160" cy="16459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852160" cy="1645920"/>
            </a:xfrm>
            <a:custGeom>
              <a:avLst/>
              <a:gdLst/>
              <a:ahLst/>
              <a:cxnLst/>
              <a:rect l="l" t="t" r="r" b="b"/>
              <a:pathLst>
                <a:path w="5852160" h="1645920">
                  <a:moveTo>
                    <a:pt x="0" y="0"/>
                  </a:moveTo>
                  <a:lnTo>
                    <a:pt x="5852160" y="0"/>
                  </a:lnTo>
                  <a:lnTo>
                    <a:pt x="58521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232" b="-19231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12787503" y="3067622"/>
            <a:ext cx="4389120" cy="1248727"/>
            <a:chOff x="0" y="0"/>
            <a:chExt cx="5852160" cy="166497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852160" cy="1664970"/>
            </a:xfrm>
            <a:custGeom>
              <a:avLst/>
              <a:gdLst/>
              <a:ahLst/>
              <a:cxnLst/>
              <a:rect l="l" t="t" r="r" b="b"/>
              <a:pathLst>
                <a:path w="5852160" h="1664970">
                  <a:moveTo>
                    <a:pt x="0" y="0"/>
                  </a:moveTo>
                  <a:lnTo>
                    <a:pt x="5852160" y="0"/>
                  </a:lnTo>
                  <a:lnTo>
                    <a:pt x="585216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87" b="-18487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5852160" cy="1684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4A2E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probabilité de panne + décision au seuil 0,18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392543" y="4869180"/>
            <a:ext cx="9601200" cy="411480"/>
            <a:chOff x="0" y="0"/>
            <a:chExt cx="12801600" cy="54864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2801600" cy="548640"/>
            </a:xfrm>
            <a:custGeom>
              <a:avLst/>
              <a:gdLst/>
              <a:ahLst/>
              <a:cxnLst/>
              <a:rect l="l" t="t" r="r" b="b"/>
              <a:pathLst>
                <a:path w="12801600" h="54864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4335" b="-404333"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7392543" y="4869180"/>
            <a:ext cx="9601200" cy="411480"/>
            <a:chOff x="0" y="0"/>
            <a:chExt cx="12801600" cy="54864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2801600" cy="548640"/>
            </a:xfrm>
            <a:custGeom>
              <a:avLst/>
              <a:gdLst/>
              <a:ahLst/>
              <a:cxnLst/>
              <a:rect l="l" t="t" r="r" b="b"/>
              <a:pathLst>
                <a:path w="12801600" h="54864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0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128016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REPRODUCTIBILITÉ &amp; TESTS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15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4009330" y="6240780"/>
            <a:ext cx="11770928" cy="3641627"/>
            <a:chOff x="0" y="0"/>
            <a:chExt cx="15694571" cy="485550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5694533" cy="4855464"/>
            </a:xfrm>
            <a:custGeom>
              <a:avLst/>
              <a:gdLst/>
              <a:ahLst/>
              <a:cxnLst/>
              <a:rect l="l" t="t" r="r" b="b"/>
              <a:pathLst>
                <a:path w="15694533" h="4855464">
                  <a:moveTo>
                    <a:pt x="0" y="0"/>
                  </a:moveTo>
                  <a:lnTo>
                    <a:pt x="15694533" y="0"/>
                  </a:lnTo>
                  <a:lnTo>
                    <a:pt x="15694533" y="4855464"/>
                  </a:lnTo>
                  <a:lnTo>
                    <a:pt x="0" y="4855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6" name="TextBox 106"/>
          <p:cNvSpPr txBox="1"/>
          <p:nvPr/>
        </p:nvSpPr>
        <p:spPr>
          <a:xfrm>
            <a:off x="963168" y="4463034"/>
            <a:ext cx="557784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2542" lvl="2" indent="-110847" algn="l">
              <a:lnSpc>
                <a:spcPts val="1889"/>
              </a:lnSpc>
              <a:buFont typeface="Arial"/>
              <a:buChar char="⚬"/>
            </a:pPr>
            <a:r>
              <a:rPr lang="en-US" sz="15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app/main.py — points d'entrée /health, /predict</a:t>
            </a:r>
          </a:p>
          <a:p>
            <a:pPr marL="332542" lvl="2" indent="-110847" algn="l">
              <a:lnSpc>
                <a:spcPts val="1889"/>
              </a:lnSpc>
              <a:buFont typeface="Arial"/>
              <a:buChar char="⚬"/>
            </a:pPr>
            <a:r>
              <a:rPr lang="en-US" sz="15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model_service.py — chargement du modèle, calcul des features</a:t>
            </a:r>
          </a:p>
          <a:p>
            <a:pPr marL="332542" lvl="2" indent="-110847" algn="l">
              <a:lnSpc>
                <a:spcPts val="1889"/>
              </a:lnSpc>
              <a:buFont typeface="Arial"/>
              <a:buChar char="⚬"/>
            </a:pPr>
            <a:r>
              <a:rPr lang="en-US" sz="15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schemas.py — contrats de données via Pydantic</a:t>
            </a:r>
          </a:p>
          <a:p>
            <a:pPr marL="332542" lvl="2" indent="-110847" algn="l">
              <a:lnSpc>
                <a:spcPts val="1889"/>
              </a:lnSpc>
              <a:buFont typeface="Arial"/>
              <a:buChar char="⚬"/>
            </a:pPr>
            <a:r>
              <a:rPr lang="en-US" sz="15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Historique glissant par machine_id (15 relevés)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483983" y="5307330"/>
            <a:ext cx="989838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Versions figées : scikit-learn==1.6.1, pandas==2.2.3, numpy==2.2.5, scipy==1.15.2</a:t>
            </a:r>
          </a:p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best_model.joblib : pipeline complet + seuil optimal + liste des 34 colonnes attendues</a:t>
            </a:r>
          </a:p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4 tests pytest automatisés — tous réussis (health, predict, historique, validation 422)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97280" y="1145286"/>
            <a:ext cx="329184" cy="267462"/>
            <a:chOff x="0" y="0"/>
            <a:chExt cx="438912" cy="3566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8912" cy="356616"/>
            </a:xfrm>
            <a:custGeom>
              <a:avLst/>
              <a:gdLst/>
              <a:ahLst/>
              <a:cxnLst/>
              <a:rect l="l" t="t" r="r" b="b"/>
              <a:pathLst>
                <a:path w="438912" h="356616">
                  <a:moveTo>
                    <a:pt x="0" y="0"/>
                  </a:moveTo>
                  <a:lnTo>
                    <a:pt x="438912" y="0"/>
                  </a:lnTo>
                  <a:lnTo>
                    <a:pt x="438912" y="356616"/>
                  </a:lnTo>
                  <a:lnTo>
                    <a:pt x="0" y="3566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14628" y="912876"/>
            <a:ext cx="382524" cy="320802"/>
            <a:chOff x="0" y="0"/>
            <a:chExt cx="510032" cy="4277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0032" cy="427736"/>
            </a:xfrm>
            <a:custGeom>
              <a:avLst/>
              <a:gdLst/>
              <a:ahLst/>
              <a:cxnLst/>
              <a:rect l="l" t="t" r="r" b="b"/>
              <a:pathLst>
                <a:path w="510032" h="427736">
                  <a:moveTo>
                    <a:pt x="0" y="0"/>
                  </a:moveTo>
                  <a:lnTo>
                    <a:pt x="510032" y="0"/>
                  </a:lnTo>
                  <a:lnTo>
                    <a:pt x="510032" y="427736"/>
                  </a:lnTo>
                  <a:lnTo>
                    <a:pt x="0" y="427736"/>
                  </a:lnTo>
                  <a:close/>
                </a:path>
              </a:pathLst>
            </a:custGeom>
            <a:solidFill>
              <a:srgbClr val="55606B"/>
            </a:solidFill>
            <a:ln w="3048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10 / 12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Docker — Conteneurisation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6459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178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Conteneuriser le service pour un déploiement reproductible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7206722" y="754380"/>
            <a:ext cx="150876" cy="150876"/>
            <a:chOff x="0" y="0"/>
            <a:chExt cx="201168" cy="20116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695344" y="2330539"/>
            <a:ext cx="4663440" cy="1371600"/>
            <a:chOff x="0" y="0"/>
            <a:chExt cx="6217920" cy="1828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217920" cy="1828800"/>
            </a:xfrm>
            <a:custGeom>
              <a:avLst/>
              <a:gdLst/>
              <a:ahLst/>
              <a:cxnLst/>
              <a:rect l="l" t="t" r="r" b="b"/>
              <a:pathLst>
                <a:path w="6217920" h="182880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02" b="-16203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695344" y="2323395"/>
            <a:ext cx="4663440" cy="1378744"/>
            <a:chOff x="0" y="0"/>
            <a:chExt cx="6217920" cy="183832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217920" cy="1838325"/>
            </a:xfrm>
            <a:custGeom>
              <a:avLst/>
              <a:gdLst/>
              <a:ahLst/>
              <a:cxnLst/>
              <a:rect l="l" t="t" r="r" b="b"/>
              <a:pathLst>
                <a:path w="6217920" h="1838325">
                  <a:moveTo>
                    <a:pt x="0" y="0"/>
                  </a:moveTo>
                  <a:lnTo>
                    <a:pt x="6217920" y="0"/>
                  </a:lnTo>
                  <a:lnTo>
                    <a:pt x="6217920" y="1838325"/>
                  </a:lnTo>
                  <a:lnTo>
                    <a:pt x="0" y="183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5" b="-1590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6217920" cy="1847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440"/>
                </a:lnSpc>
              </a:pPr>
              <a:r>
                <a:rPr lang="en-US" sz="8700" b="1">
                  <a:solidFill>
                    <a:srgbClr val="D98F5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95344" y="3702139"/>
            <a:ext cx="4663440" cy="1165860"/>
            <a:chOff x="0" y="0"/>
            <a:chExt cx="6217920" cy="15544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217920" cy="1554480"/>
            </a:xfrm>
            <a:custGeom>
              <a:avLst/>
              <a:gdLst/>
              <a:ahLst/>
              <a:cxnLst/>
              <a:rect l="l" t="t" r="r" b="b"/>
              <a:pathLst>
                <a:path w="6217920" h="1554480">
                  <a:moveTo>
                    <a:pt x="0" y="0"/>
                  </a:moveTo>
                  <a:lnTo>
                    <a:pt x="6217920" y="0"/>
                  </a:lnTo>
                  <a:lnTo>
                    <a:pt x="6217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885" b="-27886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695344" y="3694995"/>
            <a:ext cx="4663440" cy="1173004"/>
            <a:chOff x="0" y="0"/>
            <a:chExt cx="6217920" cy="156400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217920" cy="1564005"/>
            </a:xfrm>
            <a:custGeom>
              <a:avLst/>
              <a:gdLst/>
              <a:ahLst/>
              <a:cxnLst/>
              <a:rect l="l" t="t" r="r" b="b"/>
              <a:pathLst>
                <a:path w="6217920" h="1564005">
                  <a:moveTo>
                    <a:pt x="0" y="0"/>
                  </a:moveTo>
                  <a:lnTo>
                    <a:pt x="6217920" y="0"/>
                  </a:lnTo>
                  <a:lnTo>
                    <a:pt x="6217920" y="1564005"/>
                  </a:lnTo>
                  <a:lnTo>
                    <a:pt x="0" y="15640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65" b="-27465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621792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intervalle du HEALTHCHECK Docker sur /health</a:t>
              </a:r>
            </a:p>
          </p:txBody>
        </p:sp>
      </p:grpSp>
      <p:sp>
        <p:nvSpPr>
          <p:cNvPr id="57" name="AutoShape 57"/>
          <p:cNvSpPr/>
          <p:nvPr/>
        </p:nvSpPr>
        <p:spPr>
          <a:xfrm rot="22260">
            <a:off x="681009" y="4657496"/>
            <a:ext cx="4417781" cy="0"/>
          </a:xfrm>
          <a:prstGeom prst="line">
            <a:avLst/>
          </a:prstGeom>
          <a:ln w="9525" cap="rnd">
            <a:solidFill>
              <a:srgbClr val="DEE1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8" name="Group 58"/>
          <p:cNvGrpSpPr/>
          <p:nvPr/>
        </p:nvGrpSpPr>
        <p:grpSpPr>
          <a:xfrm>
            <a:off x="8554869" y="2743200"/>
            <a:ext cx="5965650" cy="447427"/>
            <a:chOff x="0" y="0"/>
            <a:chExt cx="7954201" cy="59657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954137" cy="596519"/>
            </a:xfrm>
            <a:custGeom>
              <a:avLst/>
              <a:gdLst/>
              <a:ahLst/>
              <a:cxnLst/>
              <a:rect l="l" t="t" r="r" b="b"/>
              <a:pathLst>
                <a:path w="7954137" h="596519">
                  <a:moveTo>
                    <a:pt x="0" y="0"/>
                  </a:moveTo>
                  <a:lnTo>
                    <a:pt x="7954137" y="0"/>
                  </a:lnTo>
                  <a:lnTo>
                    <a:pt x="7954137" y="596519"/>
                  </a:lnTo>
                  <a:lnTo>
                    <a:pt x="0" y="5965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9635" b="-209644"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8554869" y="2743200"/>
            <a:ext cx="5965650" cy="447427"/>
            <a:chOff x="0" y="0"/>
            <a:chExt cx="7954201" cy="59657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954196" cy="596565"/>
            </a:xfrm>
            <a:custGeom>
              <a:avLst/>
              <a:gdLst/>
              <a:ahLst/>
              <a:cxnLst/>
              <a:rect l="l" t="t" r="r" b="b"/>
              <a:pathLst>
                <a:path w="7954196" h="596565">
                  <a:moveTo>
                    <a:pt x="0" y="0"/>
                  </a:moveTo>
                  <a:lnTo>
                    <a:pt x="7954196" y="0"/>
                  </a:lnTo>
                  <a:lnTo>
                    <a:pt x="7954196" y="596565"/>
                  </a:lnTo>
                  <a:lnTo>
                    <a:pt x="0" y="596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7954201" cy="596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VÉRIFIÉ EN LOCAL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16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249274" y="4690834"/>
            <a:ext cx="9027662" cy="5122421"/>
            <a:chOff x="0" y="0"/>
            <a:chExt cx="12036882" cy="682989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2036933" cy="6829933"/>
            </a:xfrm>
            <a:custGeom>
              <a:avLst/>
              <a:gdLst/>
              <a:ahLst/>
              <a:cxnLst/>
              <a:rect l="l" t="t" r="r" b="b"/>
              <a:pathLst>
                <a:path w="12036933" h="6829933">
                  <a:moveTo>
                    <a:pt x="0" y="0"/>
                  </a:moveTo>
                  <a:lnTo>
                    <a:pt x="12036933" y="0"/>
                  </a:lnTo>
                  <a:lnTo>
                    <a:pt x="12036933" y="6829933"/>
                  </a:lnTo>
                  <a:lnTo>
                    <a:pt x="0" y="6829933"/>
                  </a:lnTo>
                  <a:close/>
                </a:path>
              </a:pathLst>
            </a:custGeom>
            <a:solidFill>
              <a:srgbClr val="2C333D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5358784" y="5087074"/>
            <a:ext cx="6555076" cy="4361974"/>
            <a:chOff x="0" y="0"/>
            <a:chExt cx="8740102" cy="581596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740140" cy="5815965"/>
            </a:xfrm>
            <a:custGeom>
              <a:avLst/>
              <a:gdLst/>
              <a:ahLst/>
              <a:cxnLst/>
              <a:rect l="l" t="t" r="r" b="b"/>
              <a:pathLst>
                <a:path w="8740140" h="5815965">
                  <a:moveTo>
                    <a:pt x="0" y="0"/>
                  </a:moveTo>
                  <a:lnTo>
                    <a:pt x="8740140" y="0"/>
                  </a:lnTo>
                  <a:lnTo>
                    <a:pt x="8740140" y="5815965"/>
                  </a:lnTo>
                  <a:lnTo>
                    <a:pt x="0" y="5815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065" b="-6065"/>
              </a:stretch>
            </a:blipFill>
          </p:spPr>
        </p:sp>
      </p:grpSp>
      <p:sp>
        <p:nvSpPr>
          <p:cNvPr id="77" name="TextBox 77"/>
          <p:cNvSpPr txBox="1"/>
          <p:nvPr/>
        </p:nvSpPr>
        <p:spPr>
          <a:xfrm>
            <a:off x="8654301" y="3240338"/>
            <a:ext cx="5617654" cy="1118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945" lvl="2" indent="-131982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docker build se termine sans erreur</a:t>
            </a:r>
          </a:p>
          <a:p>
            <a:pPr marL="395945" lvl="2" indent="-131982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 conteneur démarre et passe à l'état healthy</a:t>
            </a:r>
          </a:p>
          <a:p>
            <a:pPr marL="395945" lvl="2" indent="-131982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Les deux endpoints répondent depuis l'intérieur du conteneur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3740432" y="6498841"/>
            <a:ext cx="4395121" cy="1491644"/>
            <a:chOff x="0" y="0"/>
            <a:chExt cx="5860161" cy="198885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5860161" cy="1988820"/>
            </a:xfrm>
            <a:custGeom>
              <a:avLst/>
              <a:gdLst/>
              <a:ahLst/>
              <a:cxnLst/>
              <a:rect l="l" t="t" r="r" b="b"/>
              <a:pathLst>
                <a:path w="5860161" h="1988820">
                  <a:moveTo>
                    <a:pt x="0" y="0"/>
                  </a:moveTo>
                  <a:lnTo>
                    <a:pt x="5860161" y="0"/>
                  </a:lnTo>
                  <a:lnTo>
                    <a:pt x="5860161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372" b="-7374"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13740432" y="6498841"/>
            <a:ext cx="4395121" cy="1491644"/>
            <a:chOff x="0" y="0"/>
            <a:chExt cx="5860161" cy="198885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860161" cy="1988864"/>
            </a:xfrm>
            <a:custGeom>
              <a:avLst/>
              <a:gdLst/>
              <a:ahLst/>
              <a:cxnLst/>
              <a:rect l="l" t="t" r="r" b="b"/>
              <a:pathLst>
                <a:path w="5860161" h="1988864">
                  <a:moveTo>
                    <a:pt x="0" y="0"/>
                  </a:moveTo>
                  <a:lnTo>
                    <a:pt x="5860161" y="0"/>
                  </a:lnTo>
                  <a:lnTo>
                    <a:pt x="5860161" y="1988864"/>
                  </a:lnTo>
                  <a:lnTo>
                    <a:pt x="0" y="198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12" b="-741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5860161" cy="1988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AB5B2A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Le conteneur embarque le code, le modèle et les dépendances figées, avec un HEALTHCHECK sur /health toutes les 30s. Résultat : le service tourne à l'identique en local, en CI/CD et sur Komodo.</a:t>
              </a:r>
            </a:p>
          </p:txBody>
        </p:sp>
      </p:grpSp>
      <p:sp>
        <p:nvSpPr>
          <p:cNvPr id="83" name="AutoShape 83"/>
          <p:cNvSpPr/>
          <p:nvPr/>
        </p:nvSpPr>
        <p:spPr>
          <a:xfrm rot="-5361540">
            <a:off x="11926167" y="7237752"/>
            <a:ext cx="3404406" cy="0"/>
          </a:xfrm>
          <a:prstGeom prst="line">
            <a:avLst/>
          </a:prstGeom>
          <a:ln w="28575" cap="rnd">
            <a:solidFill>
              <a:srgbClr val="AB5B2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56132" y="918972"/>
            <a:ext cx="493776" cy="493776"/>
            <a:chOff x="0" y="0"/>
            <a:chExt cx="658368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  <a:moveTo>
                    <a:pt x="164592" y="329184"/>
                  </a:moveTo>
                  <a:cubicBezTo>
                    <a:pt x="164592" y="420116"/>
                    <a:pt x="238252" y="493776"/>
                    <a:pt x="329184" y="493776"/>
                  </a:cubicBezTo>
                  <a:cubicBezTo>
                    <a:pt x="420116" y="493776"/>
                    <a:pt x="493776" y="420116"/>
                    <a:pt x="493776" y="329184"/>
                  </a:cubicBezTo>
                  <a:cubicBezTo>
                    <a:pt x="493776" y="238252"/>
                    <a:pt x="420116" y="164592"/>
                    <a:pt x="329184" y="164592"/>
                  </a:cubicBezTo>
                  <a:cubicBezTo>
                    <a:pt x="238252" y="164592"/>
                    <a:pt x="164592" y="238252"/>
                    <a:pt x="164592" y="3291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11 / 12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CI/CD — GitHub Actions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64592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7178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Valider automatiquement chaque changement de code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7460468" y="754380"/>
            <a:ext cx="150876" cy="150876"/>
            <a:chOff x="0" y="0"/>
            <a:chExt cx="201168" cy="20116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7714214" y="754380"/>
            <a:ext cx="96012" cy="96012"/>
            <a:chOff x="0" y="0"/>
            <a:chExt cx="128016" cy="1280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sp>
        <p:nvSpPr>
          <p:cNvPr id="45" name="AutoShape 45"/>
          <p:cNvSpPr/>
          <p:nvPr/>
        </p:nvSpPr>
        <p:spPr>
          <a:xfrm rot="28440">
            <a:off x="8975855" y="3314319"/>
            <a:ext cx="6915388" cy="0"/>
          </a:xfrm>
          <a:prstGeom prst="line">
            <a:avLst/>
          </a:prstGeom>
          <a:ln w="19050" cap="rnd">
            <a:solidFill>
              <a:srgbClr val="DEE1E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8181594" y="2912364"/>
            <a:ext cx="822960" cy="822960"/>
            <a:chOff x="0" y="0"/>
            <a:chExt cx="109728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48" name="AutoShape 48"/>
          <p:cNvSpPr/>
          <p:nvPr/>
        </p:nvSpPr>
        <p:spPr>
          <a:xfrm rot="4679700">
            <a:off x="8452466" y="3203181"/>
            <a:ext cx="256461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9" name="Group 49"/>
          <p:cNvGrpSpPr/>
          <p:nvPr/>
        </p:nvGrpSpPr>
        <p:grpSpPr>
          <a:xfrm rot="-10800000">
            <a:off x="8477783" y="3340303"/>
            <a:ext cx="230505" cy="164592"/>
            <a:chOff x="0" y="0"/>
            <a:chExt cx="307340" cy="2194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07340" cy="219456"/>
            </a:xfrm>
            <a:custGeom>
              <a:avLst/>
              <a:gdLst/>
              <a:ahLst/>
              <a:cxnLst/>
              <a:rect l="l" t="t" r="r" b="b"/>
              <a:pathLst>
                <a:path w="307340" h="219456">
                  <a:moveTo>
                    <a:pt x="0" y="219456"/>
                  </a:moveTo>
                  <a:lnTo>
                    <a:pt x="153670" y="0"/>
                  </a:lnTo>
                  <a:lnTo>
                    <a:pt x="307340" y="2194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152894" y="3872484"/>
            <a:ext cx="2880360" cy="685800"/>
            <a:chOff x="0" y="0"/>
            <a:chExt cx="3840480" cy="9144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80" b="-31780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7152894" y="3872484"/>
            <a:ext cx="2880360" cy="685800"/>
            <a:chOff x="0" y="0"/>
            <a:chExt cx="384048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38404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Push / Pull Request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152894" y="4311396"/>
            <a:ext cx="2880360" cy="548640"/>
            <a:chOff x="0" y="0"/>
            <a:chExt cx="384048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7152894" y="4304252"/>
            <a:ext cx="2880360" cy="555784"/>
            <a:chOff x="0" y="0"/>
            <a:chExt cx="3840480" cy="74104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840480" cy="741045"/>
            </a:xfrm>
            <a:custGeom>
              <a:avLst/>
              <a:gdLst/>
              <a:ahLst/>
              <a:cxnLst/>
              <a:rect l="l" t="t" r="r" b="b"/>
              <a:pathLst>
                <a:path w="3840480" h="741045">
                  <a:moveTo>
                    <a:pt x="0" y="0"/>
                  </a:moveTo>
                  <a:lnTo>
                    <a:pt x="3840480" y="0"/>
                  </a:lnTo>
                  <a:lnTo>
                    <a:pt x="38404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981" b="-5098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38404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déclenchement du workflow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022074" y="2912364"/>
            <a:ext cx="822960" cy="822960"/>
            <a:chOff x="0" y="0"/>
            <a:chExt cx="1097280" cy="10972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993374" y="3872484"/>
            <a:ext cx="2880360" cy="685800"/>
            <a:chOff x="0" y="0"/>
            <a:chExt cx="384048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80" b="-31780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0993374" y="3872484"/>
            <a:ext cx="2880360" cy="685800"/>
            <a:chOff x="0" y="0"/>
            <a:chExt cx="3840480" cy="9144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38404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Job test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993374" y="4311396"/>
            <a:ext cx="2880360" cy="548640"/>
            <a:chOff x="0" y="0"/>
            <a:chExt cx="3840480" cy="7315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0993374" y="4304252"/>
            <a:ext cx="2880360" cy="555784"/>
            <a:chOff x="0" y="0"/>
            <a:chExt cx="3840480" cy="74104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840480" cy="741045"/>
            </a:xfrm>
            <a:custGeom>
              <a:avLst/>
              <a:gdLst/>
              <a:ahLst/>
              <a:cxnLst/>
              <a:rect l="l" t="t" r="r" b="b"/>
              <a:pathLst>
                <a:path w="3840480" h="741045">
                  <a:moveTo>
                    <a:pt x="0" y="0"/>
                  </a:moveTo>
                  <a:lnTo>
                    <a:pt x="3840480" y="0"/>
                  </a:lnTo>
                  <a:lnTo>
                    <a:pt x="38404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981" b="-50981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38404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dépendances, ruff, pytest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862554" y="2912364"/>
            <a:ext cx="822960" cy="822960"/>
            <a:chOff x="0" y="0"/>
            <a:chExt cx="1097280" cy="109728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6109442" y="3307385"/>
            <a:ext cx="263366" cy="213932"/>
            <a:chOff x="0" y="0"/>
            <a:chExt cx="351155" cy="28524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51155" cy="285242"/>
            </a:xfrm>
            <a:custGeom>
              <a:avLst/>
              <a:gdLst/>
              <a:ahLst/>
              <a:cxnLst/>
              <a:rect l="l" t="t" r="r" b="b"/>
              <a:pathLst>
                <a:path w="351155" h="285242">
                  <a:moveTo>
                    <a:pt x="0" y="0"/>
                  </a:moveTo>
                  <a:lnTo>
                    <a:pt x="351155" y="0"/>
                  </a:lnTo>
                  <a:lnTo>
                    <a:pt x="351155" y="285242"/>
                  </a:lnTo>
                  <a:lnTo>
                    <a:pt x="0" y="28524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6197986" y="3116123"/>
            <a:ext cx="316706" cy="267272"/>
            <a:chOff x="0" y="0"/>
            <a:chExt cx="422275" cy="35636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22275" cy="356362"/>
            </a:xfrm>
            <a:custGeom>
              <a:avLst/>
              <a:gdLst/>
              <a:ahLst/>
              <a:cxnLst/>
              <a:rect l="l" t="t" r="r" b="b"/>
              <a:pathLst>
                <a:path w="422275" h="356362">
                  <a:moveTo>
                    <a:pt x="0" y="0"/>
                  </a:moveTo>
                  <a:lnTo>
                    <a:pt x="422275" y="0"/>
                  </a:lnTo>
                  <a:lnTo>
                    <a:pt x="422275" y="356362"/>
                  </a:lnTo>
                  <a:lnTo>
                    <a:pt x="0" y="356362"/>
                  </a:lnTo>
                  <a:close/>
                </a:path>
              </a:pathLst>
            </a:custGeom>
            <a:solidFill>
              <a:srgbClr val="AB5B2A"/>
            </a:solidFill>
            <a:ln w="3048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4833854" y="3872484"/>
            <a:ext cx="2880360" cy="685800"/>
            <a:chOff x="0" y="0"/>
            <a:chExt cx="3840480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80" b="-31780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14833854" y="3872484"/>
            <a:ext cx="2880360" cy="685800"/>
            <a:chOff x="0" y="0"/>
            <a:chExt cx="3840480" cy="9144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840480" cy="914400"/>
            </a:xfrm>
            <a:custGeom>
              <a:avLst/>
              <a:gdLst/>
              <a:ahLst/>
              <a:cxnLst/>
              <a:rect l="l" t="t" r="r" b="b"/>
              <a:pathLst>
                <a:path w="3840480" h="91440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0"/>
              <a:ext cx="384048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Job build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4833854" y="4311396"/>
            <a:ext cx="2880360" cy="548640"/>
            <a:chOff x="0" y="0"/>
            <a:chExt cx="3840480" cy="7315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840480" cy="731520"/>
            </a:xfrm>
            <a:custGeom>
              <a:avLst/>
              <a:gdLst/>
              <a:ahLst/>
              <a:cxnLst/>
              <a:rect l="l" t="t" r="r" b="b"/>
              <a:pathLst>
                <a:path w="3840480" h="731520">
                  <a:moveTo>
                    <a:pt x="0" y="0"/>
                  </a:moveTo>
                  <a:lnTo>
                    <a:pt x="3840480" y="0"/>
                  </a:lnTo>
                  <a:lnTo>
                    <a:pt x="384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25" b="-52225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4833854" y="4304252"/>
            <a:ext cx="2880360" cy="555784"/>
            <a:chOff x="0" y="0"/>
            <a:chExt cx="3840480" cy="741045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840480" cy="741045"/>
            </a:xfrm>
            <a:custGeom>
              <a:avLst/>
              <a:gdLst/>
              <a:ahLst/>
              <a:cxnLst/>
              <a:rect l="l" t="t" r="r" b="b"/>
              <a:pathLst>
                <a:path w="3840480" h="741045">
                  <a:moveTo>
                    <a:pt x="0" y="0"/>
                  </a:moveTo>
                  <a:lnTo>
                    <a:pt x="3840480" y="0"/>
                  </a:lnTo>
                  <a:lnTo>
                    <a:pt x="3840480" y="741045"/>
                  </a:lnTo>
                  <a:lnTo>
                    <a:pt x="0" y="7410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981" b="-50981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384048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image Docker + vérif. /health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818120" y="6424422"/>
            <a:ext cx="2890542" cy="1097280"/>
            <a:chOff x="0" y="0"/>
            <a:chExt cx="3854056" cy="14630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854069" cy="1463040"/>
            </a:xfrm>
            <a:custGeom>
              <a:avLst/>
              <a:gdLst/>
              <a:ahLst/>
              <a:cxnLst/>
              <a:rect l="l" t="t" r="r" b="b"/>
              <a:pathLst>
                <a:path w="3854069" h="1463040">
                  <a:moveTo>
                    <a:pt x="0" y="0"/>
                  </a:moveTo>
                  <a:lnTo>
                    <a:pt x="3854069" y="0"/>
                  </a:lnTo>
                  <a:lnTo>
                    <a:pt x="385406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3" b="-1293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7818120" y="6417278"/>
            <a:ext cx="2890542" cy="1104424"/>
            <a:chOff x="0" y="0"/>
            <a:chExt cx="3854056" cy="1472565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854056" cy="1472565"/>
            </a:xfrm>
            <a:custGeom>
              <a:avLst/>
              <a:gdLst/>
              <a:ahLst/>
              <a:cxnLst/>
              <a:rect l="l" t="t" r="r" b="b"/>
              <a:pathLst>
                <a:path w="3854056" h="1472565">
                  <a:moveTo>
                    <a:pt x="0" y="0"/>
                  </a:moveTo>
                  <a:lnTo>
                    <a:pt x="3854056" y="0"/>
                  </a:lnTo>
                  <a:lnTo>
                    <a:pt x="3854056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7" b="-997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9525"/>
              <a:ext cx="3854056" cy="14820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jobs exécutés séquentiellement à chaque push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063192" y="5464321"/>
            <a:ext cx="6754178" cy="3017491"/>
            <a:chOff x="0" y="0"/>
            <a:chExt cx="9005570" cy="402332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9005570" cy="4023360"/>
            </a:xfrm>
            <a:custGeom>
              <a:avLst/>
              <a:gdLst/>
              <a:ahLst/>
              <a:cxnLst/>
              <a:rect l="l" t="t" r="r" b="b"/>
              <a:pathLst>
                <a:path w="9005570" h="4023360">
                  <a:moveTo>
                    <a:pt x="0" y="0"/>
                  </a:moveTo>
                  <a:lnTo>
                    <a:pt x="9005570" y="0"/>
                  </a:lnTo>
                  <a:lnTo>
                    <a:pt x="900557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EEF0F1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11422761" y="5755310"/>
            <a:ext cx="6035040" cy="411480"/>
            <a:chOff x="0" y="0"/>
            <a:chExt cx="8046720" cy="54864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046720" cy="548640"/>
            </a:xfrm>
            <a:custGeom>
              <a:avLst/>
              <a:gdLst/>
              <a:ahLst/>
              <a:cxnLst/>
              <a:rect l="l" t="t" r="r" b="b"/>
              <a:pathLst>
                <a:path w="8046720" h="54864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581" b="-235583"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1422761" y="5755310"/>
            <a:ext cx="6035040" cy="411480"/>
            <a:chOff x="0" y="0"/>
            <a:chExt cx="8046720" cy="54864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8046720" cy="548640"/>
            </a:xfrm>
            <a:custGeom>
              <a:avLst/>
              <a:gdLst/>
              <a:ahLst/>
              <a:cxnLst/>
              <a:rect l="l" t="t" r="r" b="b"/>
              <a:pathLst>
                <a:path w="8046720" h="548640">
                  <a:moveTo>
                    <a:pt x="0" y="0"/>
                  </a:moveTo>
                  <a:lnTo>
                    <a:pt x="8046720" y="0"/>
                  </a:lnTo>
                  <a:lnTo>
                    <a:pt x="8046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780" b="-235780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0"/>
              <a:ext cx="804672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150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CE QUE VALIDE LE PIPELINE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17</a:t>
              </a:r>
            </a:p>
          </p:txBody>
        </p:sp>
      </p:grpSp>
      <p:sp>
        <p:nvSpPr>
          <p:cNvPr id="111" name="Freeform 111"/>
          <p:cNvSpPr/>
          <p:nvPr/>
        </p:nvSpPr>
        <p:spPr>
          <a:xfrm>
            <a:off x="12173379" y="3117228"/>
            <a:ext cx="520351" cy="387667"/>
          </a:xfrm>
          <a:custGeom>
            <a:avLst/>
            <a:gdLst/>
            <a:ahLst/>
            <a:cxnLst/>
            <a:rect l="l" t="t" r="r" b="b"/>
            <a:pathLst>
              <a:path w="520351" h="387667">
                <a:moveTo>
                  <a:pt x="0" y="0"/>
                </a:moveTo>
                <a:lnTo>
                  <a:pt x="520350" y="0"/>
                </a:lnTo>
                <a:lnTo>
                  <a:pt x="520350" y="387667"/>
                </a:lnTo>
                <a:lnTo>
                  <a:pt x="0" y="387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9" b="-31"/>
            </a:stretch>
          </a:blipFill>
        </p:spPr>
      </p:sp>
      <p:grpSp>
        <p:nvGrpSpPr>
          <p:cNvPr id="112" name="Group 112"/>
          <p:cNvGrpSpPr/>
          <p:nvPr/>
        </p:nvGrpSpPr>
        <p:grpSpPr>
          <a:xfrm>
            <a:off x="7999524" y="2740914"/>
            <a:ext cx="2890542" cy="6162894"/>
            <a:chOff x="0" y="0"/>
            <a:chExt cx="3854056" cy="8217192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854069" cy="8217154"/>
            </a:xfrm>
            <a:custGeom>
              <a:avLst/>
              <a:gdLst/>
              <a:ahLst/>
              <a:cxnLst/>
              <a:rect l="l" t="t" r="r" b="b"/>
              <a:pathLst>
                <a:path w="3854069" h="8217154">
                  <a:moveTo>
                    <a:pt x="0" y="0"/>
                  </a:moveTo>
                  <a:lnTo>
                    <a:pt x="3854069" y="0"/>
                  </a:lnTo>
                  <a:lnTo>
                    <a:pt x="3854069" y="8217154"/>
                  </a:lnTo>
                  <a:lnTo>
                    <a:pt x="0" y="82171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3744" r="-223744"/>
              </a:stretch>
            </a:blipFill>
          </p:spPr>
        </p:sp>
      </p:grpSp>
      <p:grpSp>
        <p:nvGrpSpPr>
          <p:cNvPr id="114" name="Group 114"/>
          <p:cNvGrpSpPr/>
          <p:nvPr/>
        </p:nvGrpSpPr>
        <p:grpSpPr>
          <a:xfrm>
            <a:off x="7999524" y="2733770"/>
            <a:ext cx="2890542" cy="6170038"/>
            <a:chOff x="0" y="0"/>
            <a:chExt cx="3854056" cy="8226717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3854056" cy="8226723"/>
            </a:xfrm>
            <a:custGeom>
              <a:avLst/>
              <a:gdLst/>
              <a:ahLst/>
              <a:cxnLst/>
              <a:rect l="l" t="t" r="r" b="b"/>
              <a:pathLst>
                <a:path w="3854056" h="8226723">
                  <a:moveTo>
                    <a:pt x="0" y="0"/>
                  </a:moveTo>
                  <a:lnTo>
                    <a:pt x="3854056" y="0"/>
                  </a:lnTo>
                  <a:lnTo>
                    <a:pt x="3854056" y="8226723"/>
                  </a:lnTo>
                  <a:lnTo>
                    <a:pt x="0" y="82267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3871" r="-223871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9525"/>
              <a:ext cx="3854056" cy="82362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AB5B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70369" y="3121247"/>
            <a:ext cx="5807831" cy="5603786"/>
            <a:chOff x="0" y="0"/>
            <a:chExt cx="7743774" cy="7471715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7743825" cy="7471664"/>
            </a:xfrm>
            <a:custGeom>
              <a:avLst/>
              <a:gdLst/>
              <a:ahLst/>
              <a:cxnLst/>
              <a:rect l="l" t="t" r="r" b="b"/>
              <a:pathLst>
                <a:path w="7743825" h="7471664">
                  <a:moveTo>
                    <a:pt x="0" y="0"/>
                  </a:moveTo>
                  <a:lnTo>
                    <a:pt x="7743825" y="0"/>
                  </a:lnTo>
                  <a:lnTo>
                    <a:pt x="7743825" y="7471664"/>
                  </a:lnTo>
                  <a:lnTo>
                    <a:pt x="0" y="7471664"/>
                  </a:lnTo>
                  <a:close/>
                </a:path>
              </a:pathLst>
            </a:custGeom>
            <a:solidFill>
              <a:srgbClr val="D98F55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119" name="Group 119"/>
          <p:cNvGrpSpPr/>
          <p:nvPr/>
        </p:nvGrpSpPr>
        <p:grpSpPr>
          <a:xfrm>
            <a:off x="1292695" y="3466119"/>
            <a:ext cx="5145824" cy="4986966"/>
            <a:chOff x="0" y="0"/>
            <a:chExt cx="6861099" cy="664928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6861048" cy="6649339"/>
            </a:xfrm>
            <a:custGeom>
              <a:avLst/>
              <a:gdLst/>
              <a:ahLst/>
              <a:cxnLst/>
              <a:rect l="l" t="t" r="r" b="b"/>
              <a:pathLst>
                <a:path w="6861048" h="6649339">
                  <a:moveTo>
                    <a:pt x="0" y="0"/>
                  </a:moveTo>
                  <a:lnTo>
                    <a:pt x="6861048" y="0"/>
                  </a:lnTo>
                  <a:lnTo>
                    <a:pt x="6861048" y="6649339"/>
                  </a:lnTo>
                  <a:lnTo>
                    <a:pt x="0" y="6649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9" b="-48"/>
              </a:stretch>
            </a:blipFill>
          </p:spPr>
        </p:sp>
      </p:grpSp>
      <p:sp>
        <p:nvSpPr>
          <p:cNvPr id="121" name="TextBox 121"/>
          <p:cNvSpPr txBox="1"/>
          <p:nvPr/>
        </p:nvSpPr>
        <p:spPr>
          <a:xfrm>
            <a:off x="11514201" y="6262040"/>
            <a:ext cx="5852160" cy="181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Analyse statique du code (ruff) avant toute exécution</a:t>
            </a:r>
          </a:p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Suite pytest complète (4 tests de l'API)</a:t>
            </a:r>
          </a:p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Construction de l'image Docker</a:t>
            </a:r>
          </a:p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Démarrage d'un conteneur éphémère avec vérification que /health répond correctement</a:t>
            </a:r>
          </a:p>
          <a:p>
            <a:pPr marL="364212" lvl="2" indent="-121404" algn="l">
              <a:lnSpc>
                <a:spcPts val="2070"/>
              </a:lnSpc>
              <a:buFont typeface="Arial"/>
              <a:buChar char="⚬"/>
            </a:pPr>
            <a:r>
              <a:rPr lang="en-US" sz="1725">
                <a:solidFill>
                  <a:srgbClr val="202124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Aucune régression ne peut être fusionnée sans être détectée automatiquement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8670" y="651510"/>
            <a:ext cx="1028700" cy="1028700"/>
            <a:chOff x="0" y="0"/>
            <a:chExt cx="1371600" cy="137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91648" y="854488"/>
            <a:ext cx="622744" cy="622744"/>
            <a:chOff x="0" y="0"/>
            <a:chExt cx="830326" cy="8303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0326" cy="830326"/>
            </a:xfrm>
            <a:custGeom>
              <a:avLst/>
              <a:gdLst/>
              <a:ahLst/>
              <a:cxnLst/>
              <a:rect l="l" t="t" r="r" b="b"/>
              <a:pathLst>
                <a:path w="830326" h="830326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cubicBezTo>
                    <a:pt x="644398" y="0"/>
                    <a:pt x="830326" y="185928"/>
                    <a:pt x="830326" y="415163"/>
                  </a:cubicBezTo>
                  <a:cubicBezTo>
                    <a:pt x="830326" y="644398"/>
                    <a:pt x="644398" y="830326"/>
                    <a:pt x="415163" y="830326"/>
                  </a:cubicBezTo>
                  <a:cubicBezTo>
                    <a:pt x="185928" y="830326"/>
                    <a:pt x="0" y="644398"/>
                    <a:pt x="0" y="41516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148715" y="1011555"/>
            <a:ext cx="308610" cy="308610"/>
            <a:chOff x="0" y="0"/>
            <a:chExt cx="411480" cy="411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80">
                  <a:moveTo>
                    <a:pt x="0" y="205740"/>
                  </a:moveTo>
                  <a:cubicBezTo>
                    <a:pt x="0" y="92075"/>
                    <a:pt x="92075" y="0"/>
                    <a:pt x="205740" y="0"/>
                  </a:cubicBezTo>
                  <a:cubicBezTo>
                    <a:pt x="319405" y="0"/>
                    <a:pt x="411480" y="92075"/>
                    <a:pt x="411480" y="205740"/>
                  </a:cubicBezTo>
                  <a:cubicBezTo>
                    <a:pt x="411480" y="319405"/>
                    <a:pt x="319405" y="411480"/>
                    <a:pt x="205740" y="411480"/>
                  </a:cubicBezTo>
                  <a:cubicBezTo>
                    <a:pt x="92075" y="411480"/>
                    <a:pt x="0" y="319405"/>
                    <a:pt x="0" y="2057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7247" b="-36724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988820" y="685800"/>
            <a:ext cx="8229600" cy="384048"/>
            <a:chOff x="0" y="0"/>
            <a:chExt cx="10972800" cy="5120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0" cy="512064"/>
            </a:xfrm>
            <a:custGeom>
              <a:avLst/>
              <a:gdLst/>
              <a:ahLst/>
              <a:cxnLst/>
              <a:rect l="l" t="t" r="r" b="b"/>
              <a:pathLst>
                <a:path w="10972800" h="512064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972800" cy="512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98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ÉTAPE 12 / 12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88820" y="1001268"/>
            <a:ext cx="11658600" cy="754380"/>
            <a:chOff x="0" y="0"/>
            <a:chExt cx="1554480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44800" cy="1005840"/>
            </a:xfrm>
            <a:custGeom>
              <a:avLst/>
              <a:gdLst/>
              <a:ahLst/>
              <a:cxnLst/>
              <a:rect l="l" t="t" r="r" b="b"/>
              <a:pathLst>
                <a:path w="15544800" h="1005840">
                  <a:moveTo>
                    <a:pt x="0" y="0"/>
                  </a:moveTo>
                  <a:lnTo>
                    <a:pt x="15544800" y="0"/>
                  </a:lnTo>
                  <a:lnTo>
                    <a:pt x="1554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0922" b="-25092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988820" y="994124"/>
            <a:ext cx="11658600" cy="761524"/>
            <a:chOff x="0" y="0"/>
            <a:chExt cx="15544800" cy="10153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44800" cy="1015365"/>
            </a:xfrm>
            <a:custGeom>
              <a:avLst/>
              <a:gdLst/>
              <a:ahLst/>
              <a:cxnLst/>
              <a:rect l="l" t="t" r="r" b="b"/>
              <a:pathLst>
                <a:path w="15544800" h="1015365">
                  <a:moveTo>
                    <a:pt x="0" y="0"/>
                  </a:moveTo>
                  <a:lnTo>
                    <a:pt x="15544800" y="0"/>
                  </a:lnTo>
                  <a:lnTo>
                    <a:pt x="15544800" y="1015365"/>
                  </a:lnTo>
                  <a:lnTo>
                    <a:pt x="0" y="1015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8307" b="-24830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554480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2C3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Monitoring &amp; Observabilité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88820" y="1700784"/>
            <a:ext cx="12344400" cy="411480"/>
            <a:chOff x="0" y="0"/>
            <a:chExt cx="1645920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923008" y="754380"/>
            <a:ext cx="96012" cy="96012"/>
            <a:chOff x="0" y="0"/>
            <a:chExt cx="128016" cy="1280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5176754" y="754380"/>
            <a:ext cx="96012" cy="96012"/>
            <a:chOff x="0" y="0"/>
            <a:chExt cx="128016" cy="1280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430500" y="754380"/>
            <a:ext cx="96012" cy="96012"/>
            <a:chOff x="0" y="0"/>
            <a:chExt cx="128016" cy="1280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5684246" y="754380"/>
            <a:ext cx="96012" cy="96012"/>
            <a:chOff x="0" y="0"/>
            <a:chExt cx="128016" cy="1280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5937992" y="754380"/>
            <a:ext cx="96012" cy="96012"/>
            <a:chOff x="0" y="0"/>
            <a:chExt cx="128016" cy="1280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6191738" y="754380"/>
            <a:ext cx="96012" cy="96012"/>
            <a:chOff x="0" y="0"/>
            <a:chExt cx="128016" cy="1280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6445484" y="754380"/>
            <a:ext cx="96012" cy="96012"/>
            <a:chOff x="0" y="0"/>
            <a:chExt cx="128016" cy="1280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6699230" y="754380"/>
            <a:ext cx="96012" cy="96012"/>
            <a:chOff x="0" y="0"/>
            <a:chExt cx="128016" cy="1280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952976" y="754380"/>
            <a:ext cx="96012" cy="96012"/>
            <a:chOff x="0" y="0"/>
            <a:chExt cx="128016" cy="1280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206722" y="754380"/>
            <a:ext cx="96012" cy="96012"/>
            <a:chOff x="0" y="0"/>
            <a:chExt cx="128016" cy="1280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460468" y="754380"/>
            <a:ext cx="96012" cy="96012"/>
            <a:chOff x="0" y="0"/>
            <a:chExt cx="128016" cy="1280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8016" cy="128016"/>
            </a:xfrm>
            <a:custGeom>
              <a:avLst/>
              <a:gdLst/>
              <a:ahLst/>
              <a:cxnLst/>
              <a:rect l="l" t="t" r="r" b="b"/>
              <a:pathLst>
                <a:path w="128016" h="128016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cubicBezTo>
                    <a:pt x="99314" y="0"/>
                    <a:pt x="128016" y="28702"/>
                    <a:pt x="128016" y="64008"/>
                  </a:cubicBezTo>
                  <a:cubicBezTo>
                    <a:pt x="128016" y="99314"/>
                    <a:pt x="99314" y="128016"/>
                    <a:pt x="64008" y="128016"/>
                  </a:cubicBezTo>
                  <a:cubicBezTo>
                    <a:pt x="28702" y="128016"/>
                    <a:pt x="0" y="99314"/>
                    <a:pt x="0" y="64008"/>
                  </a:cubicBezTo>
                  <a:close/>
                </a:path>
              </a:pathLst>
            </a:custGeom>
            <a:solidFill>
              <a:srgbClr val="D8DBDD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7714214" y="754380"/>
            <a:ext cx="150876" cy="150876"/>
            <a:chOff x="0" y="0"/>
            <a:chExt cx="201168" cy="2011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1168" cy="201168"/>
            </a:xfrm>
            <a:custGeom>
              <a:avLst/>
              <a:gdLst/>
              <a:ahLst/>
              <a:cxnLst/>
              <a:rect l="l" t="t" r="r" b="b"/>
              <a:pathLst>
                <a:path w="201168" h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AB5B2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822960" y="2674620"/>
            <a:ext cx="7543800" cy="411480"/>
            <a:chOff x="0" y="0"/>
            <a:chExt cx="10058400" cy="548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058400" cy="548640"/>
            </a:xfrm>
            <a:custGeom>
              <a:avLst/>
              <a:gdLst/>
              <a:ahLst/>
              <a:cxnLst/>
              <a:rect l="l" t="t" r="r" b="b"/>
              <a:pathLst>
                <a:path w="10058400" h="54864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6976" b="-306976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822960" y="2674620"/>
            <a:ext cx="7543800" cy="411480"/>
            <a:chOff x="0" y="0"/>
            <a:chExt cx="10058400" cy="5486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058400" cy="548640"/>
            </a:xfrm>
            <a:custGeom>
              <a:avLst/>
              <a:gdLst/>
              <a:ahLst/>
              <a:cxnLst/>
              <a:rect l="l" t="t" r="r" b="b"/>
              <a:pathLst>
                <a:path w="10058400" h="54864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25" b="-30722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00584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55606B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/HEALTH : UNE SONDE EXPLOITÉE À 3 NIVEAUX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91540" y="3250692"/>
            <a:ext cx="685800" cy="685800"/>
            <a:chOff x="0" y="0"/>
            <a:chExt cx="9144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019080" y="3378232"/>
            <a:ext cx="430720" cy="430720"/>
            <a:chOff x="0" y="0"/>
            <a:chExt cx="574294" cy="57429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74294" cy="574294"/>
            </a:xfrm>
            <a:custGeom>
              <a:avLst/>
              <a:gdLst/>
              <a:ahLst/>
              <a:cxnLst/>
              <a:rect l="l" t="t" r="r" b="b"/>
              <a:pathLst>
                <a:path w="574294" h="574294">
                  <a:moveTo>
                    <a:pt x="0" y="287147"/>
                  </a:moveTo>
                  <a:cubicBezTo>
                    <a:pt x="0" y="128524"/>
                    <a:pt x="128524" y="0"/>
                    <a:pt x="287147" y="0"/>
                  </a:cubicBezTo>
                  <a:cubicBezTo>
                    <a:pt x="445770" y="0"/>
                    <a:pt x="574294" y="128524"/>
                    <a:pt x="574294" y="287147"/>
                  </a:cubicBezTo>
                  <a:cubicBezTo>
                    <a:pt x="574294" y="445770"/>
                    <a:pt x="445770" y="574294"/>
                    <a:pt x="287147" y="574294"/>
                  </a:cubicBezTo>
                  <a:cubicBezTo>
                    <a:pt x="128524" y="574294"/>
                    <a:pt x="0" y="445770"/>
                    <a:pt x="0" y="28714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131570" y="3490722"/>
            <a:ext cx="205740" cy="205740"/>
            <a:chOff x="0" y="0"/>
            <a:chExt cx="274320" cy="2743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851660" y="3223260"/>
            <a:ext cx="6858000" cy="754380"/>
            <a:chOff x="0" y="0"/>
            <a:chExt cx="9144000" cy="10058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013" b="-127012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851660" y="3223260"/>
            <a:ext cx="6858000" cy="754380"/>
            <a:chOff x="0" y="0"/>
            <a:chExt cx="9144000" cy="10058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914400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HEALTHCHECK Docker  </a:t>
              </a:r>
              <a:r>
                <a:rPr lang="en-US" sz="165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— vérifie le conteneur toutes les 30 secondes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91540" y="4238244"/>
            <a:ext cx="685800" cy="685800"/>
            <a:chOff x="0" y="0"/>
            <a:chExt cx="914400" cy="914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019080" y="4365784"/>
            <a:ext cx="430720" cy="430720"/>
            <a:chOff x="0" y="0"/>
            <a:chExt cx="574294" cy="57429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74294" cy="574294"/>
            </a:xfrm>
            <a:custGeom>
              <a:avLst/>
              <a:gdLst/>
              <a:ahLst/>
              <a:cxnLst/>
              <a:rect l="l" t="t" r="r" b="b"/>
              <a:pathLst>
                <a:path w="574294" h="574294">
                  <a:moveTo>
                    <a:pt x="0" y="287147"/>
                  </a:moveTo>
                  <a:cubicBezTo>
                    <a:pt x="0" y="128524"/>
                    <a:pt x="128524" y="0"/>
                    <a:pt x="287147" y="0"/>
                  </a:cubicBezTo>
                  <a:cubicBezTo>
                    <a:pt x="445770" y="0"/>
                    <a:pt x="574294" y="128524"/>
                    <a:pt x="574294" y="287147"/>
                  </a:cubicBezTo>
                  <a:cubicBezTo>
                    <a:pt x="574294" y="445770"/>
                    <a:pt x="445770" y="574294"/>
                    <a:pt x="287147" y="574294"/>
                  </a:cubicBezTo>
                  <a:cubicBezTo>
                    <a:pt x="128524" y="574294"/>
                    <a:pt x="0" y="445770"/>
                    <a:pt x="0" y="28714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2"/>
              </a:stretch>
            </a:blip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131570" y="4478274"/>
            <a:ext cx="205740" cy="205740"/>
            <a:chOff x="0" y="0"/>
            <a:chExt cx="274320" cy="2743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851660" y="4210812"/>
            <a:ext cx="6858000" cy="754380"/>
            <a:chOff x="0" y="0"/>
            <a:chExt cx="9144000" cy="10058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013" b="-127012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851660" y="4210812"/>
            <a:ext cx="6858000" cy="754380"/>
            <a:chOff x="0" y="0"/>
            <a:chExt cx="9144000" cy="10058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914400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Pipeline CI/CD  </a:t>
              </a:r>
              <a:r>
                <a:rPr lang="en-US" sz="165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— job build : valide le déploiement avant de fusionner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91540" y="5225796"/>
            <a:ext cx="685800" cy="685800"/>
            <a:chOff x="0" y="0"/>
            <a:chExt cx="914400" cy="9144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019080" y="5353336"/>
            <a:ext cx="430720" cy="430720"/>
            <a:chOff x="0" y="0"/>
            <a:chExt cx="574294" cy="57429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74294" cy="574294"/>
            </a:xfrm>
            <a:custGeom>
              <a:avLst/>
              <a:gdLst/>
              <a:ahLst/>
              <a:cxnLst/>
              <a:rect l="l" t="t" r="r" b="b"/>
              <a:pathLst>
                <a:path w="574294" h="574294">
                  <a:moveTo>
                    <a:pt x="0" y="287147"/>
                  </a:moveTo>
                  <a:cubicBezTo>
                    <a:pt x="0" y="128524"/>
                    <a:pt x="128524" y="0"/>
                    <a:pt x="287147" y="0"/>
                  </a:cubicBezTo>
                  <a:cubicBezTo>
                    <a:pt x="445770" y="0"/>
                    <a:pt x="574294" y="128524"/>
                    <a:pt x="574294" y="287147"/>
                  </a:cubicBezTo>
                  <a:cubicBezTo>
                    <a:pt x="574294" y="445770"/>
                    <a:pt x="445770" y="574294"/>
                    <a:pt x="287147" y="574294"/>
                  </a:cubicBezTo>
                  <a:cubicBezTo>
                    <a:pt x="128524" y="574294"/>
                    <a:pt x="0" y="445770"/>
                    <a:pt x="0" y="28714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r="-78394"/>
              </a:stretch>
            </a:blip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131570" y="5465826"/>
            <a:ext cx="205740" cy="205740"/>
            <a:chOff x="0" y="0"/>
            <a:chExt cx="274320" cy="2743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851660" y="5198364"/>
            <a:ext cx="6858000" cy="754380"/>
            <a:chOff x="0" y="0"/>
            <a:chExt cx="9144000" cy="10058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013" b="-127012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851660" y="5198364"/>
            <a:ext cx="6858000" cy="754380"/>
            <a:chOff x="0" y="0"/>
            <a:chExt cx="9144000" cy="10058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144000" cy="1005840"/>
            </a:xfrm>
            <a:custGeom>
              <a:avLst/>
              <a:gdLst/>
              <a:ahLst/>
              <a:cxnLst/>
              <a:rect l="l" t="t" r="r" b="b"/>
              <a:pathLst>
                <a:path w="9144000" h="1005840">
                  <a:moveTo>
                    <a:pt x="0" y="0"/>
                  </a:moveTo>
                  <a:lnTo>
                    <a:pt x="9144000" y="0"/>
                  </a:lnTo>
                  <a:lnTo>
                    <a:pt x="9144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9144000" cy="1005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2C333D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Supervision Komodo  </a:t>
              </a:r>
              <a:r>
                <a:rPr lang="en-US" sz="1650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— affiche l'état du Stack en temps réel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22960" y="6652260"/>
            <a:ext cx="4114800" cy="1028700"/>
            <a:chOff x="0" y="0"/>
            <a:chExt cx="5486400" cy="13716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486400" cy="1371600"/>
            </a:xfrm>
            <a:custGeom>
              <a:avLst/>
              <a:gdLst/>
              <a:ahLst/>
              <a:cxnLst/>
              <a:rect l="l" t="t" r="r" b="b"/>
              <a:pathLst>
                <a:path w="5486400" h="1371600">
                  <a:moveTo>
                    <a:pt x="0" y="0"/>
                  </a:moveTo>
                  <a:lnTo>
                    <a:pt x="5486400" y="0"/>
                  </a:lnTo>
                  <a:lnTo>
                    <a:pt x="5486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886" b="-27886"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822960" y="6637972"/>
            <a:ext cx="4114800" cy="1042988"/>
            <a:chOff x="0" y="0"/>
            <a:chExt cx="5486400" cy="139065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486400" cy="1390650"/>
            </a:xfrm>
            <a:custGeom>
              <a:avLst/>
              <a:gdLst/>
              <a:ahLst/>
              <a:cxnLst/>
              <a:rect l="l" t="t" r="r" b="b"/>
              <a:pathLst>
                <a:path w="5486400" h="1390650">
                  <a:moveTo>
                    <a:pt x="0" y="0"/>
                  </a:moveTo>
                  <a:lnTo>
                    <a:pt x="5486400" y="0"/>
                  </a:lnTo>
                  <a:lnTo>
                    <a:pt x="5486400" y="1390650"/>
                  </a:lnTo>
                  <a:lnTo>
                    <a:pt x="0" y="1390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72" b="-2687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548640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58"/>
                </a:lnSpc>
              </a:pPr>
              <a:r>
                <a:rPr lang="en-US" sz="6300" b="1">
                  <a:solidFill>
                    <a:srgbClr val="AB5B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200 OK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22960" y="7680960"/>
            <a:ext cx="4114800" cy="1234440"/>
            <a:chOff x="0" y="0"/>
            <a:chExt cx="5486400" cy="16459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486400" cy="1645920"/>
            </a:xfrm>
            <a:custGeom>
              <a:avLst/>
              <a:gdLst/>
              <a:ahLst/>
              <a:cxnLst/>
              <a:rect l="l" t="t" r="r" b="b"/>
              <a:pathLst>
                <a:path w="5486400" h="164592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05" b="-14905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822960" y="7673816"/>
            <a:ext cx="4114800" cy="1241584"/>
            <a:chOff x="0" y="0"/>
            <a:chExt cx="5486400" cy="165544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486400" cy="1655445"/>
            </a:xfrm>
            <a:custGeom>
              <a:avLst/>
              <a:gdLst/>
              <a:ahLst/>
              <a:cxnLst/>
              <a:rect l="l" t="t" r="r" b="b"/>
              <a:pathLst>
                <a:path w="5486400" h="1655445">
                  <a:moveTo>
                    <a:pt x="0" y="0"/>
                  </a:moveTo>
                  <a:lnTo>
                    <a:pt x="5486400" y="0"/>
                  </a:lnTo>
                  <a:lnTo>
                    <a:pt x="548640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576" b="-14576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548640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réponses /health observées dans les journaux Komodo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978741" y="2406110"/>
            <a:ext cx="8498300" cy="6859334"/>
            <a:chOff x="0" y="0"/>
            <a:chExt cx="11331067" cy="914577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331067" cy="9145778"/>
            </a:xfrm>
            <a:custGeom>
              <a:avLst/>
              <a:gdLst/>
              <a:ahLst/>
              <a:cxnLst/>
              <a:rect l="l" t="t" r="r" b="b"/>
              <a:pathLst>
                <a:path w="11331067" h="9145778">
                  <a:moveTo>
                    <a:pt x="0" y="0"/>
                  </a:moveTo>
                  <a:lnTo>
                    <a:pt x="11331067" y="0"/>
                  </a:lnTo>
                  <a:lnTo>
                    <a:pt x="11331067" y="9145778"/>
                  </a:lnTo>
                  <a:lnTo>
                    <a:pt x="0" y="9145778"/>
                  </a:lnTo>
                  <a:close/>
                </a:path>
              </a:pathLst>
            </a:custGeom>
            <a:solidFill>
              <a:srgbClr val="2C333D"/>
            </a:solidFill>
            <a:ln w="19050" cap="sq">
              <a:solidFill>
                <a:srgbClr val="DEE1E3"/>
              </a:solidFill>
              <a:prstDash val="solid"/>
              <a:miter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9278874" y="2674620"/>
            <a:ext cx="8229600" cy="411480"/>
            <a:chOff x="0" y="0"/>
            <a:chExt cx="10972800" cy="54864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9278874" y="2674620"/>
            <a:ext cx="8229600" cy="411480"/>
            <a:chOff x="0" y="0"/>
            <a:chExt cx="10972800" cy="54864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DÉPLOIEMENT — STACK KOMODO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06" name="Group 106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18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294315" y="3333436"/>
            <a:ext cx="5739689" cy="5485009"/>
            <a:chOff x="0" y="0"/>
            <a:chExt cx="7652918" cy="731334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7652893" cy="7313295"/>
            </a:xfrm>
            <a:custGeom>
              <a:avLst/>
              <a:gdLst/>
              <a:ahLst/>
              <a:cxnLst/>
              <a:rect l="l" t="t" r="r" b="b"/>
              <a:pathLst>
                <a:path w="7652893" h="7313295">
                  <a:moveTo>
                    <a:pt x="0" y="0"/>
                  </a:moveTo>
                  <a:lnTo>
                    <a:pt x="7652893" y="0"/>
                  </a:lnTo>
                  <a:lnTo>
                    <a:pt x="7652893" y="7313295"/>
                  </a:lnTo>
                  <a:lnTo>
                    <a:pt x="0" y="7313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r="-11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8229600" cy="411480"/>
            <a:chOff x="0" y="0"/>
            <a:chExt cx="10972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685800"/>
            <a:ext cx="8229600" cy="411480"/>
            <a:chOff x="0" y="0"/>
            <a:chExt cx="109728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VUE D'ENSEMBLE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1069848"/>
            <a:ext cx="15773400" cy="822960"/>
            <a:chOff x="0" y="0"/>
            <a:chExt cx="21031200" cy="10972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097280"/>
            </a:xfrm>
            <a:custGeom>
              <a:avLst/>
              <a:gdLst/>
              <a:ahLst/>
              <a:cxnLst/>
              <a:rect l="l" t="t" r="r" b="b"/>
              <a:pathLst>
                <a:path w="21031200" h="109728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203" b="-32320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22960" y="1062704"/>
            <a:ext cx="15773400" cy="830104"/>
            <a:chOff x="0" y="0"/>
            <a:chExt cx="21031200" cy="11068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031200" cy="1106805"/>
            </a:xfrm>
            <a:custGeom>
              <a:avLst/>
              <a:gdLst/>
              <a:ahLst/>
              <a:cxnLst/>
              <a:rect l="l" t="t" r="r" b="b"/>
              <a:pathLst>
                <a:path w="21031200" h="1106805">
                  <a:moveTo>
                    <a:pt x="0" y="0"/>
                  </a:moveTo>
                  <a:lnTo>
                    <a:pt x="21031200" y="0"/>
                  </a:lnTo>
                  <a:lnTo>
                    <a:pt x="2103120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249" b="-32024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10312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pipeline complet, en 12 étapes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4080">
            <a:off x="1137256" y="3478530"/>
            <a:ext cx="15967767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788670" y="3120390"/>
            <a:ext cx="754380" cy="754380"/>
            <a:chOff x="0" y="0"/>
            <a:chExt cx="1005840" cy="1005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sp>
        <p:nvSpPr>
          <p:cNvPr id="15" name="AutoShape 15"/>
          <p:cNvSpPr/>
          <p:nvPr/>
        </p:nvSpPr>
        <p:spPr>
          <a:xfrm rot="159540">
            <a:off x="960530" y="3357829"/>
            <a:ext cx="410661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rot="190860">
            <a:off x="994191" y="3478530"/>
            <a:ext cx="343338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237240">
            <a:off x="1027719" y="3599231"/>
            <a:ext cx="27629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-137160" y="4046220"/>
            <a:ext cx="2606040" cy="754380"/>
            <a:chOff x="0" y="0"/>
            <a:chExt cx="3474720" cy="10058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137160" y="4031933"/>
            <a:ext cx="2606040" cy="768668"/>
            <a:chOff x="0" y="0"/>
            <a:chExt cx="3474720" cy="10248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Sources de données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70782" y="3120390"/>
            <a:ext cx="754380" cy="754380"/>
            <a:chOff x="0" y="0"/>
            <a:chExt cx="100584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sp>
        <p:nvSpPr>
          <p:cNvPr id="25" name="AutoShape 25"/>
          <p:cNvSpPr/>
          <p:nvPr/>
        </p:nvSpPr>
        <p:spPr>
          <a:xfrm rot="333060">
            <a:off x="4200277" y="3398329"/>
            <a:ext cx="29538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 rot="-10800000">
            <a:off x="4242321" y="3512668"/>
            <a:ext cx="211264" cy="150876"/>
            <a:chOff x="0" y="0"/>
            <a:chExt cx="281686" cy="2011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1686" cy="201168"/>
            </a:xfrm>
            <a:custGeom>
              <a:avLst/>
              <a:gdLst/>
              <a:ahLst/>
              <a:cxnLst/>
              <a:rect l="l" t="t" r="r" b="b"/>
              <a:pathLst>
                <a:path w="281686" h="201168">
                  <a:moveTo>
                    <a:pt x="0" y="201168"/>
                  </a:moveTo>
                  <a:lnTo>
                    <a:pt x="140843" y="0"/>
                  </a:lnTo>
                  <a:lnTo>
                    <a:pt x="281686" y="2011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3044952" y="4046220"/>
            <a:ext cx="2606040" cy="754380"/>
            <a:chOff x="0" y="0"/>
            <a:chExt cx="3474720" cy="1005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3044952" y="4031933"/>
            <a:ext cx="2606040" cy="768668"/>
            <a:chOff x="0" y="0"/>
            <a:chExt cx="3474720" cy="102489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dlt — Ingestion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52894" y="3120390"/>
            <a:ext cx="754380" cy="754380"/>
            <a:chOff x="0" y="0"/>
            <a:chExt cx="1005840" cy="10058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7364120" y="3301441"/>
            <a:ext cx="331946" cy="113157"/>
            <a:chOff x="0" y="0"/>
            <a:chExt cx="442595" cy="1508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42595" cy="150876"/>
            </a:xfrm>
            <a:custGeom>
              <a:avLst/>
              <a:gdLst/>
              <a:ahLst/>
              <a:cxnLst/>
              <a:rect l="l" t="t" r="r" b="b"/>
              <a:pathLst>
                <a:path w="442595" h="150876">
                  <a:moveTo>
                    <a:pt x="0" y="75438"/>
                  </a:moveTo>
                  <a:cubicBezTo>
                    <a:pt x="0" y="33782"/>
                    <a:pt x="99060" y="0"/>
                    <a:pt x="221234" y="0"/>
                  </a:cubicBezTo>
                  <a:cubicBezTo>
                    <a:pt x="343408" y="0"/>
                    <a:pt x="442595" y="33782"/>
                    <a:pt x="442595" y="75438"/>
                  </a:cubicBezTo>
                  <a:cubicBezTo>
                    <a:pt x="442595" y="117094"/>
                    <a:pt x="343535" y="150876"/>
                    <a:pt x="221361" y="150876"/>
                  </a:cubicBezTo>
                  <a:cubicBezTo>
                    <a:pt x="99187" y="150876"/>
                    <a:pt x="0" y="117094"/>
                    <a:pt x="0" y="754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7364120" y="3358020"/>
            <a:ext cx="331946" cy="226314"/>
            <a:chOff x="0" y="0"/>
            <a:chExt cx="442595" cy="3017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2595" cy="301752"/>
            </a:xfrm>
            <a:custGeom>
              <a:avLst/>
              <a:gdLst/>
              <a:ahLst/>
              <a:cxnLst/>
              <a:rect l="l" t="t" r="r" b="b"/>
              <a:pathLst>
                <a:path w="442595" h="301752">
                  <a:moveTo>
                    <a:pt x="0" y="0"/>
                  </a:moveTo>
                  <a:lnTo>
                    <a:pt x="442595" y="0"/>
                  </a:lnTo>
                  <a:lnTo>
                    <a:pt x="442595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9" name="Freeform 39"/>
          <p:cNvSpPr/>
          <p:nvPr/>
        </p:nvSpPr>
        <p:spPr>
          <a:xfrm>
            <a:off x="7340784" y="3557226"/>
            <a:ext cx="378619" cy="159829"/>
          </a:xfrm>
          <a:custGeom>
            <a:avLst/>
            <a:gdLst/>
            <a:ahLst/>
            <a:cxnLst/>
            <a:rect l="l" t="t" r="r" b="b"/>
            <a:pathLst>
              <a:path w="378619" h="159829">
                <a:moveTo>
                  <a:pt x="0" y="0"/>
                </a:moveTo>
                <a:lnTo>
                  <a:pt x="378619" y="0"/>
                </a:lnTo>
                <a:lnTo>
                  <a:pt x="378619" y="159829"/>
                </a:lnTo>
                <a:lnTo>
                  <a:pt x="0" y="159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6227064" y="4046220"/>
            <a:ext cx="2606040" cy="754380"/>
            <a:chOff x="0" y="0"/>
            <a:chExt cx="3474720" cy="10058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6227064" y="4031933"/>
            <a:ext cx="2606040" cy="768668"/>
            <a:chOff x="0" y="0"/>
            <a:chExt cx="3474720" cy="102489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DuckDB — Stockage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335006" y="3120390"/>
            <a:ext cx="754380" cy="754380"/>
            <a:chOff x="0" y="0"/>
            <a:chExt cx="100584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531145" y="3346704"/>
            <a:ext cx="362140" cy="165926"/>
            <a:chOff x="0" y="0"/>
            <a:chExt cx="482854" cy="22123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2854" cy="221234"/>
            </a:xfrm>
            <a:custGeom>
              <a:avLst/>
              <a:gdLst/>
              <a:ahLst/>
              <a:cxnLst/>
              <a:rect l="l" t="t" r="r" b="b"/>
              <a:pathLst>
                <a:path w="482854" h="221234">
                  <a:moveTo>
                    <a:pt x="0" y="0"/>
                  </a:moveTo>
                  <a:lnTo>
                    <a:pt x="55372" y="221234"/>
                  </a:lnTo>
                  <a:lnTo>
                    <a:pt x="427482" y="221234"/>
                  </a:lnTo>
                  <a:lnTo>
                    <a:pt x="48285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0685793" y="3520211"/>
            <a:ext cx="52768" cy="135826"/>
            <a:chOff x="0" y="0"/>
            <a:chExt cx="70358" cy="18110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0358" cy="181102"/>
            </a:xfrm>
            <a:custGeom>
              <a:avLst/>
              <a:gdLst/>
              <a:ahLst/>
              <a:cxnLst/>
              <a:rect l="l" t="t" r="r" b="b"/>
              <a:pathLst>
                <a:path w="70358" h="181102">
                  <a:moveTo>
                    <a:pt x="0" y="0"/>
                  </a:moveTo>
                  <a:lnTo>
                    <a:pt x="70358" y="0"/>
                  </a:lnTo>
                  <a:lnTo>
                    <a:pt x="70358" y="181102"/>
                  </a:lnTo>
                  <a:lnTo>
                    <a:pt x="0" y="18110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9409176" y="4046220"/>
            <a:ext cx="2606040" cy="754380"/>
            <a:chOff x="0" y="0"/>
            <a:chExt cx="3474720" cy="10058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9409176" y="4031933"/>
            <a:ext cx="2606040" cy="768668"/>
            <a:chOff x="0" y="0"/>
            <a:chExt cx="3474720" cy="102489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dbt — Transformations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17118" y="3120390"/>
            <a:ext cx="754380" cy="754380"/>
            <a:chOff x="0" y="0"/>
            <a:chExt cx="1005840" cy="10058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2591288" y="4046220"/>
            <a:ext cx="2606040" cy="754380"/>
            <a:chOff x="0" y="0"/>
            <a:chExt cx="3474720" cy="10058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12591288" y="4031933"/>
            <a:ext cx="2606040" cy="768668"/>
            <a:chOff x="0" y="0"/>
            <a:chExt cx="3474720" cy="102489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Tests Qualité — Data Contracts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6699230" y="3120390"/>
            <a:ext cx="754380" cy="754380"/>
            <a:chOff x="0" y="0"/>
            <a:chExt cx="1005840" cy="10058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7042473" y="3335388"/>
            <a:ext cx="67913" cy="67913"/>
            <a:chOff x="0" y="0"/>
            <a:chExt cx="90551" cy="9055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0551" cy="90551"/>
            </a:xfrm>
            <a:custGeom>
              <a:avLst/>
              <a:gdLst/>
              <a:ahLst/>
              <a:cxnLst/>
              <a:rect l="l" t="t" r="r" b="b"/>
              <a:pathLst>
                <a:path w="90551" h="90551">
                  <a:moveTo>
                    <a:pt x="0" y="45212"/>
                  </a:moveTo>
                  <a:cubicBezTo>
                    <a:pt x="0" y="20320"/>
                    <a:pt x="20320" y="0"/>
                    <a:pt x="45212" y="0"/>
                  </a:cubicBezTo>
                  <a:cubicBezTo>
                    <a:pt x="70104" y="0"/>
                    <a:pt x="90551" y="20320"/>
                    <a:pt x="90551" y="45212"/>
                  </a:cubicBezTo>
                  <a:cubicBezTo>
                    <a:pt x="90551" y="70104"/>
                    <a:pt x="70231" y="90551"/>
                    <a:pt x="45212" y="90551"/>
                  </a:cubicBezTo>
                  <a:cubicBezTo>
                    <a:pt x="20193" y="90551"/>
                    <a:pt x="0" y="70231"/>
                    <a:pt x="0" y="45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7163174" y="3554158"/>
            <a:ext cx="67913" cy="67913"/>
            <a:chOff x="0" y="0"/>
            <a:chExt cx="90551" cy="9055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0551" cy="90551"/>
            </a:xfrm>
            <a:custGeom>
              <a:avLst/>
              <a:gdLst/>
              <a:ahLst/>
              <a:cxnLst/>
              <a:rect l="l" t="t" r="r" b="b"/>
              <a:pathLst>
                <a:path w="90551" h="90551">
                  <a:moveTo>
                    <a:pt x="0" y="45212"/>
                  </a:moveTo>
                  <a:cubicBezTo>
                    <a:pt x="0" y="20320"/>
                    <a:pt x="20320" y="0"/>
                    <a:pt x="45212" y="0"/>
                  </a:cubicBezTo>
                  <a:cubicBezTo>
                    <a:pt x="70104" y="0"/>
                    <a:pt x="90551" y="20320"/>
                    <a:pt x="90551" y="45212"/>
                  </a:cubicBezTo>
                  <a:cubicBezTo>
                    <a:pt x="90551" y="70104"/>
                    <a:pt x="70231" y="90551"/>
                    <a:pt x="45212" y="90551"/>
                  </a:cubicBezTo>
                  <a:cubicBezTo>
                    <a:pt x="20193" y="90551"/>
                    <a:pt x="0" y="70231"/>
                    <a:pt x="0" y="45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6921772" y="3554158"/>
            <a:ext cx="67913" cy="67913"/>
            <a:chOff x="0" y="0"/>
            <a:chExt cx="90551" cy="9055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0551" cy="90551"/>
            </a:xfrm>
            <a:custGeom>
              <a:avLst/>
              <a:gdLst/>
              <a:ahLst/>
              <a:cxnLst/>
              <a:rect l="l" t="t" r="r" b="b"/>
              <a:pathLst>
                <a:path w="90551" h="90551">
                  <a:moveTo>
                    <a:pt x="0" y="45212"/>
                  </a:moveTo>
                  <a:cubicBezTo>
                    <a:pt x="0" y="20320"/>
                    <a:pt x="20320" y="0"/>
                    <a:pt x="45212" y="0"/>
                  </a:cubicBezTo>
                  <a:cubicBezTo>
                    <a:pt x="70104" y="0"/>
                    <a:pt x="90551" y="20320"/>
                    <a:pt x="90551" y="45212"/>
                  </a:cubicBezTo>
                  <a:cubicBezTo>
                    <a:pt x="90551" y="70104"/>
                    <a:pt x="70231" y="90551"/>
                    <a:pt x="45212" y="90551"/>
                  </a:cubicBezTo>
                  <a:cubicBezTo>
                    <a:pt x="20193" y="90551"/>
                    <a:pt x="0" y="70231"/>
                    <a:pt x="0" y="452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1" name="AutoShape 71"/>
          <p:cNvSpPr/>
          <p:nvPr/>
        </p:nvSpPr>
        <p:spPr>
          <a:xfrm rot="146160">
            <a:off x="17013422" y="3465424"/>
            <a:ext cx="224057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" name="AutoShape 72"/>
          <p:cNvSpPr/>
          <p:nvPr/>
        </p:nvSpPr>
        <p:spPr>
          <a:xfrm rot="150900">
            <a:off x="16967902" y="3578581"/>
            <a:ext cx="217037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3" name="Group 73"/>
          <p:cNvGrpSpPr/>
          <p:nvPr/>
        </p:nvGrpSpPr>
        <p:grpSpPr>
          <a:xfrm>
            <a:off x="15773400" y="4046220"/>
            <a:ext cx="2606040" cy="754380"/>
            <a:chOff x="0" y="0"/>
            <a:chExt cx="3474720" cy="1005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5773400" y="4031933"/>
            <a:ext cx="2606040" cy="768668"/>
            <a:chOff x="0" y="0"/>
            <a:chExt cx="3474720" cy="102489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Dagster — Orchestration</a:t>
              </a:r>
            </a:p>
          </p:txBody>
        </p:sp>
      </p:grpSp>
      <p:sp>
        <p:nvSpPr>
          <p:cNvPr id="78" name="AutoShape 78"/>
          <p:cNvSpPr/>
          <p:nvPr/>
        </p:nvSpPr>
        <p:spPr>
          <a:xfrm rot="4080">
            <a:off x="1137256" y="6633210"/>
            <a:ext cx="15967767" cy="0"/>
          </a:xfrm>
          <a:prstGeom prst="line">
            <a:avLst/>
          </a:prstGeom>
          <a:ln w="19050" cap="rnd">
            <a:solidFill>
              <a:srgbClr val="3A425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9" name="Group 79"/>
          <p:cNvGrpSpPr/>
          <p:nvPr/>
        </p:nvGrpSpPr>
        <p:grpSpPr>
          <a:xfrm>
            <a:off x="788670" y="6275070"/>
            <a:ext cx="754380" cy="754380"/>
            <a:chOff x="0" y="0"/>
            <a:chExt cx="1005840" cy="10058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007440" y="6667348"/>
            <a:ext cx="75438" cy="105632"/>
            <a:chOff x="0" y="0"/>
            <a:chExt cx="100584" cy="140843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0584" cy="140843"/>
            </a:xfrm>
            <a:custGeom>
              <a:avLst/>
              <a:gdLst/>
              <a:ahLst/>
              <a:cxnLst/>
              <a:rect l="l" t="t" r="r" b="b"/>
              <a:pathLst>
                <a:path w="100584" h="140843">
                  <a:moveTo>
                    <a:pt x="0" y="0"/>
                  </a:moveTo>
                  <a:lnTo>
                    <a:pt x="100584" y="0"/>
                  </a:lnTo>
                  <a:lnTo>
                    <a:pt x="100584" y="140843"/>
                  </a:lnTo>
                  <a:lnTo>
                    <a:pt x="0" y="1408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1128141" y="6606997"/>
            <a:ext cx="75438" cy="165926"/>
            <a:chOff x="0" y="0"/>
            <a:chExt cx="100584" cy="22123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00584" cy="221234"/>
            </a:xfrm>
            <a:custGeom>
              <a:avLst/>
              <a:gdLst/>
              <a:ahLst/>
              <a:cxnLst/>
              <a:rect l="l" t="t" r="r" b="b"/>
              <a:pathLst>
                <a:path w="100584" h="221234">
                  <a:moveTo>
                    <a:pt x="0" y="0"/>
                  </a:moveTo>
                  <a:lnTo>
                    <a:pt x="100584" y="0"/>
                  </a:lnTo>
                  <a:lnTo>
                    <a:pt x="100584" y="221234"/>
                  </a:lnTo>
                  <a:lnTo>
                    <a:pt x="0" y="22123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1248842" y="6546647"/>
            <a:ext cx="75438" cy="226314"/>
            <a:chOff x="0" y="0"/>
            <a:chExt cx="100584" cy="30175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0584" cy="301752"/>
            </a:xfrm>
            <a:custGeom>
              <a:avLst/>
              <a:gdLst/>
              <a:ahLst/>
              <a:cxnLst/>
              <a:rect l="l" t="t" r="r" b="b"/>
              <a:pathLst>
                <a:path w="100584" h="301752">
                  <a:moveTo>
                    <a:pt x="0" y="0"/>
                  </a:moveTo>
                  <a:lnTo>
                    <a:pt x="100584" y="0"/>
                  </a:lnTo>
                  <a:lnTo>
                    <a:pt x="100584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-137160" y="5486400"/>
            <a:ext cx="2606040" cy="754380"/>
            <a:chOff x="0" y="0"/>
            <a:chExt cx="3474720" cy="100584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-137160" y="5472112"/>
            <a:ext cx="2606040" cy="768668"/>
            <a:chOff x="0" y="0"/>
            <a:chExt cx="3474720" cy="102489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Machine Learning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3970782" y="6275070"/>
            <a:ext cx="754380" cy="754380"/>
            <a:chOff x="0" y="0"/>
            <a:chExt cx="1005840" cy="10058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4182008" y="6550419"/>
            <a:ext cx="331946" cy="52768"/>
            <a:chOff x="0" y="0"/>
            <a:chExt cx="442595" cy="7035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42595" cy="70358"/>
            </a:xfrm>
            <a:custGeom>
              <a:avLst/>
              <a:gdLst/>
              <a:ahLst/>
              <a:cxnLst/>
              <a:rect l="l" t="t" r="r" b="b"/>
              <a:pathLst>
                <a:path w="442595" h="70358">
                  <a:moveTo>
                    <a:pt x="0" y="0"/>
                  </a:moveTo>
                  <a:lnTo>
                    <a:pt x="442595" y="0"/>
                  </a:lnTo>
                  <a:lnTo>
                    <a:pt x="442595" y="70358"/>
                  </a:lnTo>
                  <a:lnTo>
                    <a:pt x="0" y="703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4204640" y="6625857"/>
            <a:ext cx="331946" cy="52768"/>
            <a:chOff x="0" y="0"/>
            <a:chExt cx="442595" cy="70358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42595" cy="70358"/>
            </a:xfrm>
            <a:custGeom>
              <a:avLst/>
              <a:gdLst/>
              <a:ahLst/>
              <a:cxnLst/>
              <a:rect l="l" t="t" r="r" b="b"/>
              <a:pathLst>
                <a:path w="442595" h="70358">
                  <a:moveTo>
                    <a:pt x="0" y="0"/>
                  </a:moveTo>
                  <a:lnTo>
                    <a:pt x="442595" y="0"/>
                  </a:lnTo>
                  <a:lnTo>
                    <a:pt x="442595" y="70358"/>
                  </a:lnTo>
                  <a:lnTo>
                    <a:pt x="0" y="703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4227271" y="6701295"/>
            <a:ext cx="331946" cy="52768"/>
            <a:chOff x="0" y="0"/>
            <a:chExt cx="442595" cy="7035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42595" cy="70358"/>
            </a:xfrm>
            <a:custGeom>
              <a:avLst/>
              <a:gdLst/>
              <a:ahLst/>
              <a:cxnLst/>
              <a:rect l="l" t="t" r="r" b="b"/>
              <a:pathLst>
                <a:path w="442595" h="70358">
                  <a:moveTo>
                    <a:pt x="0" y="0"/>
                  </a:moveTo>
                  <a:lnTo>
                    <a:pt x="442595" y="0"/>
                  </a:lnTo>
                  <a:lnTo>
                    <a:pt x="442595" y="70358"/>
                  </a:lnTo>
                  <a:lnTo>
                    <a:pt x="0" y="703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3044952" y="5486400"/>
            <a:ext cx="2606040" cy="754380"/>
            <a:chOff x="0" y="0"/>
            <a:chExt cx="3474720" cy="10058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102" name="Group 102"/>
          <p:cNvGrpSpPr/>
          <p:nvPr/>
        </p:nvGrpSpPr>
        <p:grpSpPr>
          <a:xfrm>
            <a:off x="3044952" y="5472112"/>
            <a:ext cx="2606040" cy="768668"/>
            <a:chOff x="0" y="0"/>
            <a:chExt cx="3474720" cy="102489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MLflow — Tracking &amp; Registry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152894" y="6275070"/>
            <a:ext cx="754380" cy="754380"/>
            <a:chOff x="0" y="0"/>
            <a:chExt cx="1005840" cy="100584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107" name="Group 107"/>
          <p:cNvGrpSpPr/>
          <p:nvPr/>
        </p:nvGrpSpPr>
        <p:grpSpPr>
          <a:xfrm rot="6600000">
            <a:off x="7409374" y="6486287"/>
            <a:ext cx="226314" cy="181070"/>
            <a:chOff x="0" y="0"/>
            <a:chExt cx="301752" cy="241427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01752" cy="241427"/>
            </a:xfrm>
            <a:custGeom>
              <a:avLst/>
              <a:gdLst/>
              <a:ahLst/>
              <a:cxnLst/>
              <a:rect l="l" t="t" r="r" b="b"/>
              <a:pathLst>
                <a:path w="301752" h="241427">
                  <a:moveTo>
                    <a:pt x="0" y="241427"/>
                  </a:moveTo>
                  <a:lnTo>
                    <a:pt x="150876" y="0"/>
                  </a:lnTo>
                  <a:lnTo>
                    <a:pt x="301752" y="2414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9" name="Group 109"/>
          <p:cNvGrpSpPr/>
          <p:nvPr/>
        </p:nvGrpSpPr>
        <p:grpSpPr>
          <a:xfrm rot="-4200000">
            <a:off x="7424480" y="6637163"/>
            <a:ext cx="226314" cy="181070"/>
            <a:chOff x="0" y="0"/>
            <a:chExt cx="301752" cy="241427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01752" cy="241427"/>
            </a:xfrm>
            <a:custGeom>
              <a:avLst/>
              <a:gdLst/>
              <a:ahLst/>
              <a:cxnLst/>
              <a:rect l="l" t="t" r="r" b="b"/>
              <a:pathLst>
                <a:path w="301752" h="241427">
                  <a:moveTo>
                    <a:pt x="0" y="241427"/>
                  </a:moveTo>
                  <a:lnTo>
                    <a:pt x="150876" y="0"/>
                  </a:lnTo>
                  <a:lnTo>
                    <a:pt x="301752" y="24142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1" name="Group 111"/>
          <p:cNvGrpSpPr/>
          <p:nvPr/>
        </p:nvGrpSpPr>
        <p:grpSpPr>
          <a:xfrm>
            <a:off x="6227064" y="5486400"/>
            <a:ext cx="2606040" cy="754380"/>
            <a:chOff x="0" y="0"/>
            <a:chExt cx="3474720" cy="100584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6227064" y="5472112"/>
            <a:ext cx="2606040" cy="768668"/>
            <a:chOff x="0" y="0"/>
            <a:chExt cx="3474720" cy="102489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FastAPI — Service ML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0335006" y="6275070"/>
            <a:ext cx="754380" cy="754380"/>
            <a:chOff x="0" y="0"/>
            <a:chExt cx="1005840" cy="100584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10561320" y="6637172"/>
            <a:ext cx="241364" cy="196120"/>
            <a:chOff x="0" y="0"/>
            <a:chExt cx="321818" cy="261493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21818" cy="261493"/>
            </a:xfrm>
            <a:custGeom>
              <a:avLst/>
              <a:gdLst/>
              <a:ahLst/>
              <a:cxnLst/>
              <a:rect l="l" t="t" r="r" b="b"/>
              <a:pathLst>
                <a:path w="321818" h="261493">
                  <a:moveTo>
                    <a:pt x="0" y="0"/>
                  </a:moveTo>
                  <a:lnTo>
                    <a:pt x="321818" y="0"/>
                  </a:lnTo>
                  <a:lnTo>
                    <a:pt x="321818" y="261493"/>
                  </a:lnTo>
                  <a:lnTo>
                    <a:pt x="0" y="2614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0" name="Group 120"/>
          <p:cNvGrpSpPr/>
          <p:nvPr/>
        </p:nvGrpSpPr>
        <p:grpSpPr>
          <a:xfrm>
            <a:off x="10640263" y="6459626"/>
            <a:ext cx="294704" cy="249460"/>
            <a:chOff x="0" y="0"/>
            <a:chExt cx="392938" cy="332613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392938" cy="332613"/>
            </a:xfrm>
            <a:custGeom>
              <a:avLst/>
              <a:gdLst/>
              <a:ahLst/>
              <a:cxnLst/>
              <a:rect l="l" t="t" r="r" b="b"/>
              <a:pathLst>
                <a:path w="392938" h="332613">
                  <a:moveTo>
                    <a:pt x="0" y="0"/>
                  </a:moveTo>
                  <a:lnTo>
                    <a:pt x="392938" y="0"/>
                  </a:lnTo>
                  <a:lnTo>
                    <a:pt x="392938" y="332613"/>
                  </a:lnTo>
                  <a:lnTo>
                    <a:pt x="0" y="332613"/>
                  </a:lnTo>
                  <a:close/>
                </a:path>
              </a:pathLst>
            </a:custGeom>
            <a:solidFill>
              <a:srgbClr val="55606B"/>
            </a:solidFill>
            <a:ln w="3048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22" name="Group 122"/>
          <p:cNvGrpSpPr/>
          <p:nvPr/>
        </p:nvGrpSpPr>
        <p:grpSpPr>
          <a:xfrm>
            <a:off x="9409176" y="5486400"/>
            <a:ext cx="2606040" cy="754380"/>
            <a:chOff x="0" y="0"/>
            <a:chExt cx="3474720" cy="100584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124" name="Group 124"/>
          <p:cNvGrpSpPr/>
          <p:nvPr/>
        </p:nvGrpSpPr>
        <p:grpSpPr>
          <a:xfrm>
            <a:off x="9409176" y="5472112"/>
            <a:ext cx="2606040" cy="768668"/>
            <a:chOff x="0" y="0"/>
            <a:chExt cx="3474720" cy="102489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Docker — Conteneurisation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3517118" y="6275070"/>
            <a:ext cx="754380" cy="754380"/>
            <a:chOff x="0" y="0"/>
            <a:chExt cx="1005840" cy="100584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C333D"/>
            </a:solidFill>
          </p:spPr>
        </p:sp>
      </p:grpSp>
      <p:grpSp>
        <p:nvGrpSpPr>
          <p:cNvPr id="129" name="Group 129"/>
          <p:cNvGrpSpPr/>
          <p:nvPr/>
        </p:nvGrpSpPr>
        <p:grpSpPr>
          <a:xfrm>
            <a:off x="13713257" y="6471209"/>
            <a:ext cx="362140" cy="362140"/>
            <a:chOff x="0" y="0"/>
            <a:chExt cx="482854" cy="48285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482854" cy="482854"/>
            </a:xfrm>
            <a:custGeom>
              <a:avLst/>
              <a:gdLst/>
              <a:ahLst/>
              <a:cxnLst/>
              <a:rect l="l" t="t" r="r" b="b"/>
              <a:pathLst>
                <a:path w="482854" h="482854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cubicBezTo>
                    <a:pt x="374777" y="0"/>
                    <a:pt x="482854" y="108077"/>
                    <a:pt x="482854" y="241427"/>
                  </a:cubicBezTo>
                  <a:cubicBezTo>
                    <a:pt x="482854" y="374777"/>
                    <a:pt x="374777" y="482854"/>
                    <a:pt x="241427" y="482854"/>
                  </a:cubicBezTo>
                  <a:cubicBezTo>
                    <a:pt x="108077" y="482854"/>
                    <a:pt x="0" y="374777"/>
                    <a:pt x="0" y="241427"/>
                  </a:cubicBezTo>
                  <a:close/>
                  <a:moveTo>
                    <a:pt x="120650" y="241427"/>
                  </a:moveTo>
                  <a:cubicBezTo>
                    <a:pt x="120650" y="308102"/>
                    <a:pt x="174752" y="362077"/>
                    <a:pt x="241300" y="362077"/>
                  </a:cubicBezTo>
                  <a:cubicBezTo>
                    <a:pt x="307848" y="362077"/>
                    <a:pt x="361950" y="307975"/>
                    <a:pt x="361950" y="241427"/>
                  </a:cubicBezTo>
                  <a:cubicBezTo>
                    <a:pt x="361950" y="174879"/>
                    <a:pt x="307848" y="120777"/>
                    <a:pt x="241300" y="120777"/>
                  </a:cubicBezTo>
                  <a:cubicBezTo>
                    <a:pt x="174752" y="120777"/>
                    <a:pt x="120650" y="174879"/>
                    <a:pt x="120650" y="2414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12591288" y="5486400"/>
            <a:ext cx="2606040" cy="754380"/>
            <a:chOff x="0" y="0"/>
            <a:chExt cx="3474720" cy="100584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133" name="Group 133"/>
          <p:cNvGrpSpPr/>
          <p:nvPr/>
        </p:nvGrpSpPr>
        <p:grpSpPr>
          <a:xfrm>
            <a:off x="12591288" y="5472112"/>
            <a:ext cx="2606040" cy="768668"/>
            <a:chOff x="0" y="0"/>
            <a:chExt cx="3474720" cy="102489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CI/CD — GitHub Actions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6699230" y="6275070"/>
            <a:ext cx="754380" cy="754380"/>
            <a:chOff x="0" y="0"/>
            <a:chExt cx="1005840" cy="100584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5606B"/>
            </a:solidFill>
          </p:spPr>
        </p:sp>
      </p:grpSp>
      <p:grpSp>
        <p:nvGrpSpPr>
          <p:cNvPr id="138" name="Group 138"/>
          <p:cNvGrpSpPr/>
          <p:nvPr/>
        </p:nvGrpSpPr>
        <p:grpSpPr>
          <a:xfrm>
            <a:off x="16841857" y="6417697"/>
            <a:ext cx="469106" cy="469106"/>
            <a:chOff x="0" y="0"/>
            <a:chExt cx="625475" cy="625475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625475" h="625475">
                  <a:moveTo>
                    <a:pt x="0" y="312801"/>
                  </a:moveTo>
                  <a:cubicBezTo>
                    <a:pt x="0" y="140081"/>
                    <a:pt x="140081" y="0"/>
                    <a:pt x="312801" y="0"/>
                  </a:cubicBezTo>
                  <a:cubicBezTo>
                    <a:pt x="485521" y="0"/>
                    <a:pt x="625475" y="140081"/>
                    <a:pt x="625475" y="312801"/>
                  </a:cubicBezTo>
                  <a:cubicBezTo>
                    <a:pt x="625475" y="485521"/>
                    <a:pt x="485521" y="625475"/>
                    <a:pt x="312801" y="625475"/>
                  </a:cubicBezTo>
                  <a:cubicBezTo>
                    <a:pt x="140081" y="625475"/>
                    <a:pt x="0" y="485521"/>
                    <a:pt x="0" y="312801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3" r="-78391"/>
              </a:stretch>
            </a:blipFill>
            <a:ln w="2667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40" name="Group 140"/>
          <p:cNvGrpSpPr/>
          <p:nvPr/>
        </p:nvGrpSpPr>
        <p:grpSpPr>
          <a:xfrm>
            <a:off x="16963263" y="6539103"/>
            <a:ext cx="226314" cy="226314"/>
            <a:chOff x="0" y="0"/>
            <a:chExt cx="301752" cy="301752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301752" cy="301752"/>
            </a:xfrm>
            <a:custGeom>
              <a:avLst/>
              <a:gdLst/>
              <a:ahLst/>
              <a:cxnLst/>
              <a:rect l="l" t="t" r="r" b="b"/>
              <a:pathLst>
                <a:path w="301752" h="301752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cubicBezTo>
                    <a:pt x="234188" y="0"/>
                    <a:pt x="301752" y="67564"/>
                    <a:pt x="301752" y="150876"/>
                  </a:cubicBezTo>
                  <a:cubicBezTo>
                    <a:pt x="301752" y="234188"/>
                    <a:pt x="234188" y="301752"/>
                    <a:pt x="150876" y="301752"/>
                  </a:cubicBezTo>
                  <a:cubicBezTo>
                    <a:pt x="67564" y="301752"/>
                    <a:pt x="0" y="234188"/>
                    <a:pt x="0" y="1508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2" name="Group 142"/>
          <p:cNvGrpSpPr/>
          <p:nvPr/>
        </p:nvGrpSpPr>
        <p:grpSpPr>
          <a:xfrm>
            <a:off x="15773400" y="5486400"/>
            <a:ext cx="2606040" cy="754380"/>
            <a:chOff x="0" y="0"/>
            <a:chExt cx="3474720" cy="1005840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3474720" cy="1005840"/>
            </a:xfrm>
            <a:custGeom>
              <a:avLst/>
              <a:gdLst/>
              <a:ahLst/>
              <a:cxnLst/>
              <a:rect l="l" t="t" r="r" b="b"/>
              <a:pathLst>
                <a:path w="3474720" h="100584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5" b="-17265"/>
              </a:stretch>
            </a:blipFill>
          </p:spPr>
        </p:sp>
      </p:grpSp>
      <p:grpSp>
        <p:nvGrpSpPr>
          <p:cNvPr id="144" name="Group 144"/>
          <p:cNvGrpSpPr/>
          <p:nvPr/>
        </p:nvGrpSpPr>
        <p:grpSpPr>
          <a:xfrm>
            <a:off x="15773400" y="5472112"/>
            <a:ext cx="2606040" cy="768668"/>
            <a:chOff x="0" y="0"/>
            <a:chExt cx="3474720" cy="1024890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3474720" cy="1024890"/>
            </a:xfrm>
            <a:custGeom>
              <a:avLst/>
              <a:gdLst/>
              <a:ahLst/>
              <a:cxnLst/>
              <a:rect l="l" t="t" r="r" b="b"/>
              <a:pathLst>
                <a:path w="3474720" h="1024890">
                  <a:moveTo>
                    <a:pt x="0" y="0"/>
                  </a:moveTo>
                  <a:lnTo>
                    <a:pt x="3474720" y="0"/>
                  </a:lnTo>
                  <a:lnTo>
                    <a:pt x="3474720" y="1024890"/>
                  </a:lnTo>
                  <a:lnTo>
                    <a:pt x="0" y="102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60" b="-16060"/>
              </a:stretch>
            </a:blipFill>
          </p:spPr>
        </p:sp>
        <p:sp>
          <p:nvSpPr>
            <p:cNvPr id="146" name="TextBox 146"/>
            <p:cNvSpPr txBox="1"/>
            <p:nvPr/>
          </p:nvSpPr>
          <p:spPr>
            <a:xfrm>
              <a:off x="0" y="-19050"/>
              <a:ext cx="347472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E7E5E2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Monitoring &amp; Observabilité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22960" y="8229600"/>
            <a:ext cx="16322040" cy="685800"/>
            <a:chOff x="0" y="0"/>
            <a:chExt cx="21762720" cy="914400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21762720" cy="914400"/>
            </a:xfrm>
            <a:custGeom>
              <a:avLst/>
              <a:gdLst/>
              <a:ahLst/>
              <a:cxnLst/>
              <a:rect l="l" t="t" r="r" b="b"/>
              <a:pathLst>
                <a:path w="21762720" h="91440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3420" b="-413422"/>
              </a:stretch>
            </a:blipFill>
          </p:spPr>
        </p:sp>
      </p:grpSp>
      <p:grpSp>
        <p:nvGrpSpPr>
          <p:cNvPr id="149" name="Group 149"/>
          <p:cNvGrpSpPr/>
          <p:nvPr/>
        </p:nvGrpSpPr>
        <p:grpSpPr>
          <a:xfrm>
            <a:off x="822960" y="8229600"/>
            <a:ext cx="16322040" cy="685800"/>
            <a:chOff x="0" y="0"/>
            <a:chExt cx="21762720" cy="9144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21762720" cy="914400"/>
            </a:xfrm>
            <a:custGeom>
              <a:avLst/>
              <a:gdLst/>
              <a:ahLst/>
              <a:cxnLst/>
              <a:rect l="l" t="t" r="r" b="b"/>
              <a:pathLst>
                <a:path w="21762720" h="91440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3743" b="-413743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0"/>
              <a:ext cx="21762720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CSV → dlt → DuckDB → dbt → tests / Data Contract → Dagster → ML → MLflow → FastAPI → Docker → CI/CD → déploiement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154" name="Group 154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159" name="Group 159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161" name="TextBox 161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19</a:t>
              </a:r>
            </a:p>
          </p:txBody>
        </p:sp>
      </p:grpSp>
      <p:sp>
        <p:nvSpPr>
          <p:cNvPr id="162" name="Freeform 162"/>
          <p:cNvSpPr/>
          <p:nvPr/>
        </p:nvSpPr>
        <p:spPr>
          <a:xfrm>
            <a:off x="13647591" y="3313727"/>
            <a:ext cx="493433" cy="367608"/>
          </a:xfrm>
          <a:custGeom>
            <a:avLst/>
            <a:gdLst/>
            <a:ahLst/>
            <a:cxnLst/>
            <a:rect l="l" t="t" r="r" b="b"/>
            <a:pathLst>
              <a:path w="493433" h="367608">
                <a:moveTo>
                  <a:pt x="0" y="0"/>
                </a:moveTo>
                <a:lnTo>
                  <a:pt x="493434" y="0"/>
                </a:lnTo>
                <a:lnTo>
                  <a:pt x="493434" y="367607"/>
                </a:lnTo>
                <a:lnTo>
                  <a:pt x="0" y="367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1234440"/>
            <a:ext cx="8229600" cy="411480"/>
            <a:chOff x="0" y="0"/>
            <a:chExt cx="109728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34440" y="1234440"/>
            <a:ext cx="8229600" cy="411480"/>
            <a:chOff x="0" y="0"/>
            <a:chExt cx="109728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CONCLUSION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1645920"/>
            <a:ext cx="14401800" cy="960120"/>
            <a:chOff x="0" y="0"/>
            <a:chExt cx="192024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02400" cy="1280160"/>
            </a:xfrm>
            <a:custGeom>
              <a:avLst/>
              <a:gdLst/>
              <a:ahLst/>
              <a:cxnLst/>
              <a:rect l="l" t="t" r="r" b="b"/>
              <a:pathLst>
                <a:path w="19202400" h="128016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34440" y="1638776"/>
            <a:ext cx="14401800" cy="967264"/>
            <a:chOff x="0" y="0"/>
            <a:chExt cx="19202400" cy="1289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202400" cy="1289685"/>
            </a:xfrm>
            <a:custGeom>
              <a:avLst/>
              <a:gdLst/>
              <a:ahLst/>
              <a:cxnLst/>
              <a:rect l="l" t="t" r="r" b="b"/>
              <a:pathLst>
                <a:path w="19202400" h="1289685">
                  <a:moveTo>
                    <a:pt x="0" y="0"/>
                  </a:moveTo>
                  <a:lnTo>
                    <a:pt x="19202400" y="0"/>
                  </a:lnTo>
                  <a:lnTo>
                    <a:pt x="19202400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0116" b="-2401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92024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 projet industriel complet, de la donnée au service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25880" y="2994660"/>
            <a:ext cx="9418320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883" lvl="2" indent="-131961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E7E5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Pipeline DataOps complet en 12 étapes : ingestion, stockage, transformation, qualité et orchestration</a:t>
            </a:r>
          </a:p>
          <a:p>
            <a:pPr marL="395883" lvl="2" indent="-131961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E7E5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Modèle Gradient Boosting exploitable : F1-score de 62,89 %, alertes fiables (précision de 95,31 %)</a:t>
            </a:r>
          </a:p>
          <a:p>
            <a:pPr marL="395883" lvl="2" indent="-131961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E7E5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Cycle MLOps industrialisé : tracking, Model Registry, monitoring, API, CI/CD, déploiement Komodo</a:t>
            </a:r>
          </a:p>
          <a:p>
            <a:pPr marL="395883" lvl="2" indent="-131961" algn="l">
              <a:lnSpc>
                <a:spcPts val="2250"/>
              </a:lnSpc>
              <a:buFont typeface="Arial"/>
              <a:buChar char="⚬"/>
            </a:pPr>
            <a:r>
              <a:rPr lang="en-US" sz="1875">
                <a:solidFill>
                  <a:srgbClr val="E7E5E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Démarche Agile en 3 sprints, 19 User Stories, rôles clairement répartis dans l'équipe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34440" y="6240780"/>
            <a:ext cx="8229600" cy="411480"/>
            <a:chOff x="0" y="0"/>
            <a:chExt cx="10972800" cy="5486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34440" y="6240780"/>
            <a:ext cx="8229600" cy="411480"/>
            <a:chOff x="0" y="0"/>
            <a:chExt cx="109728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LIMITE PRINCIPALE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4440" y="6652260"/>
            <a:ext cx="4114800" cy="1028700"/>
            <a:chOff x="0" y="0"/>
            <a:chExt cx="5486400" cy="1371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86400" cy="1371600"/>
            </a:xfrm>
            <a:custGeom>
              <a:avLst/>
              <a:gdLst/>
              <a:ahLst/>
              <a:cxnLst/>
              <a:rect l="l" t="t" r="r" b="b"/>
              <a:pathLst>
                <a:path w="5486400" h="1371600">
                  <a:moveTo>
                    <a:pt x="0" y="0"/>
                  </a:moveTo>
                  <a:lnTo>
                    <a:pt x="5486400" y="0"/>
                  </a:lnTo>
                  <a:lnTo>
                    <a:pt x="5486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886" b="-27886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34440" y="6645116"/>
            <a:ext cx="4114800" cy="1035844"/>
            <a:chOff x="0" y="0"/>
            <a:chExt cx="5486400" cy="13811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86400" cy="1381125"/>
            </a:xfrm>
            <a:custGeom>
              <a:avLst/>
              <a:gdLst/>
              <a:ahLst/>
              <a:cxnLst/>
              <a:rect l="l" t="t" r="r" b="b"/>
              <a:pathLst>
                <a:path w="5486400" h="1381125">
                  <a:moveTo>
                    <a:pt x="0" y="0"/>
                  </a:moveTo>
                  <a:lnTo>
                    <a:pt x="5486400" y="0"/>
                  </a:lnTo>
                  <a:lnTo>
                    <a:pt x="5486400" y="1381125"/>
                  </a:lnTo>
                  <a:lnTo>
                    <a:pt x="0" y="13811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02" b="-2740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4864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46,93 %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49240" y="6652260"/>
            <a:ext cx="5760720" cy="1234440"/>
            <a:chOff x="0" y="0"/>
            <a:chExt cx="7680960" cy="16459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80960" cy="1645920"/>
            </a:xfrm>
            <a:custGeom>
              <a:avLst/>
              <a:gdLst/>
              <a:ahLst/>
              <a:cxnLst/>
              <a:rect l="l" t="t" r="r" b="b"/>
              <a:pathLst>
                <a:path w="7680960" h="1645920">
                  <a:moveTo>
                    <a:pt x="0" y="0"/>
                  </a:moveTo>
                  <a:lnTo>
                    <a:pt x="7680960" y="0"/>
                  </a:lnTo>
                  <a:lnTo>
                    <a:pt x="7680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867" b="-40866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5349240" y="6652260"/>
            <a:ext cx="5760720" cy="1234440"/>
            <a:chOff x="0" y="0"/>
            <a:chExt cx="7680960" cy="16459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80960" cy="1645920"/>
            </a:xfrm>
            <a:custGeom>
              <a:avLst/>
              <a:gdLst/>
              <a:ahLst/>
              <a:cxnLst/>
              <a:rect l="l" t="t" r="r" b="b"/>
              <a:pathLst>
                <a:path w="7680960" h="1645920">
                  <a:moveTo>
                    <a:pt x="0" y="0"/>
                  </a:moveTo>
                  <a:lnTo>
                    <a:pt x="7680960" y="0"/>
                  </a:lnTo>
                  <a:lnTo>
                    <a:pt x="7680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30" b="-4093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7680960" cy="164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7E5E2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de recall — environ la moitié des cas de maintenance réellement nécessaires ne sont pas détectés par le modèle.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34440" y="7955280"/>
            <a:ext cx="8229600" cy="411480"/>
            <a:chOff x="0" y="0"/>
            <a:chExt cx="1097280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430" b="-339428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234440" y="7955280"/>
            <a:ext cx="8229600" cy="411480"/>
            <a:chOff x="0" y="0"/>
            <a:chExt cx="1097280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3">
                  <a:solidFill>
                    <a:srgbClr val="D98F55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PERSPECTIVES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4440" y="8366760"/>
            <a:ext cx="9875520" cy="960120"/>
            <a:chOff x="0" y="0"/>
            <a:chExt cx="13167360" cy="12801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167361" cy="1280160"/>
            </a:xfrm>
            <a:custGeom>
              <a:avLst/>
              <a:gdLst/>
              <a:ahLst/>
              <a:cxnLst/>
              <a:rect l="l" t="t" r="r" b="b"/>
              <a:pathLst>
                <a:path w="13167361" h="1280160">
                  <a:moveTo>
                    <a:pt x="0" y="0"/>
                  </a:moveTo>
                  <a:lnTo>
                    <a:pt x="13167361" y="0"/>
                  </a:lnTo>
                  <a:lnTo>
                    <a:pt x="13167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0277" b="-150278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234440" y="8359616"/>
            <a:ext cx="9875520" cy="967264"/>
            <a:chOff x="0" y="0"/>
            <a:chExt cx="13167360" cy="128968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167361" cy="1289685"/>
            </a:xfrm>
            <a:custGeom>
              <a:avLst/>
              <a:gdLst/>
              <a:ahLst/>
              <a:cxnLst/>
              <a:rect l="l" t="t" r="r" b="b"/>
              <a:pathLst>
                <a:path w="13167361" h="1289685">
                  <a:moveTo>
                    <a:pt x="0" y="0"/>
                  </a:moveTo>
                  <a:lnTo>
                    <a:pt x="13167361" y="0"/>
                  </a:lnTo>
                  <a:lnTo>
                    <a:pt x="13167361" y="1289685"/>
                  </a:lnTo>
                  <a:lnTo>
                    <a:pt x="0" y="12896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937" b="-14893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316736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i="1">
                  <a:solidFill>
                    <a:srgbClr val="C7CCD1"/>
                  </a:solidFill>
                  <a:latin typeface="Georgia Pro Condensed Italics"/>
                  <a:ea typeface="Georgia Pro Condensed Italics"/>
                  <a:cs typeface="Georgia Pro Condensed Italics"/>
                  <a:sym typeface="Georgia Pro Condensed Italics"/>
                </a:rPr>
                <a:t>Le rapport propose d'enrichir les données avec davantage d'historique machine et de données réelles de maintenance pour améliorer la détection.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9806940"/>
            <a:ext cx="10972800" cy="384048"/>
            <a:chOff x="0" y="0"/>
            <a:chExt cx="14630400" cy="51206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630400" cy="512064"/>
            </a:xfrm>
            <a:custGeom>
              <a:avLst/>
              <a:gdLst/>
              <a:ahLst/>
              <a:cxn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6329" b="-506326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685800" y="9792652"/>
            <a:ext cx="10972800" cy="398336"/>
            <a:chOff x="0" y="0"/>
            <a:chExt cx="14630400" cy="53111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30400" cy="531114"/>
            </a:xfrm>
            <a:custGeom>
              <a:avLst/>
              <a:gdLst/>
              <a:ahLst/>
              <a:cxnLst/>
              <a:rect l="l" t="t" r="r" b="b"/>
              <a:pathLst>
                <a:path w="14630400" h="531114">
                  <a:moveTo>
                    <a:pt x="0" y="0"/>
                  </a:moveTo>
                  <a:lnTo>
                    <a:pt x="14630400" y="0"/>
                  </a:lnTo>
                  <a:lnTo>
                    <a:pt x="1463040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6747" b="-486747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463040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MLOps &amp; DataOps — Maintenance Prédictive Industrielle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282160" y="9806940"/>
            <a:ext cx="548640" cy="384048"/>
            <a:chOff x="0" y="0"/>
            <a:chExt cx="731520" cy="5120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" cy="512064"/>
            </a:xfrm>
            <a:custGeom>
              <a:avLst/>
              <a:gdLst/>
              <a:ahLst/>
              <a:cxnLst/>
              <a:rect l="l" t="t" r="r" b="b"/>
              <a:pathLst>
                <a:path w="731520" h="512064">
                  <a:moveTo>
                    <a:pt x="0" y="0"/>
                  </a:moveTo>
                  <a:lnTo>
                    <a:pt x="731520" y="0"/>
                  </a:lnTo>
                  <a:lnTo>
                    <a:pt x="7315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75" r="-39875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7282160" y="9792652"/>
            <a:ext cx="548640" cy="398336"/>
            <a:chOff x="0" y="0"/>
            <a:chExt cx="731520" cy="53111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1520" cy="531114"/>
            </a:xfrm>
            <a:custGeom>
              <a:avLst/>
              <a:gdLst/>
              <a:ahLst/>
              <a:cxnLst/>
              <a:rect l="l" t="t" r="r" b="b"/>
              <a:pathLst>
                <a:path w="731520" h="531114">
                  <a:moveTo>
                    <a:pt x="0" y="0"/>
                  </a:moveTo>
                  <a:lnTo>
                    <a:pt x="731520" y="0"/>
                  </a:lnTo>
                  <a:lnTo>
                    <a:pt x="731520" y="531114"/>
                  </a:lnTo>
                  <a:lnTo>
                    <a:pt x="0" y="531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153" r="-4315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731520" cy="5501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B717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20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2521</Words>
  <Application>Microsoft Office PowerPoint</Application>
  <PresentationFormat>Personnalisé</PresentationFormat>
  <Paragraphs>478</Paragraphs>
  <Slides>28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41" baseType="lpstr">
      <vt:lpstr>Georgia Pro Condensed Bold</vt:lpstr>
      <vt:lpstr>Arial</vt:lpstr>
      <vt:lpstr>Georgia Pro Condensed</vt:lpstr>
      <vt:lpstr>Calibri</vt:lpstr>
      <vt:lpstr>Calibri (MS)</vt:lpstr>
      <vt:lpstr>Cambria</vt:lpstr>
      <vt:lpstr>Georgia</vt:lpstr>
      <vt:lpstr>Georgia Pro Condensed Italics</vt:lpstr>
      <vt:lpstr>Calibri (MS) Bold Italics</vt:lpstr>
      <vt:lpstr>Calibri (MS) Italics</vt:lpstr>
      <vt:lpstr>Cambria Bold</vt:lpstr>
      <vt:lpstr>Calibri (MS)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Presentation_Maintenance_Predictive4.pptx</dc:title>
  <cp:lastModifiedBy>Abdellah Aitsiali</cp:lastModifiedBy>
  <cp:revision>4</cp:revision>
  <dcterms:created xsi:type="dcterms:W3CDTF">2006-08-16T00:00:00Z</dcterms:created>
  <dcterms:modified xsi:type="dcterms:W3CDTF">2026-09-18T21:20:25Z</dcterms:modified>
  <dc:identifier>DAHVekvcdSw</dc:identifier>
</cp:coreProperties>
</file>